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74" r:id="rId2"/>
    <p:sldId id="275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6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232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208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0633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image" Target="../media/image3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2.jpe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3" Type="http://schemas.openxmlformats.org/officeDocument/2006/relationships/image" Target="../media/image2.jpe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4" Type="http://schemas.openxmlformats.org/officeDocument/2006/relationships/image" Target="../media/image3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10" Type="http://schemas.openxmlformats.org/officeDocument/2006/relationships/image" Target="../media/image2.jpe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18" Type="http://schemas.openxmlformats.org/officeDocument/2006/relationships/image" Target="../media/image80.png"/><Relationship Id="rId3" Type="http://schemas.openxmlformats.org/officeDocument/2006/relationships/image" Target="../media/image65.png"/><Relationship Id="rId21" Type="http://schemas.openxmlformats.org/officeDocument/2006/relationships/image" Target="../media/image83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17" Type="http://schemas.openxmlformats.org/officeDocument/2006/relationships/image" Target="../media/image79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78.png"/><Relationship Id="rId20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5" Type="http://schemas.openxmlformats.org/officeDocument/2006/relationships/image" Target="../media/image77.png"/><Relationship Id="rId23" Type="http://schemas.openxmlformats.org/officeDocument/2006/relationships/image" Target="../media/image2.jpeg"/><Relationship Id="rId10" Type="http://schemas.openxmlformats.org/officeDocument/2006/relationships/image" Target="../media/image72.png"/><Relationship Id="rId19" Type="http://schemas.openxmlformats.org/officeDocument/2006/relationships/image" Target="../media/image81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Relationship Id="rId22" Type="http://schemas.openxmlformats.org/officeDocument/2006/relationships/image" Target="../media/image8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2.jpe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12" Type="http://schemas.openxmlformats.org/officeDocument/2006/relationships/image" Target="../media/image9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0" Type="http://schemas.openxmlformats.org/officeDocument/2006/relationships/image" Target="../media/image92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03.png"/><Relationship Id="rId18" Type="http://schemas.openxmlformats.org/officeDocument/2006/relationships/image" Target="../media/image108.png"/><Relationship Id="rId3" Type="http://schemas.openxmlformats.org/officeDocument/2006/relationships/image" Target="../media/image7.png"/><Relationship Id="rId7" Type="http://schemas.openxmlformats.org/officeDocument/2006/relationships/image" Target="../media/image97.png"/><Relationship Id="rId12" Type="http://schemas.openxmlformats.org/officeDocument/2006/relationships/image" Target="../media/image102.png"/><Relationship Id="rId17" Type="http://schemas.openxmlformats.org/officeDocument/2006/relationships/image" Target="../media/image107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0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.png"/><Relationship Id="rId11" Type="http://schemas.openxmlformats.org/officeDocument/2006/relationships/image" Target="../media/image101.png"/><Relationship Id="rId5" Type="http://schemas.openxmlformats.org/officeDocument/2006/relationships/image" Target="../media/image2.jpeg"/><Relationship Id="rId15" Type="http://schemas.openxmlformats.org/officeDocument/2006/relationships/image" Target="../media/image105.png"/><Relationship Id="rId10" Type="http://schemas.openxmlformats.org/officeDocument/2006/relationships/image" Target="../media/image100.png"/><Relationship Id="rId19" Type="http://schemas.openxmlformats.org/officeDocument/2006/relationships/image" Target="../media/image109.png"/><Relationship Id="rId4" Type="http://schemas.openxmlformats.org/officeDocument/2006/relationships/image" Target="../media/image95.png"/><Relationship Id="rId9" Type="http://schemas.openxmlformats.org/officeDocument/2006/relationships/image" Target="../media/image99.png"/><Relationship Id="rId14" Type="http://schemas.openxmlformats.org/officeDocument/2006/relationships/image" Target="../media/image10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1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3" Type="http://schemas.openxmlformats.org/officeDocument/2006/relationships/image" Target="../media/image112.png"/><Relationship Id="rId7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13" Type="http://schemas.openxmlformats.org/officeDocument/2006/relationships/image" Target="../media/image127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12" Type="http://schemas.openxmlformats.org/officeDocument/2006/relationships/image" Target="../media/image126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11" Type="http://schemas.openxmlformats.org/officeDocument/2006/relationships/image" Target="../media/image125.png"/><Relationship Id="rId5" Type="http://schemas.openxmlformats.org/officeDocument/2006/relationships/image" Target="../media/image119.png"/><Relationship Id="rId15" Type="http://schemas.openxmlformats.org/officeDocument/2006/relationships/image" Target="../media/image129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Relationship Id="rId14" Type="http://schemas.openxmlformats.org/officeDocument/2006/relationships/image" Target="../media/image1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rcRect l="262" t="10746" r="262" b="5330"/>
          <a:stretch>
            <a:fillRect/>
          </a:stretch>
        </p:blipFill>
        <p:spPr>
          <a:xfrm>
            <a:off x="259586" y="1030015"/>
            <a:ext cx="11102097" cy="5241088"/>
          </a:xfrm>
          <a:prstGeom prst="rect">
            <a:avLst/>
          </a:prstGeom>
        </p:spPr>
      </p:pic>
      <p:sp>
        <p:nvSpPr>
          <p:cNvPr id="19" name="Shape 1">
            <a:extLst>
              <a:ext uri="{FF2B5EF4-FFF2-40B4-BE49-F238E27FC236}">
                <a16:creationId xmlns:a16="http://schemas.microsoft.com/office/drawing/2014/main" id="{BEE32148-B3BE-E644-36A9-2DA1813549AC}"/>
              </a:ext>
            </a:extLst>
          </p:cNvPr>
          <p:cNvSpPr/>
          <p:nvPr/>
        </p:nvSpPr>
        <p:spPr>
          <a:xfrm>
            <a:off x="0" y="-1"/>
            <a:ext cx="7288305" cy="4063251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684B75-AE0E-247D-3618-C4B35FD7F9F8}"/>
              </a:ext>
            </a:extLst>
          </p:cNvPr>
          <p:cNvSpPr txBox="1"/>
          <p:nvPr/>
        </p:nvSpPr>
        <p:spPr>
          <a:xfrm>
            <a:off x="601066" y="2850669"/>
            <a:ext cx="61170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6000" b="1" kern="0" dirty="0">
                <a:solidFill>
                  <a:srgbClr val="FE8067"/>
                </a:solidFill>
                <a:latin typeface="DM Serif Display" pitchFamily="2" charset="0"/>
                <a:ea typeface="Inter" pitchFamily="34" charset="-122"/>
                <a:cs typeface="Inter" pitchFamily="34" charset="-120"/>
              </a:rPr>
              <a:t>It softened it.</a:t>
            </a:r>
            <a:endParaRPr lang="en-US" sz="6000" dirty="0">
              <a:solidFill>
                <a:srgbClr val="FE8067"/>
              </a:solidFill>
              <a:latin typeface="DM Serif Display" pitchFamily="2" charset="0"/>
            </a:endParaRPr>
          </a:p>
        </p:txBody>
      </p:sp>
      <p:sp>
        <p:nvSpPr>
          <p:cNvPr id="5" name="Text 1"/>
          <p:cNvSpPr txBox="1"/>
          <p:nvPr/>
        </p:nvSpPr>
        <p:spPr>
          <a:xfrm>
            <a:off x="601066" y="914400"/>
            <a:ext cx="6687240" cy="1836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kern="0" spc="-300" dirty="0">
                <a:solidFill>
                  <a:srgbClr val="4860FA"/>
                </a:solidFill>
                <a:latin typeface="DM Serif Display" pitchFamily="2" charset="0"/>
                <a:ea typeface="Inter" pitchFamily="34" charset="-122"/>
                <a:cs typeface="Inter" pitchFamily="34" charset="-120"/>
              </a:rPr>
              <a:t>Clicks didn’t</a:t>
            </a:r>
            <a:r>
              <a:rPr lang="en-US" sz="6000" dirty="0">
                <a:solidFill>
                  <a:srgbClr val="4860FA"/>
                </a:solidFill>
                <a:latin typeface="DM Serif Display" pitchFamily="2" charset="0"/>
              </a:rPr>
              <a:t> </a:t>
            </a:r>
            <a:r>
              <a:rPr lang="en-US" sz="6000" b="1" kern="0" spc="-300" dirty="0">
                <a:solidFill>
                  <a:srgbClr val="4860FA"/>
                </a:solidFill>
                <a:latin typeface="DM Serif Display" pitchFamily="2" charset="0"/>
                <a:ea typeface="Inter" pitchFamily="34" charset="-122"/>
                <a:cs typeface="Inter" pitchFamily="34" charset="-120"/>
              </a:rPr>
              <a:t>upgrade beauty.</a:t>
            </a:r>
            <a:endParaRPr lang="en-US" sz="6000" dirty="0">
              <a:solidFill>
                <a:srgbClr val="4860FA"/>
              </a:solidFill>
              <a:latin typeface="DM Serif Display" pitchFamily="2" charset="0"/>
            </a:endParaRPr>
          </a:p>
        </p:txBody>
      </p:sp>
      <p:pic>
        <p:nvPicPr>
          <p:cNvPr id="2" name="Image 9" descr="preencoded.png">
            <a:extLst>
              <a:ext uri="{FF2B5EF4-FFF2-40B4-BE49-F238E27FC236}">
                <a16:creationId xmlns:a16="http://schemas.microsoft.com/office/drawing/2014/main" id="{2D14BD9C-AB5F-AAD5-F34E-EE1832DD77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82" b="281"/>
          <a:stretch/>
        </p:blipFill>
        <p:spPr>
          <a:xfrm>
            <a:off x="11374221" y="304495"/>
            <a:ext cx="400507" cy="3813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258361" y="609905"/>
            <a:ext cx="9144" cy="59436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09905" y="1595628"/>
            <a:ext cx="339791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b="1" kern="0" spc="-27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</a:t>
            </a:r>
            <a:endParaRPr lang="en-US" sz="5400" dirty="0"/>
          </a:p>
          <a:p>
            <a:pPr marL="0" indent="0" algn="l">
              <a:buNone/>
            </a:pPr>
            <a:r>
              <a:rPr lang="en-US" sz="5400" b="1" kern="0" spc="-270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Breakdown</a:t>
            </a:r>
            <a:endParaRPr lang="en-US" sz="5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226" r="-226"/>
          <a:stretch/>
        </p:blipFill>
        <p:spPr>
          <a:xfrm>
            <a:off x="609905" y="3271723"/>
            <a:ext cx="609905" cy="7589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9905" y="3653028"/>
            <a:ext cx="33531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It’s not a recession.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It’s a vibe shift. 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09905" y="4453128"/>
            <a:ext cx="3343961" cy="1114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Money didn't just get tight. The psychological contract broke. We stopped believing that </a:t>
            </a: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"buying up" meant "moving up."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24705" y="1524305"/>
            <a:ext cx="1828800" cy="1218895"/>
          </a:xfrm>
          <a:prstGeom prst="roundRect">
            <a:avLst>
              <a:gd name="adj" fmla="val 4689"/>
            </a:avLst>
          </a:prstGeom>
          <a:solidFill>
            <a:srgbClr val="FFF0F0"/>
          </a:solidFill>
          <a:ln w="254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4591225" y="1767535"/>
            <a:ext cx="2181758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kern="0" spc="-432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49%</a:t>
            </a:r>
            <a:endParaRPr lang="en-US" sz="6600" dirty="0"/>
          </a:p>
        </p:txBody>
      </p:sp>
      <p:sp>
        <p:nvSpPr>
          <p:cNvPr id="11" name="Text 8"/>
          <p:cNvSpPr txBox="1"/>
          <p:nvPr/>
        </p:nvSpPr>
        <p:spPr>
          <a:xfrm>
            <a:off x="6782105" y="1733702"/>
            <a:ext cx="4914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56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Survival Mode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6782105" y="2115007"/>
            <a:ext cx="48774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Half the country is just trying to make it to Friday. Luxury is a glitch.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24705" y="2971800"/>
            <a:ext cx="1828800" cy="1218895"/>
          </a:xfrm>
          <a:prstGeom prst="roundRect">
            <a:avLst>
              <a:gd name="adj" fmla="val 4689"/>
            </a:avLst>
          </a:prstGeom>
          <a:solidFill>
            <a:srgbClr val="00E5A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4602198" y="3215945"/>
            <a:ext cx="2150669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kern="0" spc="-43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86%</a:t>
            </a:r>
            <a:endParaRPr lang="en-US" sz="6600" dirty="0"/>
          </a:p>
        </p:txBody>
      </p:sp>
      <p:sp>
        <p:nvSpPr>
          <p:cNvPr id="15" name="Text 12"/>
          <p:cNvSpPr txBox="1"/>
          <p:nvPr/>
        </p:nvSpPr>
        <p:spPr>
          <a:xfrm>
            <a:off x="6782105" y="3181198"/>
            <a:ext cx="4914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56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Died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6782105" y="3562502"/>
            <a:ext cx="48774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it doesn't do the job, it's dead. Brand heritage means nothing if the price hurts.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724705" y="4419295"/>
            <a:ext cx="1828800" cy="1218895"/>
          </a:xfrm>
          <a:prstGeom prst="roundRect">
            <a:avLst>
              <a:gd name="adj" fmla="val 4689"/>
            </a:avLst>
          </a:prstGeom>
          <a:solidFill>
            <a:srgbClr val="FDE0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4601283" y="4762195"/>
            <a:ext cx="2160727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R108bn</a:t>
            </a:r>
            <a:endParaRPr lang="en-US" sz="4000" dirty="0"/>
          </a:p>
        </p:txBody>
      </p:sp>
      <p:sp>
        <p:nvSpPr>
          <p:cNvPr id="19" name="Text 16"/>
          <p:cNvSpPr txBox="1"/>
          <p:nvPr/>
        </p:nvSpPr>
        <p:spPr>
          <a:xfrm>
            <a:off x="6782105" y="4733849"/>
            <a:ext cx="4914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56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Spending W/O Joy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6782105" y="5115154"/>
            <a:ext cx="54178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volume, low dopamine. We're filling baskets, not souls.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609905" y="381305"/>
            <a:ext cx="8001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0" y="0"/>
            <a:ext cx="152705" cy="6858000"/>
          </a:xfrm>
          <a:prstGeom prst="rect">
            <a:avLst/>
          </a:prstGeom>
          <a:solidFill>
            <a:srgbClr val="FF52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" name="Image 9" descr="preencoded.png">
            <a:extLst>
              <a:ext uri="{FF2B5EF4-FFF2-40B4-BE49-F238E27FC236}">
                <a16:creationId xmlns:a16="http://schemas.microsoft.com/office/drawing/2014/main" id="{73CA5657-9FC7-0B59-D9AB-AAB35701DC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82" b="281"/>
          <a:stretch/>
        </p:blipFill>
        <p:spPr>
          <a:xfrm>
            <a:off x="11374221" y="304495"/>
            <a:ext cx="400507" cy="3813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09905" y="3193085"/>
            <a:ext cx="3457346" cy="1920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09905" y="2706624"/>
            <a:ext cx="4389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80821" y="2640787"/>
            <a:ext cx="1495958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Transformation 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Promises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69003" y="3193085"/>
            <a:ext cx="3457346" cy="1920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369003" y="2706624"/>
            <a:ext cx="4389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😤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839919" y="2640787"/>
            <a:ext cx="1286561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Actives 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Better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28102" y="3193085"/>
            <a:ext cx="3457346" cy="1920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128102" y="2706624"/>
            <a:ext cx="4389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💔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599018" y="2640787"/>
            <a:ext cx="1019556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Aspiration 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 Reality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541056" y="6053153"/>
            <a:ext cx="4123944" cy="362102"/>
          </a:xfrm>
          <a:prstGeom prst="roundRect">
            <a:avLst>
              <a:gd name="adj" fmla="val 252526"/>
            </a:avLst>
          </a:prstGeom>
          <a:solidFill>
            <a:srgbClr val="FFF1F2"/>
          </a:solidFill>
          <a:ln w="12700">
            <a:solidFill>
              <a:srgbClr val="FF5252"/>
            </a:solidFill>
            <a:prstDash val="solid"/>
          </a:ln>
        </p:spPr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7" name="Text 14"/>
          <p:cNvSpPr txBox="1"/>
          <p:nvPr/>
        </p:nvSpPr>
        <p:spPr>
          <a:xfrm>
            <a:off x="7702905" y="6139106"/>
            <a:ext cx="415411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6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INSIGHT: GENTLE EFFICACY IS THE NEW POTENCY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9905" y="914400"/>
            <a:ext cx="65919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105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Died</a:t>
            </a:r>
            <a:endParaRPr lang="en-US" sz="42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rcRect l="-188" r="-188"/>
          <a:stretch/>
        </p:blipFill>
        <p:spPr>
          <a:xfrm>
            <a:off x="609905" y="1497787"/>
            <a:ext cx="1218895" cy="75895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609905" y="1726387"/>
            <a:ext cx="64776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Consumer feedback reveals a complete rejection of the old "miracle" playbook.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609905" y="3364078"/>
            <a:ext cx="3457346" cy="1257300"/>
          </a:xfrm>
          <a:prstGeom prst="roundRect">
            <a:avLst>
              <a:gd name="adj" fmla="val 440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 t="-16524" b="-16524"/>
          <a:stretch/>
        </p:blipFill>
        <p:spPr>
          <a:xfrm>
            <a:off x="733349" y="3488436"/>
            <a:ext cx="200254" cy="30449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09244" y="4267505"/>
            <a:ext cx="78729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 Z • 24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609905" y="4773168"/>
            <a:ext cx="3457346" cy="1067105"/>
          </a:xfrm>
          <a:prstGeom prst="roundRect">
            <a:avLst>
              <a:gd name="adj" fmla="val 6121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 txBox="1"/>
          <p:nvPr/>
        </p:nvSpPr>
        <p:spPr>
          <a:xfrm>
            <a:off x="809244" y="5479999"/>
            <a:ext cx="118506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Millennial • 32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4369003" y="3364078"/>
            <a:ext cx="3457346" cy="1257300"/>
          </a:xfrm>
          <a:prstGeom prst="roundRect">
            <a:avLst>
              <a:gd name="adj" fmla="val 440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 t="-16524" b="-16524"/>
          <a:stretch/>
        </p:blipFill>
        <p:spPr>
          <a:xfrm>
            <a:off x="4492447" y="3488436"/>
            <a:ext cx="200254" cy="30449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568342" y="4267505"/>
            <a:ext cx="10771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Consumer • 28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4369003" y="4773168"/>
            <a:ext cx="3457346" cy="1067105"/>
          </a:xfrm>
          <a:prstGeom prst="roundRect">
            <a:avLst>
              <a:gd name="adj" fmla="val 6121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 txBox="1"/>
          <p:nvPr/>
        </p:nvSpPr>
        <p:spPr>
          <a:xfrm>
            <a:off x="4568342" y="5479999"/>
            <a:ext cx="7598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 Z • 21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8128102" y="3364078"/>
            <a:ext cx="3457346" cy="1067105"/>
          </a:xfrm>
          <a:prstGeom prst="roundRect">
            <a:avLst>
              <a:gd name="adj" fmla="val 6121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 t="-16524" b="-16524"/>
          <a:stretch/>
        </p:blipFill>
        <p:spPr>
          <a:xfrm>
            <a:off x="8251546" y="3488436"/>
            <a:ext cx="200254" cy="30449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8328355" y="4071823"/>
            <a:ext cx="118506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Millennial • 36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8128102" y="4576572"/>
            <a:ext cx="3457346" cy="1257300"/>
          </a:xfrm>
          <a:prstGeom prst="roundRect">
            <a:avLst>
              <a:gd name="adj" fmla="val 440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 txBox="1"/>
          <p:nvPr/>
        </p:nvSpPr>
        <p:spPr>
          <a:xfrm>
            <a:off x="8328355" y="5479999"/>
            <a:ext cx="7827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 Z • 23</a:t>
            </a:r>
            <a:endParaRPr lang="en-US" sz="900" dirty="0"/>
          </a:p>
        </p:txBody>
      </p:sp>
      <p:sp>
        <p:nvSpPr>
          <p:cNvPr id="36" name="Text 29"/>
          <p:cNvSpPr txBox="1"/>
          <p:nvPr/>
        </p:nvSpPr>
        <p:spPr>
          <a:xfrm>
            <a:off x="809244" y="3564331"/>
            <a:ext cx="3134563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"I'm so done with 6-week miracles. Show me maintenance, not magic. My face isn't a DIY project."</a:t>
            </a:r>
            <a:endParaRPr lang="en-US" sz="1100" dirty="0"/>
          </a:p>
        </p:txBody>
      </p:sp>
      <p:sp>
        <p:nvSpPr>
          <p:cNvPr id="37" name="Text 30"/>
          <p:cNvSpPr txBox="1"/>
          <p:nvPr/>
        </p:nvSpPr>
        <p:spPr>
          <a:xfrm>
            <a:off x="809244" y="4972507"/>
            <a:ext cx="3134563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"Before and after photos are just AI filters now. I scroll past immediately."</a:t>
            </a:r>
            <a:endParaRPr lang="en-US" sz="1100" dirty="0"/>
          </a:p>
        </p:txBody>
      </p:sp>
      <p:sp>
        <p:nvSpPr>
          <p:cNvPr id="38" name="Text 31"/>
          <p:cNvSpPr txBox="1"/>
          <p:nvPr/>
        </p:nvSpPr>
        <p:spPr>
          <a:xfrm>
            <a:off x="4568342" y="3564331"/>
            <a:ext cx="3134563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"My barrier is destroyed. I used the 20% peel and now everything stings. Never again."</a:t>
            </a:r>
            <a:endParaRPr lang="en-US" sz="1100" dirty="0"/>
          </a:p>
        </p:txBody>
      </p:sp>
      <p:sp>
        <p:nvSpPr>
          <p:cNvPr id="39" name="Text 32"/>
          <p:cNvSpPr txBox="1"/>
          <p:nvPr/>
        </p:nvSpPr>
        <p:spPr>
          <a:xfrm>
            <a:off x="4568342" y="4972507"/>
            <a:ext cx="3134563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"Why do I need 10 steps? I just want one thing that doesn't hurt."</a:t>
            </a:r>
            <a:endParaRPr lang="en-US" sz="1100" dirty="0"/>
          </a:p>
        </p:txBody>
      </p:sp>
      <p:sp>
        <p:nvSpPr>
          <p:cNvPr id="40" name="Text 33"/>
          <p:cNvSpPr txBox="1"/>
          <p:nvPr/>
        </p:nvSpPr>
        <p:spPr>
          <a:xfrm>
            <a:off x="8328355" y="3564331"/>
            <a:ext cx="3134563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"R2000 for a cream? In this economy? It better do my taxes too."</a:t>
            </a:r>
            <a:endParaRPr lang="en-US" sz="1100" dirty="0"/>
          </a:p>
        </p:txBody>
      </p:sp>
      <p:sp>
        <p:nvSpPr>
          <p:cNvPr id="41" name="Text 34"/>
          <p:cNvSpPr txBox="1"/>
          <p:nvPr/>
        </p:nvSpPr>
        <p:spPr>
          <a:xfrm>
            <a:off x="8328355" y="4775911"/>
            <a:ext cx="3134563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"Brand heritage means nothing if it doesn't work. I trust the R150 pharmacy tube more."</a:t>
            </a:r>
            <a:endParaRPr lang="en-US" sz="1100" dirty="0"/>
          </a:p>
        </p:txBody>
      </p:sp>
      <p:sp>
        <p:nvSpPr>
          <p:cNvPr id="42" name="Text 35"/>
          <p:cNvSpPr txBox="1"/>
          <p:nvPr/>
        </p:nvSpPr>
        <p:spPr>
          <a:xfrm>
            <a:off x="8393278" y="837590"/>
            <a:ext cx="3031236" cy="918976"/>
          </a:xfrm>
          <a:prstGeom prst="rect">
            <a:avLst/>
          </a:prstGeom>
          <a:noFill/>
          <a:ln w="101600">
            <a:solidFill>
              <a:srgbClr val="FF525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480" dirty="0">
                <a:solidFill>
                  <a:srgbClr val="FF5252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DEAD</a:t>
            </a:r>
            <a:endParaRPr lang="en-US" sz="4800" dirty="0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609905" y="418795"/>
            <a:ext cx="38405" cy="228600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761695" y="457200"/>
            <a:ext cx="1648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Reality Check</a:t>
            </a:r>
            <a:endParaRPr lang="en-US" sz="900" dirty="0"/>
          </a:p>
        </p:txBody>
      </p:sp>
      <p:pic>
        <p:nvPicPr>
          <p:cNvPr id="46" name="Image 9" descr="preencoded.png">
            <a:extLst>
              <a:ext uri="{FF2B5EF4-FFF2-40B4-BE49-F238E27FC236}">
                <a16:creationId xmlns:a16="http://schemas.microsoft.com/office/drawing/2014/main" id="{D4ABD109-0065-79DF-DB30-E2055E59CD4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82" b="281"/>
          <a:stretch/>
        </p:blipFill>
        <p:spPr>
          <a:xfrm>
            <a:off x="11374221" y="304495"/>
            <a:ext cx="400507" cy="3813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905" y="1600200"/>
            <a:ext cx="3457346" cy="4572000"/>
          </a:xfrm>
          <a:prstGeom prst="roundRect">
            <a:avLst>
              <a:gd name="adj" fmla="val 874"/>
            </a:avLst>
          </a:prstGeom>
          <a:solidFill>
            <a:srgbClr val="FFF1F2"/>
          </a:solidFill>
          <a:ln w="25400">
            <a:solidFill>
              <a:srgbClr val="FB7185"/>
            </a:solidFill>
            <a:prstDash val="solid"/>
          </a:ln>
          <a:effectLst>
            <a:outerShdw blurRad="12700" dist="101600" dir="189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09905" y="1600200"/>
            <a:ext cx="3457346" cy="75895"/>
          </a:xfrm>
          <a:prstGeom prst="roundRect">
            <a:avLst>
              <a:gd name="adj" fmla="val 39829"/>
            </a:avLst>
          </a:prstGeom>
          <a:solidFill>
            <a:srgbClr val="FB7185"/>
          </a:solidFill>
          <a:ln w="12700">
            <a:solidFill>
              <a:srgbClr val="FB718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933602" y="1981505"/>
            <a:ext cx="79095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😓</a:t>
            </a:r>
            <a:endParaRPr lang="en-US" sz="4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 t="-16659" b="-16659"/>
          <a:stretch/>
        </p:blipFill>
        <p:spPr>
          <a:xfrm>
            <a:off x="3482950" y="1981505"/>
            <a:ext cx="256946" cy="30449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33602" y="2781605"/>
            <a:ext cx="292242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Tired of Fixing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933602" y="3290926"/>
            <a:ext cx="2809951" cy="1086307"/>
          </a:xfrm>
          <a:prstGeom prst="roundRect">
            <a:avLst>
              <a:gd name="adj" fmla="val 5907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1095451" y="3452774"/>
            <a:ext cx="25859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6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Behavior Shift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1095451" y="3681374"/>
            <a:ext cx="2563063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"Barrier Health" </a:t>
            </a:r>
            <a:endParaRPr lang="en-US" sz="15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overtook</a:t>
            </a:r>
            <a:r>
              <a:rPr lang="en-US" sz="15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"Acne Fix"</a:t>
            </a:r>
            <a:endParaRPr lang="en-US" sz="15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>
            <a:alphaModFix amt="20000"/>
          </a:blip>
          <a:srcRect t="-4786" b="-4786"/>
          <a:stretch/>
        </p:blipFill>
        <p:spPr>
          <a:xfrm>
            <a:off x="857707" y="4860036"/>
            <a:ext cx="304495" cy="38130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369003" y="1600200"/>
            <a:ext cx="3457346" cy="4572000"/>
          </a:xfrm>
          <a:prstGeom prst="roundRect">
            <a:avLst>
              <a:gd name="adj" fmla="val 874"/>
            </a:avLst>
          </a:prstGeom>
          <a:solidFill>
            <a:srgbClr val="F5F3FF"/>
          </a:solidFill>
          <a:ln w="25400">
            <a:solidFill>
              <a:srgbClr val="A78BFA"/>
            </a:solidFill>
            <a:prstDash val="solid"/>
          </a:ln>
          <a:effectLst>
            <a:outerShdw blurRad="12700" dist="101600" dir="189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4369003" y="1600200"/>
            <a:ext cx="3457346" cy="75895"/>
          </a:xfrm>
          <a:prstGeom prst="roundRect">
            <a:avLst>
              <a:gd name="adj" fmla="val 39829"/>
            </a:avLst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 txBox="1"/>
          <p:nvPr/>
        </p:nvSpPr>
        <p:spPr>
          <a:xfrm>
            <a:off x="4692701" y="1981505"/>
            <a:ext cx="79095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🚫</a:t>
            </a:r>
            <a:endParaRPr lang="en-US" sz="45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>
            <a:alphaModFix amt="50000"/>
          </a:blip>
          <a:srcRect t="-16494" b="-16494"/>
          <a:stretch/>
        </p:blipFill>
        <p:spPr>
          <a:xfrm>
            <a:off x="7213702" y="1981505"/>
            <a:ext cx="286207" cy="30449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692701" y="2781605"/>
            <a:ext cx="292242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Done with Hype</a:t>
            </a:r>
            <a:endParaRPr lang="en-US" sz="2200" dirty="0"/>
          </a:p>
        </p:txBody>
      </p:sp>
      <p:sp>
        <p:nvSpPr>
          <p:cNvPr id="18" name="Shape 12"/>
          <p:cNvSpPr/>
          <p:nvPr/>
        </p:nvSpPr>
        <p:spPr>
          <a:xfrm>
            <a:off x="4692701" y="3290926"/>
            <a:ext cx="2809951" cy="1352398"/>
          </a:xfrm>
          <a:prstGeom prst="roundRect">
            <a:avLst>
              <a:gd name="adj" fmla="val 3809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 txBox="1"/>
          <p:nvPr/>
        </p:nvSpPr>
        <p:spPr>
          <a:xfrm>
            <a:off x="4854550" y="3452774"/>
            <a:ext cx="25859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6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Rejection Rate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4854550" y="3681374"/>
            <a:ext cx="267736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kern="0" spc="-225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74%</a:t>
            </a:r>
            <a:endParaRPr lang="en-US" sz="4500" dirty="0"/>
          </a:p>
        </p:txBody>
      </p:sp>
      <p:sp>
        <p:nvSpPr>
          <p:cNvPr id="21" name="Text 15"/>
          <p:cNvSpPr txBox="1"/>
          <p:nvPr/>
        </p:nvSpPr>
        <p:spPr>
          <a:xfrm>
            <a:off x="4854550" y="4291279"/>
            <a:ext cx="25859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reject 'before/after' photos</a:t>
            </a:r>
            <a:endParaRPr lang="en-US" sz="10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 t="-4786" b="-4786"/>
          <a:stretch/>
        </p:blipFill>
        <p:spPr>
          <a:xfrm>
            <a:off x="4616806" y="5138928"/>
            <a:ext cx="304495" cy="381305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8128102" y="1600200"/>
            <a:ext cx="3457346" cy="4572000"/>
          </a:xfrm>
          <a:prstGeom prst="roundRect">
            <a:avLst>
              <a:gd name="adj" fmla="val 874"/>
            </a:avLst>
          </a:prstGeom>
          <a:solidFill>
            <a:srgbClr val="ECFDF5"/>
          </a:solidFill>
          <a:ln w="25400">
            <a:solidFill>
              <a:srgbClr val="34D399"/>
            </a:solidFill>
            <a:prstDash val="solid"/>
          </a:ln>
          <a:effectLst>
            <a:outerShdw blurRad="12700" dist="101600" dir="189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7"/>
          <p:cNvSpPr/>
          <p:nvPr/>
        </p:nvSpPr>
        <p:spPr>
          <a:xfrm>
            <a:off x="8128102" y="1600200"/>
            <a:ext cx="3457346" cy="75895"/>
          </a:xfrm>
          <a:prstGeom prst="roundRect">
            <a:avLst>
              <a:gd name="adj" fmla="val 39829"/>
            </a:avLst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8"/>
          <p:cNvSpPr txBox="1"/>
          <p:nvPr/>
        </p:nvSpPr>
        <p:spPr>
          <a:xfrm>
            <a:off x="8451799" y="1981505"/>
            <a:ext cx="79095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💥</a:t>
            </a:r>
            <a:endParaRPr lang="en-US" sz="45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>
            <a:alphaModFix amt="50000"/>
          </a:blip>
          <a:srcRect t="-16524" b="-16524"/>
          <a:stretch/>
        </p:blipFill>
        <p:spPr>
          <a:xfrm>
            <a:off x="11058754" y="1981505"/>
            <a:ext cx="200254" cy="30449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8451799" y="2781605"/>
            <a:ext cx="292242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 the Burn</a:t>
            </a:r>
            <a:endParaRPr lang="en-US" sz="2200" dirty="0"/>
          </a:p>
        </p:txBody>
      </p:sp>
      <p:sp>
        <p:nvSpPr>
          <p:cNvPr id="28" name="Shape 20"/>
          <p:cNvSpPr/>
          <p:nvPr/>
        </p:nvSpPr>
        <p:spPr>
          <a:xfrm>
            <a:off x="8451799" y="3290926"/>
            <a:ext cx="2809951" cy="1352398"/>
          </a:xfrm>
          <a:prstGeom prst="roundRect">
            <a:avLst>
              <a:gd name="adj" fmla="val 3809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1"/>
          <p:cNvSpPr txBox="1"/>
          <p:nvPr/>
        </p:nvSpPr>
        <p:spPr>
          <a:xfrm>
            <a:off x="8613648" y="3452774"/>
            <a:ext cx="25859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6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Growth</a:t>
            </a:r>
            <a:endParaRPr lang="en-US" sz="1000" dirty="0"/>
          </a:p>
        </p:txBody>
      </p:sp>
      <p:sp>
        <p:nvSpPr>
          <p:cNvPr id="30" name="Text 22"/>
          <p:cNvSpPr txBox="1"/>
          <p:nvPr/>
        </p:nvSpPr>
        <p:spPr>
          <a:xfrm>
            <a:off x="8613648" y="3681374"/>
            <a:ext cx="267736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kern="0" spc="-225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3x</a:t>
            </a:r>
            <a:endParaRPr lang="en-US" sz="4500" dirty="0"/>
          </a:p>
        </p:txBody>
      </p:sp>
      <p:sp>
        <p:nvSpPr>
          <p:cNvPr id="31" name="Text 23"/>
          <p:cNvSpPr txBox="1"/>
          <p:nvPr/>
        </p:nvSpPr>
        <p:spPr>
          <a:xfrm>
            <a:off x="8613648" y="4291279"/>
            <a:ext cx="28200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growth for "Sensitive" SKUs</a:t>
            </a:r>
            <a:endParaRPr lang="en-US" sz="100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>
            <a:alphaModFix amt="20000"/>
          </a:blip>
          <a:srcRect t="-4786" b="-4786"/>
          <a:stretch/>
        </p:blipFill>
        <p:spPr>
          <a:xfrm>
            <a:off x="8375904" y="5138928"/>
            <a:ext cx="304495" cy="381305"/>
          </a:xfrm>
          <a:prstGeom prst="rect">
            <a:avLst/>
          </a:prstGeom>
        </p:spPr>
      </p:pic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>
            <a:alphaModFix amt="60000"/>
          </a:blip>
          <a:srcRect/>
          <a:stretch/>
        </p:blipFill>
        <p:spPr>
          <a:xfrm>
            <a:off x="7878470" y="6476695"/>
            <a:ext cx="152705" cy="152705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8107070" y="6476695"/>
            <a:ext cx="365028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6B7280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SOURCE: INNOVATR CONSUMER SENTIMENT Q1 2026</a:t>
            </a:r>
            <a:endParaRPr lang="en-US" sz="900" dirty="0"/>
          </a:p>
        </p:txBody>
      </p:sp>
      <p:sp>
        <p:nvSpPr>
          <p:cNvPr id="35" name="Text 25"/>
          <p:cNvSpPr txBox="1"/>
          <p:nvPr/>
        </p:nvSpPr>
        <p:spPr>
          <a:xfrm>
            <a:off x="933602" y="5012741"/>
            <a:ext cx="2886761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"My skin isn't a problem to solve. I just want it to stop hurting."</a:t>
            </a:r>
            <a:endParaRPr lang="en-US" sz="1300" dirty="0"/>
          </a:p>
        </p:txBody>
      </p:sp>
      <p:sp>
        <p:nvSpPr>
          <p:cNvPr id="36" name="Text 26"/>
          <p:cNvSpPr txBox="1"/>
          <p:nvPr/>
        </p:nvSpPr>
        <p:spPr>
          <a:xfrm>
            <a:off x="4692701" y="5290718"/>
            <a:ext cx="2886761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"It looks manipulative. Just show me the raw ingredients."</a:t>
            </a:r>
            <a:endParaRPr lang="en-US" sz="1300" dirty="0"/>
          </a:p>
        </p:txBody>
      </p:sp>
      <p:sp>
        <p:nvSpPr>
          <p:cNvPr id="37" name="Text 27"/>
          <p:cNvSpPr txBox="1"/>
          <p:nvPr/>
        </p:nvSpPr>
        <p:spPr>
          <a:xfrm>
            <a:off x="8451799" y="5290718"/>
            <a:ext cx="2886761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"If it burns, it goes in the trash. I'm done suffering for beauty."</a:t>
            </a:r>
            <a:endParaRPr lang="en-US" sz="1300" dirty="0"/>
          </a:p>
        </p:txBody>
      </p:sp>
      <p:sp>
        <p:nvSpPr>
          <p:cNvPr id="38" name="Shape 28"/>
          <p:cNvSpPr/>
          <p:nvPr/>
        </p:nvSpPr>
        <p:spPr>
          <a:xfrm>
            <a:off x="609905" y="457200"/>
            <a:ext cx="1047902" cy="228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29"/>
          <p:cNvSpPr/>
          <p:nvPr/>
        </p:nvSpPr>
        <p:spPr>
          <a:xfrm>
            <a:off x="609905" y="457200"/>
            <a:ext cx="104790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9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Revolt</a:t>
            </a:r>
            <a:endParaRPr lang="en-US" sz="900" dirty="0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11"/>
          <a:srcRect l="-2083" r="-2083"/>
          <a:stretch/>
        </p:blipFill>
        <p:spPr>
          <a:xfrm>
            <a:off x="1769364" y="566928"/>
            <a:ext cx="457200" cy="9144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609905" y="761695"/>
            <a:ext cx="464789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105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Skin Revolted.</a:t>
            </a:r>
            <a:endParaRPr lang="en-US" sz="4200" dirty="0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2"/>
          <a:srcRect t="282" b="281"/>
          <a:stretch/>
        </p:blipFill>
        <p:spPr>
          <a:xfrm>
            <a:off x="11374221" y="304495"/>
            <a:ext cx="400507" cy="3813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950501" y="6229807"/>
            <a:ext cx="781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Shift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2029" r="-2029"/>
          <a:stretch/>
        </p:blipFill>
        <p:spPr>
          <a:xfrm>
            <a:off x="10799978" y="6301130"/>
            <a:ext cx="304495" cy="91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257178" y="6210605"/>
            <a:ext cx="2578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28446" y="1328623"/>
            <a:ext cx="10534802" cy="236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0" b="1" kern="0" spc="-1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Beauty hasn’t become basic.</a:t>
            </a:r>
            <a:endParaRPr lang="en-US" sz="6000" dirty="0"/>
          </a:p>
          <a:p>
            <a:pPr marL="0" indent="0" algn="ctr">
              <a:buNone/>
            </a:pPr>
            <a:r>
              <a:rPr lang="en-US" sz="6000" b="1" kern="0" spc="-1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It’s become supportive.</a:t>
            </a:r>
            <a:endParaRPr lang="en-US" sz="6000" dirty="0"/>
          </a:p>
        </p:txBody>
      </p:sp>
      <p:sp>
        <p:nvSpPr>
          <p:cNvPr id="8" name="Shape 5"/>
          <p:cNvSpPr/>
          <p:nvPr/>
        </p:nvSpPr>
        <p:spPr>
          <a:xfrm>
            <a:off x="914400" y="4453128"/>
            <a:ext cx="3258007" cy="1457554"/>
          </a:xfrm>
          <a:prstGeom prst="roundRect">
            <a:avLst>
              <a:gd name="adj" fmla="val 4920"/>
            </a:avLst>
          </a:prstGeom>
          <a:solidFill>
            <a:srgbClr val="FF9F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1654150" y="4757623"/>
            <a:ext cx="178033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Clearer Roles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181405" y="5176418"/>
            <a:ext cx="27249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Fewer promises and clearer roles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470502" y="4453128"/>
            <a:ext cx="3258007" cy="1457554"/>
          </a:xfrm>
          <a:prstGeom prst="roundRect">
            <a:avLst>
              <a:gd name="adj" fmla="val 4920"/>
            </a:avLst>
          </a:prstGeom>
          <a:solidFill>
            <a:srgbClr val="7FE5C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4892040" y="4757623"/>
            <a:ext cx="241493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Reassurance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737506" y="5176418"/>
            <a:ext cx="27249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reassurance over dramatic results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026603" y="4453128"/>
            <a:ext cx="3258007" cy="1457554"/>
          </a:xfrm>
          <a:prstGeom prst="roundRect">
            <a:avLst>
              <a:gd name="adj" fmla="val 4920"/>
            </a:avLst>
          </a:prstGeom>
          <a:solidFill>
            <a:srgbClr val="A8D8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8587130" y="4757623"/>
            <a:ext cx="213878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Performance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292694" y="5176418"/>
            <a:ext cx="27249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reframed as tolerance and consistency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0" y="0"/>
            <a:ext cx="152705" cy="68580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914400" y="700430"/>
            <a:ext cx="457200" cy="914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524305" y="609905"/>
            <a:ext cx="15526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1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Core Shift</a:t>
            </a:r>
            <a:endParaRPr lang="en-US" sz="1000" dirty="0"/>
          </a:p>
        </p:txBody>
      </p:sp>
      <p:pic>
        <p:nvPicPr>
          <p:cNvPr id="22" name="Image 9" descr="preencoded.png">
            <a:extLst>
              <a:ext uri="{FF2B5EF4-FFF2-40B4-BE49-F238E27FC236}">
                <a16:creationId xmlns:a16="http://schemas.microsoft.com/office/drawing/2014/main" id="{F2CE1620-7A44-FEAD-3133-AAC56318FEE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2" b="281"/>
          <a:stretch/>
        </p:blipFill>
        <p:spPr>
          <a:xfrm>
            <a:off x="11374221" y="304495"/>
            <a:ext cx="400507" cy="3813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rcRect l="-3" r="-3"/>
          <a:stretch/>
        </p:blipFill>
        <p:spPr>
          <a:xfrm>
            <a:off x="609905" y="1638605"/>
            <a:ext cx="3454603" cy="4434719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09905" y="1714500"/>
            <a:ext cx="3457346" cy="1028701"/>
          </a:xfrm>
          <a:prstGeom prst="rect">
            <a:avLst/>
          </a:prstGeom>
          <a:solidFill>
            <a:srgbClr val="00E5A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 txBox="1"/>
          <p:nvPr/>
        </p:nvSpPr>
        <p:spPr>
          <a:xfrm rot="720000">
            <a:off x="3555187" y="1867205"/>
            <a:ext cx="4389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🛡️</a:t>
            </a:r>
            <a:endParaRPr lang="en-US" sz="2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8505" y="1943100"/>
            <a:ext cx="457200" cy="45720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38505" y="1943100"/>
            <a:ext cx="457200" cy="457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4"/>
          <p:cNvSpPr/>
          <p:nvPr/>
        </p:nvSpPr>
        <p:spPr>
          <a:xfrm>
            <a:off x="838505" y="1943100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🛡️</a:t>
            </a:r>
            <a:endParaRPr lang="en-US" sz="1800" dirty="0"/>
          </a:p>
        </p:txBody>
      </p:sp>
      <p:sp>
        <p:nvSpPr>
          <p:cNvPr id="10" name="Text 5"/>
          <p:cNvSpPr txBox="1"/>
          <p:nvPr/>
        </p:nvSpPr>
        <p:spPr>
          <a:xfrm>
            <a:off x="1537231" y="1886930"/>
            <a:ext cx="31153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Barrier Care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1537231" y="2210627"/>
            <a:ext cx="311536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69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Expanded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06553" y="2577573"/>
            <a:ext cx="3457346" cy="3495751"/>
          </a:xfrm>
          <a:prstGeom prst="roundRect">
            <a:avLst>
              <a:gd name="adj" fmla="val 583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 txBox="1"/>
          <p:nvPr/>
        </p:nvSpPr>
        <p:spPr>
          <a:xfrm>
            <a:off x="835153" y="2806173"/>
            <a:ext cx="31153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6" dirty="0">
                <a:solidFill>
                  <a:srgbClr val="11182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Shift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835153" y="3110668"/>
            <a:ext cx="307695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Moved "clinical" from behind the counter to the main aisle. Healing is the new daily routine.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rcRect t="-11" b="-11"/>
          <a:stretch/>
        </p:blipFill>
        <p:spPr>
          <a:xfrm>
            <a:off x="835153" y="4081761"/>
            <a:ext cx="2997403" cy="95280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25348" y="4234466"/>
            <a:ext cx="276423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Consumer Voice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1025348" y="4424661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 don't want magic. I just want my skin to stop burning."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835153" y="5187271"/>
            <a:ext cx="3000146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 txBox="1"/>
          <p:nvPr/>
        </p:nvSpPr>
        <p:spPr>
          <a:xfrm>
            <a:off x="835153" y="5405812"/>
            <a:ext cx="9299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Shelf Space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3119324" y="5349119"/>
            <a:ext cx="7909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69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+30%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835153" y="5692019"/>
            <a:ext cx="31153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Barrier-repair category growth</a:t>
            </a:r>
            <a:endParaRPr lang="en-US" sz="9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rcRect l="-1" r="-1"/>
          <a:stretch/>
        </p:blipFill>
        <p:spPr>
          <a:xfrm>
            <a:off x="4369003" y="1638605"/>
            <a:ext cx="3454603" cy="4434719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4369003" y="1714500"/>
            <a:ext cx="3457346" cy="1028701"/>
          </a:xfrm>
          <a:prstGeom prst="rect">
            <a:avLst/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ext 17"/>
          <p:cNvSpPr txBox="1"/>
          <p:nvPr/>
        </p:nvSpPr>
        <p:spPr>
          <a:xfrm rot="720000">
            <a:off x="7314286" y="1867205"/>
            <a:ext cx="4389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😌</a:t>
            </a:r>
            <a:endParaRPr lang="en-US" sz="22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97603" y="1943100"/>
            <a:ext cx="457200" cy="45720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4597603" y="1943100"/>
            <a:ext cx="457200" cy="457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19"/>
          <p:cNvSpPr/>
          <p:nvPr/>
        </p:nvSpPr>
        <p:spPr>
          <a:xfrm>
            <a:off x="4597603" y="1943100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😌</a:t>
            </a:r>
            <a:endParaRPr lang="en-US" sz="1800" dirty="0"/>
          </a:p>
        </p:txBody>
      </p:sp>
      <p:sp>
        <p:nvSpPr>
          <p:cNvPr id="28" name="Text 20"/>
          <p:cNvSpPr txBox="1"/>
          <p:nvPr/>
        </p:nvSpPr>
        <p:spPr>
          <a:xfrm>
            <a:off x="5296329" y="1886930"/>
            <a:ext cx="31153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Calm</a:t>
            </a:r>
            <a:endParaRPr lang="en-US" sz="1800" dirty="0"/>
          </a:p>
        </p:txBody>
      </p:sp>
      <p:sp>
        <p:nvSpPr>
          <p:cNvPr id="29" name="Text 21"/>
          <p:cNvSpPr txBox="1"/>
          <p:nvPr/>
        </p:nvSpPr>
        <p:spPr>
          <a:xfrm>
            <a:off x="5296329" y="2210627"/>
            <a:ext cx="311536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835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Prioritized</a:t>
            </a:r>
            <a:endParaRPr lang="en-US" sz="1500" dirty="0"/>
          </a:p>
        </p:txBody>
      </p:sp>
      <p:sp>
        <p:nvSpPr>
          <p:cNvPr id="30" name="Shape 22"/>
          <p:cNvSpPr/>
          <p:nvPr/>
        </p:nvSpPr>
        <p:spPr>
          <a:xfrm>
            <a:off x="4365651" y="2577573"/>
            <a:ext cx="3457346" cy="3495751"/>
          </a:xfrm>
          <a:prstGeom prst="roundRect">
            <a:avLst>
              <a:gd name="adj" fmla="val 583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3"/>
          <p:cNvSpPr txBox="1"/>
          <p:nvPr/>
        </p:nvSpPr>
        <p:spPr>
          <a:xfrm>
            <a:off x="4594251" y="2806173"/>
            <a:ext cx="31153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6" dirty="0">
                <a:solidFill>
                  <a:srgbClr val="11182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Shift</a:t>
            </a:r>
            <a:endParaRPr lang="en-US" sz="1000" dirty="0"/>
          </a:p>
        </p:txBody>
      </p:sp>
      <p:sp>
        <p:nvSpPr>
          <p:cNvPr id="32" name="Text 24"/>
          <p:cNvSpPr txBox="1"/>
          <p:nvPr/>
        </p:nvSpPr>
        <p:spPr>
          <a:xfrm>
            <a:off x="4594251" y="3110668"/>
            <a:ext cx="307695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Replaced "anti-aging" aggression with "maintenance" language. Predictability is the new premium.</a:t>
            </a:r>
            <a:endParaRPr lang="en-US" sz="120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7"/>
          <a:srcRect t="-13" b="-13"/>
          <a:stretch/>
        </p:blipFill>
        <p:spPr>
          <a:xfrm>
            <a:off x="4594251" y="4081761"/>
            <a:ext cx="2997403" cy="952805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4784446" y="4234466"/>
            <a:ext cx="276423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Consumer Voice</a:t>
            </a:r>
            <a:endParaRPr lang="en-US" sz="900" dirty="0"/>
          </a:p>
        </p:txBody>
      </p:sp>
      <p:sp>
        <p:nvSpPr>
          <p:cNvPr id="35" name="Text 26"/>
          <p:cNvSpPr txBox="1"/>
          <p:nvPr/>
        </p:nvSpPr>
        <p:spPr>
          <a:xfrm>
            <a:off x="4784446" y="4424661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"I'm tired of fighting my face. I just want to make peace with it."</a:t>
            </a:r>
            <a:endParaRPr lang="en-US" sz="1200" dirty="0"/>
          </a:p>
        </p:txBody>
      </p:sp>
      <p:sp>
        <p:nvSpPr>
          <p:cNvPr id="36" name="Shape 27"/>
          <p:cNvSpPr/>
          <p:nvPr/>
        </p:nvSpPr>
        <p:spPr>
          <a:xfrm>
            <a:off x="4594251" y="5187271"/>
            <a:ext cx="3000146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28"/>
          <p:cNvSpPr txBox="1"/>
          <p:nvPr/>
        </p:nvSpPr>
        <p:spPr>
          <a:xfrm>
            <a:off x="4594251" y="5405812"/>
            <a:ext cx="9637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Impact</a:t>
            </a:r>
            <a:endParaRPr lang="en-US" sz="1000" dirty="0"/>
          </a:p>
        </p:txBody>
      </p:sp>
      <p:sp>
        <p:nvSpPr>
          <p:cNvPr id="38" name="Text 29"/>
          <p:cNvSpPr txBox="1"/>
          <p:nvPr/>
        </p:nvSpPr>
        <p:spPr>
          <a:xfrm>
            <a:off x="6921399" y="5349119"/>
            <a:ext cx="7525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835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-40%</a:t>
            </a:r>
            <a:endParaRPr lang="en-US" sz="1800" dirty="0"/>
          </a:p>
        </p:txBody>
      </p:sp>
      <p:sp>
        <p:nvSpPr>
          <p:cNvPr id="39" name="Text 30"/>
          <p:cNvSpPr txBox="1"/>
          <p:nvPr/>
        </p:nvSpPr>
        <p:spPr>
          <a:xfrm>
            <a:off x="4594251" y="5692019"/>
            <a:ext cx="31153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Vs. heritage "miracle" brands</a:t>
            </a:r>
            <a:endParaRPr lang="en-US" sz="900" dirty="0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8"/>
          <a:srcRect l="-1" r="-1"/>
          <a:stretch/>
        </p:blipFill>
        <p:spPr>
          <a:xfrm>
            <a:off x="8128102" y="1638605"/>
            <a:ext cx="3454603" cy="4434719"/>
          </a:xfrm>
          <a:prstGeom prst="rect">
            <a:avLst/>
          </a:prstGeom>
        </p:spPr>
      </p:pic>
      <p:sp>
        <p:nvSpPr>
          <p:cNvPr id="41" name="Shape 31"/>
          <p:cNvSpPr/>
          <p:nvPr/>
        </p:nvSpPr>
        <p:spPr>
          <a:xfrm>
            <a:off x="8128102" y="1714500"/>
            <a:ext cx="3457346" cy="1028701"/>
          </a:xfrm>
          <a:prstGeom prst="rect">
            <a:avLst/>
          </a:prstGeom>
          <a:solidFill>
            <a:srgbClr val="A78B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2"/>
          <p:cNvSpPr txBox="1"/>
          <p:nvPr/>
        </p:nvSpPr>
        <p:spPr>
          <a:xfrm rot="720000">
            <a:off x="11144707" y="1867205"/>
            <a:ext cx="3621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2200" dirty="0"/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56702" y="1943100"/>
            <a:ext cx="457200" cy="457200"/>
          </a:xfrm>
          <a:prstGeom prst="rect">
            <a:avLst/>
          </a:prstGeom>
        </p:spPr>
      </p:pic>
      <p:sp>
        <p:nvSpPr>
          <p:cNvPr id="44" name="Shape 33"/>
          <p:cNvSpPr/>
          <p:nvPr/>
        </p:nvSpPr>
        <p:spPr>
          <a:xfrm>
            <a:off x="8356702" y="1943100"/>
            <a:ext cx="457200" cy="457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34"/>
          <p:cNvSpPr/>
          <p:nvPr/>
        </p:nvSpPr>
        <p:spPr>
          <a:xfrm>
            <a:off x="8356702" y="1943100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800" dirty="0"/>
          </a:p>
        </p:txBody>
      </p:sp>
      <p:sp>
        <p:nvSpPr>
          <p:cNvPr id="46" name="Text 35"/>
          <p:cNvSpPr txBox="1"/>
          <p:nvPr/>
        </p:nvSpPr>
        <p:spPr>
          <a:xfrm>
            <a:off x="9055428" y="1886930"/>
            <a:ext cx="31153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</a:t>
            </a:r>
            <a:endParaRPr lang="en-US" sz="1800" dirty="0"/>
          </a:p>
        </p:txBody>
      </p:sp>
      <p:sp>
        <p:nvSpPr>
          <p:cNvPr id="47" name="Text 36"/>
          <p:cNvSpPr txBox="1"/>
          <p:nvPr/>
        </p:nvSpPr>
        <p:spPr>
          <a:xfrm>
            <a:off x="9055428" y="2210627"/>
            <a:ext cx="311536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Signaled</a:t>
            </a:r>
            <a:endParaRPr lang="en-US" sz="1500" dirty="0"/>
          </a:p>
        </p:txBody>
      </p:sp>
      <p:sp>
        <p:nvSpPr>
          <p:cNvPr id="48" name="Shape 37"/>
          <p:cNvSpPr/>
          <p:nvPr/>
        </p:nvSpPr>
        <p:spPr>
          <a:xfrm>
            <a:off x="8124750" y="2577573"/>
            <a:ext cx="3457346" cy="3495751"/>
          </a:xfrm>
          <a:prstGeom prst="roundRect">
            <a:avLst>
              <a:gd name="adj" fmla="val 583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38"/>
          <p:cNvSpPr txBox="1"/>
          <p:nvPr/>
        </p:nvSpPr>
        <p:spPr>
          <a:xfrm>
            <a:off x="8353350" y="2806173"/>
            <a:ext cx="31153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6" dirty="0">
                <a:solidFill>
                  <a:srgbClr val="11182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Shift</a:t>
            </a:r>
            <a:endParaRPr lang="en-US" sz="1000" dirty="0"/>
          </a:p>
        </p:txBody>
      </p:sp>
      <p:sp>
        <p:nvSpPr>
          <p:cNvPr id="50" name="Text 39"/>
          <p:cNvSpPr txBox="1"/>
          <p:nvPr/>
        </p:nvSpPr>
        <p:spPr>
          <a:xfrm>
            <a:off x="8353350" y="3110668"/>
            <a:ext cx="307695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Front-of-pack percentage labeling and "Derm Tested" stamps replaced celebrity endorsements.</a:t>
            </a:r>
            <a:endParaRPr lang="en-US" sz="1200" dirty="0"/>
          </a:p>
        </p:txBody>
      </p:sp>
      <p:pic>
        <p:nvPicPr>
          <p:cNvPr id="51" name="Image 9" descr="preencoded.png"/>
          <p:cNvPicPr>
            <a:picLocks noChangeAspect="1"/>
          </p:cNvPicPr>
          <p:nvPr/>
        </p:nvPicPr>
        <p:blipFill>
          <a:blip r:embed="rId9"/>
          <a:srcRect t="-13" b="-13"/>
          <a:stretch/>
        </p:blipFill>
        <p:spPr>
          <a:xfrm>
            <a:off x="8353350" y="4081761"/>
            <a:ext cx="2997403" cy="952805"/>
          </a:xfrm>
          <a:prstGeom prst="rect">
            <a:avLst/>
          </a:prstGeom>
        </p:spPr>
      </p:pic>
      <p:sp>
        <p:nvSpPr>
          <p:cNvPr id="52" name="Text 40"/>
          <p:cNvSpPr txBox="1"/>
          <p:nvPr/>
        </p:nvSpPr>
        <p:spPr>
          <a:xfrm>
            <a:off x="8543545" y="4234466"/>
            <a:ext cx="276423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Consumer Voice</a:t>
            </a:r>
            <a:endParaRPr lang="en-US" sz="900" dirty="0"/>
          </a:p>
        </p:txBody>
      </p:sp>
      <p:sp>
        <p:nvSpPr>
          <p:cNvPr id="53" name="Text 41"/>
          <p:cNvSpPr txBox="1"/>
          <p:nvPr/>
        </p:nvSpPr>
        <p:spPr>
          <a:xfrm>
            <a:off x="8543545" y="4424661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 trust the percentage on the bottle more than the face on the billboard."</a:t>
            </a:r>
            <a:endParaRPr lang="en-US" sz="1200" dirty="0"/>
          </a:p>
        </p:txBody>
      </p:sp>
      <p:sp>
        <p:nvSpPr>
          <p:cNvPr id="54" name="Shape 42"/>
          <p:cNvSpPr/>
          <p:nvPr/>
        </p:nvSpPr>
        <p:spPr>
          <a:xfrm>
            <a:off x="8353350" y="5187271"/>
            <a:ext cx="3000146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3"/>
          <p:cNvSpPr txBox="1"/>
          <p:nvPr/>
        </p:nvSpPr>
        <p:spPr>
          <a:xfrm>
            <a:off x="8353350" y="5405812"/>
            <a:ext cx="997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 Label</a:t>
            </a:r>
            <a:endParaRPr lang="en-US" sz="1000" dirty="0"/>
          </a:p>
        </p:txBody>
      </p:sp>
      <p:sp>
        <p:nvSpPr>
          <p:cNvPr id="56" name="Text 44"/>
          <p:cNvSpPr txBox="1"/>
          <p:nvPr/>
        </p:nvSpPr>
        <p:spPr>
          <a:xfrm>
            <a:off x="10419894" y="5349119"/>
            <a:ext cx="10104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+20.5%</a:t>
            </a:r>
            <a:endParaRPr lang="en-US" sz="1800" dirty="0"/>
          </a:p>
        </p:txBody>
      </p:sp>
      <p:sp>
        <p:nvSpPr>
          <p:cNvPr id="57" name="Text 45"/>
          <p:cNvSpPr txBox="1"/>
          <p:nvPr/>
        </p:nvSpPr>
        <p:spPr>
          <a:xfrm>
            <a:off x="8353350" y="5692019"/>
            <a:ext cx="31153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outpacing branded goods</a:t>
            </a:r>
            <a:endParaRPr lang="en-US" sz="900" dirty="0"/>
          </a:p>
        </p:txBody>
      </p:sp>
      <p:sp>
        <p:nvSpPr>
          <p:cNvPr id="58" name="Text 46"/>
          <p:cNvSpPr txBox="1"/>
          <p:nvPr/>
        </p:nvSpPr>
        <p:spPr>
          <a:xfrm>
            <a:off x="609905" y="609905"/>
            <a:ext cx="13432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SHIFT EVIDENCE</a:t>
            </a:r>
            <a:endParaRPr lang="en-US" sz="900" dirty="0"/>
          </a:p>
        </p:txBody>
      </p:sp>
      <p:pic>
        <p:nvPicPr>
          <p:cNvPr id="59" name="Image 10" descr="preencoded.png"/>
          <p:cNvPicPr>
            <a:picLocks noChangeAspect="1"/>
          </p:cNvPicPr>
          <p:nvPr/>
        </p:nvPicPr>
        <p:blipFill>
          <a:blip r:embed="rId10"/>
          <a:srcRect l="-2083" r="-2083"/>
          <a:stretch/>
        </p:blipFill>
        <p:spPr>
          <a:xfrm>
            <a:off x="1986991" y="681228"/>
            <a:ext cx="457200" cy="9144"/>
          </a:xfrm>
          <a:prstGeom prst="rect">
            <a:avLst/>
          </a:prstGeom>
        </p:spPr>
      </p:pic>
      <p:sp>
        <p:nvSpPr>
          <p:cNvPr id="60" name="Text 47"/>
          <p:cNvSpPr txBox="1"/>
          <p:nvPr/>
        </p:nvSpPr>
        <p:spPr>
          <a:xfrm>
            <a:off x="609905" y="838505"/>
            <a:ext cx="455462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9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What Clicks </a:t>
            </a:r>
            <a:r>
              <a:rPr lang="en-US" sz="3600" b="1" u="sng" kern="0" spc="-90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</a:t>
            </a:r>
            <a:endParaRPr lang="en-US" sz="3600" dirty="0"/>
          </a:p>
        </p:txBody>
      </p:sp>
      <p:sp>
        <p:nvSpPr>
          <p:cNvPr id="64" name="Shape 50"/>
          <p:cNvSpPr/>
          <p:nvPr/>
        </p:nvSpPr>
        <p:spPr>
          <a:xfrm>
            <a:off x="0" y="0"/>
            <a:ext cx="12191695" cy="152705"/>
          </a:xfrm>
          <a:prstGeom prst="rect">
            <a:avLst/>
          </a:prstGeom>
          <a:solidFill>
            <a:srgbClr val="FF6B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l="-226" r="-226"/>
          <a:stretch/>
        </p:blipFill>
        <p:spPr>
          <a:xfrm>
            <a:off x="761695" y="1132779"/>
            <a:ext cx="609905" cy="758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410005" y="1132779"/>
            <a:ext cx="75895" cy="758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1524305" y="1132779"/>
            <a:ext cx="152705" cy="75895"/>
          </a:xfrm>
          <a:prstGeom prst="rect">
            <a:avLst/>
          </a:prstGeom>
          <a:solidFill>
            <a:srgbClr val="FF52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761695" y="1438189"/>
            <a:ext cx="5238598" cy="2274438"/>
          </a:xfrm>
          <a:prstGeom prst="roundRect">
            <a:avLst>
              <a:gd name="adj" fmla="val 1181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761695" y="1438189"/>
            <a:ext cx="75895" cy="2274438"/>
          </a:xfrm>
          <a:prstGeom prst="roundRect">
            <a:avLst>
              <a:gd name="adj" fmla="val 37798"/>
            </a:avLst>
          </a:prstGeom>
          <a:solidFill>
            <a:srgbClr val="FF5252"/>
          </a:solidFill>
          <a:ln w="12700">
            <a:solidFill>
              <a:srgbClr val="FF52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 t="-9587" b="-9587"/>
          <a:stretch/>
        </p:blipFill>
        <p:spPr>
          <a:xfrm>
            <a:off x="5524805" y="1589979"/>
            <a:ext cx="323698" cy="3429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191402" y="1438189"/>
            <a:ext cx="5238598" cy="2274438"/>
          </a:xfrm>
          <a:prstGeom prst="roundRect">
            <a:avLst>
              <a:gd name="adj" fmla="val 1181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7"/>
          <p:cNvSpPr/>
          <p:nvPr/>
        </p:nvSpPr>
        <p:spPr>
          <a:xfrm>
            <a:off x="6191402" y="1438189"/>
            <a:ext cx="75895" cy="2274438"/>
          </a:xfrm>
          <a:prstGeom prst="roundRect">
            <a:avLst>
              <a:gd name="adj" fmla="val 37798"/>
            </a:avLst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>
            <a:alphaModFix amt="20000"/>
          </a:blip>
          <a:srcRect t="-9904" b="-9904"/>
          <a:stretch/>
        </p:blipFill>
        <p:spPr>
          <a:xfrm>
            <a:off x="10992002" y="1589979"/>
            <a:ext cx="286207" cy="3429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761695" y="3877094"/>
            <a:ext cx="5238598" cy="2274438"/>
          </a:xfrm>
          <a:prstGeom prst="roundRect">
            <a:avLst>
              <a:gd name="adj" fmla="val 118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9"/>
          <p:cNvSpPr/>
          <p:nvPr/>
        </p:nvSpPr>
        <p:spPr>
          <a:xfrm>
            <a:off x="761695" y="3877094"/>
            <a:ext cx="75895" cy="2274438"/>
          </a:xfrm>
          <a:prstGeom prst="roundRect">
            <a:avLst>
              <a:gd name="adj" fmla="val 37798"/>
            </a:avLst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 t="-9186" b="-9186"/>
          <a:stretch/>
        </p:blipFill>
        <p:spPr>
          <a:xfrm>
            <a:off x="5486400" y="4029799"/>
            <a:ext cx="362102" cy="34290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6191402" y="3877094"/>
            <a:ext cx="5238598" cy="2274438"/>
          </a:xfrm>
          <a:prstGeom prst="roundRect">
            <a:avLst>
              <a:gd name="adj" fmla="val 1181"/>
            </a:avLst>
          </a:prstGeom>
          <a:solidFill>
            <a:srgbClr val="F5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1"/>
          <p:cNvSpPr/>
          <p:nvPr/>
        </p:nvSpPr>
        <p:spPr>
          <a:xfrm>
            <a:off x="6191402" y="3877094"/>
            <a:ext cx="75895" cy="2274438"/>
          </a:xfrm>
          <a:prstGeom prst="roundRect">
            <a:avLst>
              <a:gd name="adj" fmla="val 37798"/>
            </a:avLst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 t="-8594" b="-8594"/>
          <a:stretch/>
        </p:blipFill>
        <p:spPr>
          <a:xfrm>
            <a:off x="11058754" y="4029799"/>
            <a:ext cx="219456" cy="34290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61695" y="409489"/>
            <a:ext cx="99441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9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Fear Won</a:t>
            </a:r>
            <a:endParaRPr lang="en-US" sz="3600" dirty="0"/>
          </a:p>
        </p:txBody>
      </p:sp>
      <p:sp>
        <p:nvSpPr>
          <p:cNvPr id="21" name="Text 13"/>
          <p:cNvSpPr txBox="1"/>
          <p:nvPr/>
        </p:nvSpPr>
        <p:spPr>
          <a:xfrm>
            <a:off x="1067105" y="1666789"/>
            <a:ext cx="48198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Anxiety &gt; Ambition</a:t>
            </a:r>
            <a:endParaRPr lang="en-US" sz="1800" dirty="0"/>
          </a:p>
        </p:txBody>
      </p:sp>
      <p:sp>
        <p:nvSpPr>
          <p:cNvPr id="22" name="Text 14"/>
          <p:cNvSpPr txBox="1"/>
          <p:nvPr/>
        </p:nvSpPr>
        <p:spPr>
          <a:xfrm>
            <a:off x="1067105" y="2047179"/>
            <a:ext cx="47823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stopped trying to optimize ourselves. Now we just want to stabilize ourselves.</a:t>
            </a:r>
            <a:endParaRPr lang="en-US" sz="1300" dirty="0"/>
          </a:p>
        </p:txBody>
      </p:sp>
      <p:sp>
        <p:nvSpPr>
          <p:cNvPr id="23" name="Shape 15"/>
          <p:cNvSpPr/>
          <p:nvPr/>
        </p:nvSpPr>
        <p:spPr>
          <a:xfrm>
            <a:off x="1067105" y="2633310"/>
            <a:ext cx="4705502" cy="9144"/>
          </a:xfrm>
          <a:prstGeom prst="rect">
            <a:avLst/>
          </a:prstGeom>
          <a:solidFill>
            <a:srgbClr val="FDA4AF"/>
          </a:solidFill>
          <a:ln w="12700">
            <a:solidFill>
              <a:srgbClr val="FDA4A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6"/>
          <p:cNvSpPr txBox="1"/>
          <p:nvPr/>
        </p:nvSpPr>
        <p:spPr>
          <a:xfrm>
            <a:off x="1067105" y="2718349"/>
            <a:ext cx="4782312" cy="9153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Global searches for "cortisol face" spiked 300%. Consumers are buying products specifically to lower stress markers, prioritizing hormonal balance over "hustle culture" aesthetic. </a:t>
            </a:r>
            <a:endParaRPr lang="en-US" sz="1200" dirty="0"/>
          </a:p>
        </p:txBody>
      </p:sp>
      <p:sp>
        <p:nvSpPr>
          <p:cNvPr id="25" name="Text 17"/>
          <p:cNvSpPr txBox="1"/>
          <p:nvPr/>
        </p:nvSpPr>
        <p:spPr>
          <a:xfrm>
            <a:off x="6495898" y="1781089"/>
            <a:ext cx="48198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&gt; Status</a:t>
            </a:r>
            <a:endParaRPr lang="en-US" sz="1800" dirty="0"/>
          </a:p>
        </p:txBody>
      </p:sp>
      <p:sp>
        <p:nvSpPr>
          <p:cNvPr id="26" name="Text 18"/>
          <p:cNvSpPr txBox="1"/>
          <p:nvPr/>
        </p:nvSpPr>
        <p:spPr>
          <a:xfrm>
            <a:off x="6495898" y="2161479"/>
            <a:ext cx="47823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fancy jar that burns is trash. A boring tube that works is the new flex.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6495898" y="2747610"/>
            <a:ext cx="4705502" cy="9144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0"/>
          <p:cNvSpPr txBox="1"/>
          <p:nvPr/>
        </p:nvSpPr>
        <p:spPr>
          <a:xfrm>
            <a:off x="6495898" y="2832649"/>
            <a:ext cx="4782312" cy="6867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Pharmacy brands (CeraVe, La Roche-Posay) have dethroned heritage luxury in market share. The "shelfie" has shifted from gold jars to clinical white plastic. 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1067105" y="4219994"/>
            <a:ext cx="48198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Calm &gt; Confidence</a:t>
            </a:r>
            <a:endParaRPr lang="en-US" sz="1800" dirty="0"/>
          </a:p>
        </p:txBody>
      </p:sp>
      <p:sp>
        <p:nvSpPr>
          <p:cNvPr id="30" name="Text 22"/>
          <p:cNvSpPr txBox="1"/>
          <p:nvPr/>
        </p:nvSpPr>
        <p:spPr>
          <a:xfrm>
            <a:off x="1067105" y="4601299"/>
            <a:ext cx="47823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traded "empowerment" for a lower heart rate. Boring is the new brave.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1067105" y="5186515"/>
            <a:ext cx="4705502" cy="9144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4"/>
          <p:cNvSpPr txBox="1"/>
          <p:nvPr/>
        </p:nvSpPr>
        <p:spPr>
          <a:xfrm>
            <a:off x="1067105" y="5271554"/>
            <a:ext cx="4782312" cy="6867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Viral trends shifted from "Girlboss" faces to "Bed Rot" recovery routines. Makeup category sales dipped 8% as restorative skincare took budget priority. 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6495898" y="4219994"/>
            <a:ext cx="48198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Relief &gt; Results</a:t>
            </a:r>
            <a:endParaRPr lang="en-US" sz="1800" dirty="0"/>
          </a:p>
        </p:txBody>
      </p:sp>
      <p:sp>
        <p:nvSpPr>
          <p:cNvPr id="34" name="Text 26"/>
          <p:cNvSpPr txBox="1"/>
          <p:nvPr/>
        </p:nvSpPr>
        <p:spPr>
          <a:xfrm>
            <a:off x="6495898" y="4601299"/>
            <a:ext cx="47823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Forget the "10 years younger" promise. Just make the redness stop.</a:t>
            </a:r>
            <a:endParaRPr lang="en-US" sz="1300" dirty="0"/>
          </a:p>
        </p:txBody>
      </p:sp>
      <p:sp>
        <p:nvSpPr>
          <p:cNvPr id="35" name="Shape 27"/>
          <p:cNvSpPr/>
          <p:nvPr/>
        </p:nvSpPr>
        <p:spPr>
          <a:xfrm>
            <a:off x="6495898" y="5186515"/>
            <a:ext cx="4705502" cy="9144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8"/>
          <p:cNvSpPr txBox="1"/>
          <p:nvPr/>
        </p:nvSpPr>
        <p:spPr>
          <a:xfrm>
            <a:off x="6495898" y="5271554"/>
            <a:ext cx="4782312" cy="6867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Evidence:</a:t>
            </a: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70% of consumers now identify as having "sensitive skin." Immediate soothing claims convert 2x faster than long-term anti-wrinkle claims on shelf. </a:t>
            </a:r>
            <a:endParaRPr lang="en-US" sz="1200" dirty="0"/>
          </a:p>
        </p:txBody>
      </p:sp>
      <p:sp>
        <p:nvSpPr>
          <p:cNvPr id="37" name="Text 29"/>
          <p:cNvSpPr txBox="1"/>
          <p:nvPr/>
        </p:nvSpPr>
        <p:spPr>
          <a:xfrm>
            <a:off x="761695" y="42976"/>
            <a:ext cx="13240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Core Shift</a:t>
            </a:r>
            <a:endParaRPr lang="en-US" sz="90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8"/>
          <a:srcRect t="826" b="827"/>
          <a:stretch/>
        </p:blipFill>
        <p:spPr>
          <a:xfrm>
            <a:off x="10952683" y="457200"/>
            <a:ext cx="485546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609905" y="1455725"/>
            <a:ext cx="914400" cy="384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rcRect t="-400" b="-400"/>
          <a:stretch/>
        </p:blipFill>
        <p:spPr>
          <a:xfrm>
            <a:off x="1676095" y="1455725"/>
            <a:ext cx="457200" cy="3840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286000" y="1455725"/>
            <a:ext cx="152705" cy="38405"/>
          </a:xfrm>
          <a:prstGeom prst="rect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 l="-450" r="-450"/>
          <a:stretch/>
        </p:blipFill>
        <p:spPr>
          <a:xfrm>
            <a:off x="609905" y="1836115"/>
            <a:ext cx="57607" cy="304495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09905" y="2179015"/>
            <a:ext cx="57607" cy="152705"/>
          </a:xfrm>
          <a:prstGeom prst="roundRect">
            <a:avLst>
              <a:gd name="adj" fmla="val 529102"/>
            </a:avLst>
          </a:prstGeom>
          <a:solidFill>
            <a:srgbClr val="FF6B6B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4"/>
          <p:cNvSpPr/>
          <p:nvPr/>
        </p:nvSpPr>
        <p:spPr>
          <a:xfrm>
            <a:off x="609905" y="2370125"/>
            <a:ext cx="57607" cy="75895"/>
          </a:xfrm>
          <a:prstGeom prst="roundRect">
            <a:avLst>
              <a:gd name="adj" fmla="val 529102"/>
            </a:avLst>
          </a:prstGeom>
          <a:solidFill>
            <a:srgbClr val="FF6B6B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 txBox="1"/>
          <p:nvPr/>
        </p:nvSpPr>
        <p:spPr>
          <a:xfrm>
            <a:off x="895198" y="1798625"/>
            <a:ext cx="50109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52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Stripped the </a:t>
            </a:r>
            <a:r>
              <a:rPr lang="en-US" sz="2100" b="1" kern="0" spc="-52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actives.</a:t>
            </a:r>
            <a:endParaRPr lang="en-US" sz="2100" dirty="0"/>
          </a:p>
        </p:txBody>
      </p:sp>
      <p:sp>
        <p:nvSpPr>
          <p:cNvPr id="11" name="Text 6"/>
          <p:cNvSpPr txBox="1"/>
          <p:nvPr/>
        </p:nvSpPr>
        <p:spPr>
          <a:xfrm>
            <a:off x="895198" y="2208276"/>
            <a:ext cx="4972507" cy="1114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Ingredient lists are shrinking. Consumers are rejecting 40+ line INCI lists for 3-5 proven heroes. Niacinamide, Glycerin, Ceramides. Anything else is viewed as filler, noise, or potential irritation.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l="-450" r="-450"/>
          <a:stretch/>
        </p:blipFill>
        <p:spPr>
          <a:xfrm>
            <a:off x="609905" y="3360420"/>
            <a:ext cx="57607" cy="304495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09905" y="3703320"/>
            <a:ext cx="57607" cy="152705"/>
          </a:xfrm>
          <a:prstGeom prst="roundRect">
            <a:avLst>
              <a:gd name="adj" fmla="val 529102"/>
            </a:avLst>
          </a:prstGeom>
          <a:solidFill>
            <a:srgbClr val="00E5A0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8"/>
          <p:cNvSpPr/>
          <p:nvPr/>
        </p:nvSpPr>
        <p:spPr>
          <a:xfrm>
            <a:off x="609905" y="3893515"/>
            <a:ext cx="57607" cy="75895"/>
          </a:xfrm>
          <a:prstGeom prst="roundRect">
            <a:avLst>
              <a:gd name="adj" fmla="val 529102"/>
            </a:avLst>
          </a:prstGeom>
          <a:solidFill>
            <a:srgbClr val="00E5A0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9"/>
          <p:cNvSpPr txBox="1"/>
          <p:nvPr/>
        </p:nvSpPr>
        <p:spPr>
          <a:xfrm>
            <a:off x="895198" y="3322015"/>
            <a:ext cx="50109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52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Stripped the </a:t>
            </a:r>
            <a:r>
              <a:rPr lang="en-US" sz="2100" b="1" kern="0" spc="-52" dirty="0">
                <a:solidFill>
                  <a:srgbClr val="00E5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claims.</a:t>
            </a:r>
            <a:endParaRPr lang="en-US" sz="2100" dirty="0"/>
          </a:p>
        </p:txBody>
      </p:sp>
      <p:sp>
        <p:nvSpPr>
          <p:cNvPr id="16" name="Text 10"/>
          <p:cNvSpPr txBox="1"/>
          <p:nvPr/>
        </p:nvSpPr>
        <p:spPr>
          <a:xfrm>
            <a:off x="895198" y="3731666"/>
            <a:ext cx="4972507" cy="1114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more "10 years younger in 2 weeks." The new language is biological fact: "Hydrates for 24h," "Supports barrier function," "Sooths redness." Performance is now measured in stability, not miracles.</a:t>
            </a:r>
            <a:endParaRPr lang="en-US" sz="13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 l="-450" r="-450"/>
          <a:stretch/>
        </p:blipFill>
        <p:spPr>
          <a:xfrm>
            <a:off x="609905" y="4884725"/>
            <a:ext cx="57607" cy="304495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09905" y="5227625"/>
            <a:ext cx="57607" cy="152705"/>
          </a:xfrm>
          <a:prstGeom prst="roundRect">
            <a:avLst>
              <a:gd name="adj" fmla="val 529102"/>
            </a:avLst>
          </a:prstGeom>
          <a:solidFill>
            <a:srgbClr val="A78BFA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2"/>
          <p:cNvSpPr/>
          <p:nvPr/>
        </p:nvSpPr>
        <p:spPr>
          <a:xfrm>
            <a:off x="609905" y="5417820"/>
            <a:ext cx="57607" cy="75895"/>
          </a:xfrm>
          <a:prstGeom prst="roundRect">
            <a:avLst>
              <a:gd name="adj" fmla="val 529102"/>
            </a:avLst>
          </a:prstGeom>
          <a:solidFill>
            <a:srgbClr val="A78BFA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3"/>
          <p:cNvSpPr txBox="1"/>
          <p:nvPr/>
        </p:nvSpPr>
        <p:spPr>
          <a:xfrm>
            <a:off x="895198" y="4846320"/>
            <a:ext cx="50109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52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Stripped the </a:t>
            </a:r>
            <a:r>
              <a:rPr lang="en-US" sz="2100" b="1" kern="0" spc="-52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drama.</a:t>
            </a:r>
            <a:endParaRPr lang="en-US" sz="2100" dirty="0"/>
          </a:p>
        </p:txBody>
      </p:sp>
      <p:sp>
        <p:nvSpPr>
          <p:cNvPr id="21" name="Text 14"/>
          <p:cNvSpPr txBox="1"/>
          <p:nvPr/>
        </p:nvSpPr>
        <p:spPr>
          <a:xfrm>
            <a:off x="895198" y="5255971"/>
            <a:ext cx="4972507" cy="1114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Goodbye shouting fonts and gold foil packaging. Hello clinical minimalism, clear percentage labeling, and medical aesthetics. The shelf appeal is now defined by how calm and competent the bottle looks.</a:t>
            </a:r>
            <a:endParaRPr lang="en-US" sz="13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 t="-2" b="-2"/>
          <a:stretch/>
        </p:blipFill>
        <p:spPr>
          <a:xfrm>
            <a:off x="6400800" y="1798625"/>
            <a:ext cx="5181905" cy="4286707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409944" y="1807769"/>
            <a:ext cx="5162702" cy="1495044"/>
          </a:xfrm>
          <a:prstGeom prst="roundRect">
            <a:avLst>
              <a:gd name="adj" fmla="val 9350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6"/>
          <p:cNvSpPr/>
          <p:nvPr/>
        </p:nvSpPr>
        <p:spPr>
          <a:xfrm>
            <a:off x="6409944" y="3300984"/>
            <a:ext cx="4647895" cy="1067105"/>
          </a:xfrm>
          <a:prstGeom prst="rect">
            <a:avLst/>
          </a:prstGeom>
          <a:solidFill>
            <a:srgbClr val="00E5A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7"/>
          <p:cNvSpPr/>
          <p:nvPr/>
        </p:nvSpPr>
        <p:spPr>
          <a:xfrm>
            <a:off x="6409944" y="4368089"/>
            <a:ext cx="3877056" cy="647395"/>
          </a:xfrm>
          <a:prstGeom prst="rect">
            <a:avLst/>
          </a:prstGeom>
          <a:solidFill>
            <a:srgbClr val="A78BFA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18"/>
          <p:cNvSpPr/>
          <p:nvPr/>
        </p:nvSpPr>
        <p:spPr>
          <a:xfrm>
            <a:off x="6409944" y="5008169"/>
            <a:ext cx="2581351" cy="428854"/>
          </a:xfrm>
          <a:prstGeom prst="rect">
            <a:avLst/>
          </a:prstGeom>
          <a:solidFill>
            <a:srgbClr val="00E5A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19"/>
          <p:cNvSpPr/>
          <p:nvPr/>
        </p:nvSpPr>
        <p:spPr>
          <a:xfrm>
            <a:off x="6562649" y="5586984"/>
            <a:ext cx="75895" cy="75895"/>
          </a:xfrm>
          <a:prstGeom prst="ellipse">
            <a:avLst/>
          </a:prstGeom>
          <a:solidFill>
            <a:srgbClr val="FF6B6B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0"/>
          <p:cNvSpPr/>
          <p:nvPr/>
        </p:nvSpPr>
        <p:spPr>
          <a:xfrm>
            <a:off x="6791249" y="5586984"/>
            <a:ext cx="75895" cy="75895"/>
          </a:xfrm>
          <a:prstGeom prst="ellipse">
            <a:avLst/>
          </a:prstGeom>
          <a:solidFill>
            <a:srgbClr val="00E5A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1"/>
          <p:cNvSpPr/>
          <p:nvPr/>
        </p:nvSpPr>
        <p:spPr>
          <a:xfrm>
            <a:off x="7019849" y="5586984"/>
            <a:ext cx="75895" cy="75895"/>
          </a:xfrm>
          <a:prstGeom prst="ellipse">
            <a:avLst/>
          </a:prstGeom>
          <a:solidFill>
            <a:srgbClr val="A78BFA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2"/>
          <p:cNvSpPr/>
          <p:nvPr/>
        </p:nvSpPr>
        <p:spPr>
          <a:xfrm>
            <a:off x="7248449" y="5586984"/>
            <a:ext cx="38405" cy="38405"/>
          </a:xfrm>
          <a:prstGeom prst="ellipse">
            <a:avLst/>
          </a:prstGeom>
          <a:solidFill>
            <a:srgbClr val="FF6B6B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3"/>
          <p:cNvSpPr/>
          <p:nvPr/>
        </p:nvSpPr>
        <p:spPr>
          <a:xfrm>
            <a:off x="7438644" y="5586984"/>
            <a:ext cx="38405" cy="38405"/>
          </a:xfrm>
          <a:prstGeom prst="ellipse">
            <a:avLst/>
          </a:prstGeom>
          <a:solidFill>
            <a:srgbClr val="00E5A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4"/>
          <p:cNvSpPr/>
          <p:nvPr/>
        </p:nvSpPr>
        <p:spPr>
          <a:xfrm>
            <a:off x="11173054" y="1960474"/>
            <a:ext cx="57607" cy="57607"/>
          </a:xfrm>
          <a:prstGeom prst="rect">
            <a:avLst/>
          </a:prstGeom>
          <a:solidFill>
            <a:srgbClr val="A78BFA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5"/>
          <p:cNvSpPr/>
          <p:nvPr/>
        </p:nvSpPr>
        <p:spPr>
          <a:xfrm>
            <a:off x="11268151" y="1960474"/>
            <a:ext cx="57607" cy="57607"/>
          </a:xfrm>
          <a:prstGeom prst="rect">
            <a:avLst/>
          </a:prstGeom>
          <a:solidFill>
            <a:srgbClr val="A78BFA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6"/>
          <p:cNvSpPr/>
          <p:nvPr/>
        </p:nvSpPr>
        <p:spPr>
          <a:xfrm>
            <a:off x="11363249" y="1960474"/>
            <a:ext cx="57607" cy="57607"/>
          </a:xfrm>
          <a:prstGeom prst="rect">
            <a:avLst/>
          </a:prstGeom>
          <a:solidFill>
            <a:srgbClr val="A78BFA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7"/>
          <p:cNvSpPr/>
          <p:nvPr/>
        </p:nvSpPr>
        <p:spPr>
          <a:xfrm>
            <a:off x="11173054" y="2055571"/>
            <a:ext cx="57607" cy="57607"/>
          </a:xfrm>
          <a:prstGeom prst="rect">
            <a:avLst/>
          </a:prstGeom>
          <a:solidFill>
            <a:srgbClr val="00E5A0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8"/>
          <p:cNvSpPr/>
          <p:nvPr/>
        </p:nvSpPr>
        <p:spPr>
          <a:xfrm>
            <a:off x="11173054" y="2150669"/>
            <a:ext cx="57607" cy="57607"/>
          </a:xfrm>
          <a:prstGeom prst="rect">
            <a:avLst/>
          </a:prstGeom>
          <a:solidFill>
            <a:srgbClr val="FF6B6B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29"/>
          <p:cNvSpPr/>
          <p:nvPr/>
        </p:nvSpPr>
        <p:spPr>
          <a:xfrm>
            <a:off x="11268151" y="2055571"/>
            <a:ext cx="57607" cy="57607"/>
          </a:xfrm>
          <a:prstGeom prst="rect">
            <a:avLst/>
          </a:prstGeom>
          <a:solidFill>
            <a:srgbClr val="00E5A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0"/>
          <p:cNvSpPr txBox="1"/>
          <p:nvPr/>
        </p:nvSpPr>
        <p:spPr>
          <a:xfrm>
            <a:off x="609905" y="914400"/>
            <a:ext cx="1116391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8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Stripping</a:t>
            </a:r>
            <a:endParaRPr lang="en-US" sz="3600" dirty="0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>
            <a:alphaModFix amt="80000"/>
          </a:blip>
          <a:srcRect t="-9" b="-9"/>
          <a:stretch/>
        </p:blipFill>
        <p:spPr>
          <a:xfrm rot="20880000">
            <a:off x="6913575" y="2936138"/>
            <a:ext cx="3824021" cy="848563"/>
          </a:xfrm>
          <a:prstGeom prst="rect">
            <a:avLst/>
          </a:prstGeom>
        </p:spPr>
      </p:pic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>
            <a:alphaModFix amt="60000"/>
          </a:blip>
          <a:srcRect t="-49" b="-49"/>
          <a:stretch/>
        </p:blipFill>
        <p:spPr>
          <a:xfrm rot="21240000">
            <a:off x="7077982" y="4609546"/>
            <a:ext cx="3326587" cy="359359"/>
          </a:xfrm>
          <a:prstGeom prst="rect">
            <a:avLst/>
          </a:prstGeom>
        </p:spPr>
      </p:pic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11">
            <a:alphaModFix amt="80000"/>
          </a:blip>
          <a:srcRect t="-9587" b="-9587"/>
          <a:stretch/>
        </p:blipFill>
        <p:spPr>
          <a:xfrm>
            <a:off x="8682228" y="4559198"/>
            <a:ext cx="323698" cy="342900"/>
          </a:xfrm>
          <a:prstGeom prst="rect">
            <a:avLst/>
          </a:prstGeom>
        </p:spPr>
      </p:pic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2">
            <a:alphaModFix amt="80000"/>
          </a:blip>
          <a:srcRect t="-8594" b="-8594"/>
          <a:stretch/>
        </p:blipFill>
        <p:spPr>
          <a:xfrm>
            <a:off x="9081821" y="4559198"/>
            <a:ext cx="219456" cy="342900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609905" y="533095"/>
            <a:ext cx="1371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Cultural Shift</a:t>
            </a:r>
            <a:endParaRPr lang="en-US" sz="900" dirty="0"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13"/>
          <a:srcRect t="826" b="827"/>
          <a:stretch/>
        </p:blipFill>
        <p:spPr>
          <a:xfrm>
            <a:off x="11105388" y="381305"/>
            <a:ext cx="485546" cy="457200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7541971" y="2958998"/>
            <a:ext cx="29032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0" b="1" kern="0" spc="-300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Cultural</a:t>
            </a:r>
            <a:endParaRPr lang="en-US" sz="6000" dirty="0"/>
          </a:p>
          <a:p>
            <a:pPr marL="0" indent="0" algn="ctr">
              <a:buNone/>
            </a:pPr>
            <a:r>
              <a:rPr lang="en-US" sz="6000" b="1" kern="0" spc="-300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Reset. </a:t>
            </a:r>
            <a:endParaRPr lang="en-US" sz="6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826" b="827"/>
          <a:stretch/>
        </p:blipFill>
        <p:spPr>
          <a:xfrm>
            <a:off x="11181283" y="381305"/>
            <a:ext cx="485546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9905" y="381305"/>
            <a:ext cx="221924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PROVOCATIVE POSITIONING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258361" y="609905"/>
            <a:ext cx="9144" cy="59436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609905" y="1178662"/>
            <a:ext cx="339791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0" b="1" kern="0" spc="-112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 Woke Up</a:t>
            </a:r>
            <a:endParaRPr lang="en-US" sz="4500" dirty="0"/>
          </a:p>
          <a:p>
            <a:pPr marL="0" indent="0" algn="l">
              <a:buNone/>
            </a:pPr>
            <a:r>
              <a:rPr lang="en-US" sz="4500" b="1" kern="0" spc="-112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First.</a:t>
            </a:r>
            <a:endParaRPr lang="en-US" sz="4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226" r="-226"/>
          <a:stretch/>
        </p:blipFill>
        <p:spPr>
          <a:xfrm>
            <a:off x="609905" y="3121762"/>
            <a:ext cx="609905" cy="758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09905" y="3426257"/>
            <a:ext cx="3343961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While global beauty sold dreams, South Africa demanded real. We didn't follow the shift. We forced it.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09905" y="4583887"/>
            <a:ext cx="3267151" cy="1399946"/>
          </a:xfrm>
          <a:prstGeom prst="roundRect">
            <a:avLst>
              <a:gd name="adj" fmla="val 3555"/>
            </a:avLst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609905" y="4583887"/>
            <a:ext cx="38405" cy="1399946"/>
          </a:xfrm>
          <a:prstGeom prst="roundRect">
            <a:avLst>
              <a:gd name="adj" fmla="val 129575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875995" y="4812487"/>
            <a:ext cx="2848356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 numbers don't lie. The pivot to pragmatism happened here before the headlines caught up."</a:t>
            </a:r>
            <a:endParaRPr lang="en-US" sz="13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t="-9" b="-9"/>
          <a:stretch/>
        </p:blipFill>
        <p:spPr>
          <a:xfrm>
            <a:off x="4724705" y="761695"/>
            <a:ext cx="3314700" cy="2686507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>
            <a:alphaModFix amt="30000"/>
          </a:blip>
          <a:srcRect t="-402" b="-402"/>
          <a:stretch/>
        </p:blipFill>
        <p:spPr>
          <a:xfrm>
            <a:off x="4733849" y="3400654"/>
            <a:ext cx="3295498" cy="38405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4962449" y="2511857"/>
            <a:ext cx="2838298" cy="152705"/>
          </a:xfrm>
          <a:prstGeom prst="roundRect">
            <a:avLst>
              <a:gd name="adj" fmla="val 598802"/>
            </a:avLst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rcRect t="-49" b="-49"/>
          <a:stretch/>
        </p:blipFill>
        <p:spPr>
          <a:xfrm>
            <a:off x="4972507" y="2521915"/>
            <a:ext cx="1381658" cy="13350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4962449" y="2842870"/>
            <a:ext cx="29151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Half the market budgets for survival, not indulgence.</a:t>
            </a:r>
            <a:endParaRPr lang="en-US" sz="10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rcRect t="-9" b="-9"/>
          <a:stretch/>
        </p:blipFill>
        <p:spPr>
          <a:xfrm>
            <a:off x="8268005" y="761695"/>
            <a:ext cx="3314700" cy="2686507"/>
          </a:xfrm>
          <a:prstGeom prst="rect">
            <a:avLst/>
          </a:prstGeom>
        </p:spPr>
      </p:pic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>
            <a:alphaModFix amt="30000"/>
          </a:blip>
          <a:srcRect t="-402" b="-402"/>
          <a:stretch/>
        </p:blipFill>
        <p:spPr>
          <a:xfrm>
            <a:off x="8277149" y="3400654"/>
            <a:ext cx="3295498" cy="38405"/>
          </a:xfrm>
          <a:prstGeom prst="rect">
            <a:avLst/>
          </a:prstGeom>
        </p:spPr>
      </p:pic>
      <p:sp>
        <p:nvSpPr>
          <p:cNvPr id="20" name="Shape 11"/>
          <p:cNvSpPr/>
          <p:nvPr/>
        </p:nvSpPr>
        <p:spPr>
          <a:xfrm>
            <a:off x="8505749" y="2511857"/>
            <a:ext cx="2838298" cy="152705"/>
          </a:xfrm>
          <a:prstGeom prst="roundRect">
            <a:avLst>
              <a:gd name="adj" fmla="val 598802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10"/>
          <a:srcRect t="-48" b="-48"/>
          <a:stretch/>
        </p:blipFill>
        <p:spPr>
          <a:xfrm>
            <a:off x="8515807" y="2521915"/>
            <a:ext cx="2424989" cy="133502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8505749" y="2842870"/>
            <a:ext cx="29151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isn't the driver. Accessible volume rules everything.</a:t>
            </a:r>
            <a:endParaRPr lang="en-US" sz="10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11"/>
          <a:srcRect l="-3" r="-3"/>
          <a:stretch/>
        </p:blipFill>
        <p:spPr>
          <a:xfrm>
            <a:off x="4724705" y="3676802"/>
            <a:ext cx="3314700" cy="2723998"/>
          </a:xfrm>
          <a:prstGeom prst="rect">
            <a:avLst/>
          </a:prstGeom>
        </p:spPr>
      </p:pic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12">
            <a:alphaModFix amt="30000"/>
          </a:blip>
          <a:srcRect t="-402" b="-402"/>
          <a:stretch/>
        </p:blipFill>
        <p:spPr>
          <a:xfrm>
            <a:off x="4733849" y="6353251"/>
            <a:ext cx="3295498" cy="38405"/>
          </a:xfrm>
          <a:prstGeom prst="rect">
            <a:avLst/>
          </a:prstGeom>
        </p:spPr>
      </p:pic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4962449" y="5312664"/>
            <a:ext cx="304495" cy="304495"/>
          </a:xfrm>
          <a:prstGeom prst="rect">
            <a:avLst/>
          </a:prstGeom>
        </p:spPr>
      </p:pic>
      <p:pic>
        <p:nvPicPr>
          <p:cNvPr id="26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5305349" y="5312664"/>
            <a:ext cx="304495" cy="304495"/>
          </a:xfrm>
          <a:prstGeom prst="rect">
            <a:avLst/>
          </a:prstGeom>
        </p:spPr>
      </p:pic>
      <p:pic>
        <p:nvPicPr>
          <p:cNvPr id="27" name="Image 12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5648249" y="5312664"/>
            <a:ext cx="304495" cy="304495"/>
          </a:xfrm>
          <a:prstGeom prst="rect">
            <a:avLst/>
          </a:prstGeom>
        </p:spPr>
      </p:pic>
      <p:pic>
        <p:nvPicPr>
          <p:cNvPr id="28" name="Image 13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5991149" y="5312664"/>
            <a:ext cx="304495" cy="304495"/>
          </a:xfrm>
          <a:prstGeom prst="rect">
            <a:avLst/>
          </a:prstGeom>
        </p:spPr>
      </p:pic>
      <p:sp>
        <p:nvSpPr>
          <p:cNvPr id="29" name="Shape 13"/>
          <p:cNvSpPr/>
          <p:nvPr/>
        </p:nvSpPr>
        <p:spPr>
          <a:xfrm>
            <a:off x="6334049" y="5312664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FDE047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14"/>
          <p:cNvSpPr txBox="1"/>
          <p:nvPr/>
        </p:nvSpPr>
        <p:spPr>
          <a:xfrm>
            <a:off x="4962449" y="5796382"/>
            <a:ext cx="29151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Massive scale driven by high-frequency necessity purchases.</a:t>
            </a:r>
            <a:endParaRPr lang="en-US" sz="1000" dirty="0"/>
          </a:p>
        </p:txBody>
      </p:sp>
      <p:pic>
        <p:nvPicPr>
          <p:cNvPr id="31" name="Image 14" descr="preencoded.png"/>
          <p:cNvPicPr>
            <a:picLocks noChangeAspect="1"/>
          </p:cNvPicPr>
          <p:nvPr/>
        </p:nvPicPr>
        <p:blipFill>
          <a:blip r:embed="rId14"/>
          <a:srcRect l="-3" r="-3"/>
          <a:stretch/>
        </p:blipFill>
        <p:spPr>
          <a:xfrm>
            <a:off x="8268005" y="3676802"/>
            <a:ext cx="3314700" cy="2723998"/>
          </a:xfrm>
          <a:prstGeom prst="rect">
            <a:avLst/>
          </a:prstGeom>
        </p:spPr>
      </p:pic>
      <p:pic>
        <p:nvPicPr>
          <p:cNvPr id="32" name="Image 15" descr="preencoded.png"/>
          <p:cNvPicPr>
            <a:picLocks noChangeAspect="1"/>
          </p:cNvPicPr>
          <p:nvPr/>
        </p:nvPicPr>
        <p:blipFill>
          <a:blip r:embed="rId15">
            <a:alphaModFix amt="10000"/>
          </a:blip>
          <a:srcRect t="-3661" b="-3661"/>
          <a:stretch/>
        </p:blipFill>
        <p:spPr>
          <a:xfrm>
            <a:off x="9695383" y="3689604"/>
            <a:ext cx="1867205" cy="1781251"/>
          </a:xfrm>
          <a:prstGeom prst="rect">
            <a:avLst/>
          </a:prstGeom>
        </p:spPr>
      </p:pic>
      <p:pic>
        <p:nvPicPr>
          <p:cNvPr id="33" name="Image 16" descr="preencoded.png"/>
          <p:cNvPicPr>
            <a:picLocks noChangeAspect="1"/>
          </p:cNvPicPr>
          <p:nvPr/>
        </p:nvPicPr>
        <p:blipFill>
          <a:blip r:embed="rId16"/>
          <a:srcRect t="-403" b="-403"/>
          <a:stretch/>
        </p:blipFill>
        <p:spPr>
          <a:xfrm>
            <a:off x="8505749" y="5541264"/>
            <a:ext cx="2838298" cy="38405"/>
          </a:xfrm>
          <a:prstGeom prst="rect">
            <a:avLst/>
          </a:prstGeom>
        </p:spPr>
      </p:pic>
      <p:pic>
        <p:nvPicPr>
          <p:cNvPr id="34" name="Image 17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1192256" y="5483657"/>
            <a:ext cx="152705" cy="152705"/>
          </a:xfrm>
          <a:prstGeom prst="rect">
            <a:avLst/>
          </a:prstGeom>
        </p:spPr>
      </p:pic>
      <p:pic>
        <p:nvPicPr>
          <p:cNvPr id="35" name="Image 18" descr="preencoded.png"/>
          <p:cNvPicPr>
            <a:picLocks noChangeAspect="1"/>
          </p:cNvPicPr>
          <p:nvPr/>
        </p:nvPicPr>
        <p:blipFill>
          <a:blip r:embed="rId18"/>
          <a:srcRect t="-420" b="-420"/>
          <a:stretch/>
        </p:blipFill>
        <p:spPr>
          <a:xfrm>
            <a:off x="10582351" y="5541264"/>
            <a:ext cx="761695" cy="38405"/>
          </a:xfrm>
          <a:prstGeom prst="rect">
            <a:avLst/>
          </a:prstGeom>
        </p:spPr>
      </p:pic>
      <p:sp>
        <p:nvSpPr>
          <p:cNvPr id="36" name="Text 15"/>
          <p:cNvSpPr txBox="1"/>
          <p:nvPr/>
        </p:nvSpPr>
        <p:spPr>
          <a:xfrm>
            <a:off x="8505749" y="5796382"/>
            <a:ext cx="29151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first category to reject transformation for health.</a:t>
            </a:r>
            <a:endParaRPr lang="en-US" sz="1000" dirty="0"/>
          </a:p>
        </p:txBody>
      </p:sp>
      <p:sp>
        <p:nvSpPr>
          <p:cNvPr id="37" name="Text 16"/>
          <p:cNvSpPr txBox="1"/>
          <p:nvPr/>
        </p:nvSpPr>
        <p:spPr>
          <a:xfrm>
            <a:off x="4962449" y="1000354"/>
            <a:ext cx="29525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Wallet Reality</a:t>
            </a:r>
            <a:endParaRPr lang="en-US" sz="1000" dirty="0"/>
          </a:p>
        </p:txBody>
      </p:sp>
      <p:sp>
        <p:nvSpPr>
          <p:cNvPr id="38" name="Text 17"/>
          <p:cNvSpPr txBox="1"/>
          <p:nvPr/>
        </p:nvSpPr>
        <p:spPr>
          <a:xfrm>
            <a:off x="4962449" y="1266444"/>
            <a:ext cx="16568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27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49%</a:t>
            </a:r>
            <a:endParaRPr lang="en-US" sz="5400" dirty="0"/>
          </a:p>
        </p:txBody>
      </p:sp>
      <p:sp>
        <p:nvSpPr>
          <p:cNvPr id="39" name="Text 18"/>
          <p:cNvSpPr txBox="1"/>
          <p:nvPr/>
        </p:nvSpPr>
        <p:spPr>
          <a:xfrm>
            <a:off x="4962449" y="2029054"/>
            <a:ext cx="295259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Basics Only Income</a:t>
            </a:r>
            <a:endParaRPr lang="en-US" sz="1300" dirty="0"/>
          </a:p>
        </p:txBody>
      </p:sp>
      <p:sp>
        <p:nvSpPr>
          <p:cNvPr id="40" name="Text 19"/>
          <p:cNvSpPr txBox="1"/>
          <p:nvPr/>
        </p:nvSpPr>
        <p:spPr>
          <a:xfrm>
            <a:off x="8505749" y="1000354"/>
            <a:ext cx="29525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Structure</a:t>
            </a:r>
            <a:endParaRPr lang="en-US" sz="1000" dirty="0"/>
          </a:p>
        </p:txBody>
      </p:sp>
      <p:sp>
        <p:nvSpPr>
          <p:cNvPr id="41" name="Text 20"/>
          <p:cNvSpPr txBox="1"/>
          <p:nvPr/>
        </p:nvSpPr>
        <p:spPr>
          <a:xfrm>
            <a:off x="8505749" y="1266444"/>
            <a:ext cx="163586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27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86%</a:t>
            </a:r>
            <a:endParaRPr lang="en-US" sz="5400" dirty="0"/>
          </a:p>
        </p:txBody>
      </p:sp>
      <p:sp>
        <p:nvSpPr>
          <p:cNvPr id="42" name="Text 21"/>
          <p:cNvSpPr txBox="1"/>
          <p:nvPr/>
        </p:nvSpPr>
        <p:spPr>
          <a:xfrm>
            <a:off x="8505749" y="2029054"/>
            <a:ext cx="295259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E5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Mass Market Share</a:t>
            </a:r>
            <a:endParaRPr lang="en-US" sz="1300" dirty="0"/>
          </a:p>
        </p:txBody>
      </p:sp>
      <p:sp>
        <p:nvSpPr>
          <p:cNvPr id="43" name="Text 22"/>
          <p:cNvSpPr txBox="1"/>
          <p:nvPr/>
        </p:nvSpPr>
        <p:spPr>
          <a:xfrm>
            <a:off x="4962449" y="3914546"/>
            <a:ext cx="29525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EAB3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Value</a:t>
            </a:r>
            <a:endParaRPr lang="en-US" sz="1000" dirty="0"/>
          </a:p>
        </p:txBody>
      </p:sp>
      <p:sp>
        <p:nvSpPr>
          <p:cNvPr id="44" name="Text 23"/>
          <p:cNvSpPr txBox="1"/>
          <p:nvPr/>
        </p:nvSpPr>
        <p:spPr>
          <a:xfrm>
            <a:off x="4962449" y="4181551"/>
            <a:ext cx="211957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kern="0" spc="-225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R108bn</a:t>
            </a:r>
            <a:endParaRPr lang="en-US" sz="4500" dirty="0"/>
          </a:p>
        </p:txBody>
      </p:sp>
      <p:sp>
        <p:nvSpPr>
          <p:cNvPr id="45" name="Text 24"/>
          <p:cNvSpPr txBox="1"/>
          <p:nvPr/>
        </p:nvSpPr>
        <p:spPr>
          <a:xfrm>
            <a:off x="4962449" y="4828946"/>
            <a:ext cx="295259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A8A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 Beauty Scale</a:t>
            </a:r>
            <a:endParaRPr lang="en-US" sz="1300" dirty="0"/>
          </a:p>
        </p:txBody>
      </p:sp>
      <p:sp>
        <p:nvSpPr>
          <p:cNvPr id="46" name="Text 25"/>
          <p:cNvSpPr txBox="1"/>
          <p:nvPr/>
        </p:nvSpPr>
        <p:spPr>
          <a:xfrm>
            <a:off x="8505749" y="3914546"/>
            <a:ext cx="29525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Signal</a:t>
            </a:r>
            <a:endParaRPr lang="en-US" sz="1000" dirty="0"/>
          </a:p>
        </p:txBody>
      </p:sp>
      <p:sp>
        <p:nvSpPr>
          <p:cNvPr id="47" name="Text 26"/>
          <p:cNvSpPr txBox="1"/>
          <p:nvPr/>
        </p:nvSpPr>
        <p:spPr>
          <a:xfrm>
            <a:off x="8505749" y="4181551"/>
            <a:ext cx="19449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270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-20%</a:t>
            </a:r>
            <a:endParaRPr lang="en-US" sz="5400" dirty="0"/>
          </a:p>
        </p:txBody>
      </p:sp>
      <p:sp>
        <p:nvSpPr>
          <p:cNvPr id="48" name="Text 27"/>
          <p:cNvSpPr txBox="1"/>
          <p:nvPr/>
        </p:nvSpPr>
        <p:spPr>
          <a:xfrm>
            <a:off x="8505749" y="4943246"/>
            <a:ext cx="295259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Relaxer Sales</a:t>
            </a:r>
            <a:endParaRPr lang="en-US" sz="1300" dirty="0"/>
          </a:p>
        </p:txBody>
      </p:sp>
      <p:sp>
        <p:nvSpPr>
          <p:cNvPr id="49" name="Shape 28"/>
          <p:cNvSpPr/>
          <p:nvPr/>
        </p:nvSpPr>
        <p:spPr>
          <a:xfrm>
            <a:off x="0" y="0"/>
            <a:ext cx="152705" cy="6858000"/>
          </a:xfrm>
          <a:prstGeom prst="rect">
            <a:avLst/>
          </a:prstGeom>
          <a:solidFill>
            <a:srgbClr val="FF52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rcRect/>
          <a:stretch/>
        </p:blipFill>
        <p:spPr>
          <a:xfrm>
            <a:off x="0" y="3047695"/>
            <a:ext cx="5715000" cy="381030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rcRect l="-7" r="-7"/>
          <a:stretch/>
        </p:blipFill>
        <p:spPr>
          <a:xfrm>
            <a:off x="609905" y="2289658"/>
            <a:ext cx="3454603" cy="223113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838505" y="2537460"/>
            <a:ext cx="114300" cy="1143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3"/>
          <p:cNvSpPr txBox="1"/>
          <p:nvPr/>
        </p:nvSpPr>
        <p:spPr>
          <a:xfrm>
            <a:off x="1067105" y="2518258"/>
            <a:ext cx="8961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9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Frequency</a:t>
            </a:r>
            <a:endParaRPr lang="en-US" sz="1050" dirty="0"/>
          </a:p>
        </p:txBody>
      </p:sp>
      <p:sp>
        <p:nvSpPr>
          <p:cNvPr id="9" name="Text 4"/>
          <p:cNvSpPr txBox="1"/>
          <p:nvPr/>
        </p:nvSpPr>
        <p:spPr>
          <a:xfrm>
            <a:off x="838505" y="2822753"/>
            <a:ext cx="31153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Instagram Saturday</a:t>
            </a:r>
            <a:endParaRPr lang="en-US" sz="1600" dirty="0"/>
          </a:p>
        </p:txBody>
      </p:sp>
      <p:sp>
        <p:nvSpPr>
          <p:cNvPr id="10" name="Text 5"/>
          <p:cNvSpPr txBox="1"/>
          <p:nvPr/>
        </p:nvSpPr>
        <p:spPr>
          <a:xfrm>
            <a:off x="838505" y="3128162"/>
            <a:ext cx="31153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Monday thru Friday</a:t>
            </a:r>
            <a:endParaRPr lang="en-US" sz="2400" dirty="0"/>
          </a:p>
        </p:txBody>
      </p:sp>
      <p:sp>
        <p:nvSpPr>
          <p:cNvPr id="11" name="Text 6"/>
          <p:cNvSpPr txBox="1"/>
          <p:nvPr/>
        </p:nvSpPr>
        <p:spPr>
          <a:xfrm>
            <a:off x="838505" y="3642055"/>
            <a:ext cx="3076956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Consumers abandoned weekend "recovery" rituals for daily maintenance. The goal isn't one good photo; it's feeling stable all week.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369003" y="2289658"/>
            <a:ext cx="3457346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Shape 8"/>
          <p:cNvSpPr/>
          <p:nvPr/>
        </p:nvSpPr>
        <p:spPr>
          <a:xfrm>
            <a:off x="4369003" y="2289658"/>
            <a:ext cx="19202" cy="2238451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Shape 9"/>
          <p:cNvSpPr/>
          <p:nvPr/>
        </p:nvSpPr>
        <p:spPr>
          <a:xfrm>
            <a:off x="4597603" y="2537460"/>
            <a:ext cx="114300" cy="114300"/>
          </a:xfrm>
          <a:prstGeom prst="ellipse">
            <a:avLst/>
          </a:prstGeom>
          <a:solidFill>
            <a:srgbClr val="FDA4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0"/>
          <p:cNvSpPr txBox="1"/>
          <p:nvPr/>
        </p:nvSpPr>
        <p:spPr>
          <a:xfrm>
            <a:off x="4826203" y="2518258"/>
            <a:ext cx="5907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9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4597603" y="2822753"/>
            <a:ext cx="31153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Chasing Results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597603" y="3128162"/>
            <a:ext cx="31153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Trusting Routine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4597603" y="3642055"/>
            <a:ext cx="3076956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"Does it work instantly?" replaced by "Can I use this forever?" Consistency is the new efficacy. If it disrupts the barrier, it's out.</a:t>
            </a:r>
            <a:endParaRPr lang="en-US" sz="11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>
            <a:alphaModFix amt="60000"/>
          </a:blip>
          <a:srcRect l="-7" r="-7"/>
          <a:stretch/>
        </p:blipFill>
        <p:spPr>
          <a:xfrm>
            <a:off x="8128102" y="2289658"/>
            <a:ext cx="3454603" cy="223113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8356702" y="2537460"/>
            <a:ext cx="114300" cy="11430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5"/>
          <p:cNvSpPr txBox="1"/>
          <p:nvPr/>
        </p:nvSpPr>
        <p:spPr>
          <a:xfrm>
            <a:off x="8585302" y="2518258"/>
            <a:ext cx="8385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9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Aesthetic</a:t>
            </a:r>
            <a:endParaRPr lang="en-US" sz="1050" dirty="0"/>
          </a:p>
        </p:txBody>
      </p:sp>
      <p:sp>
        <p:nvSpPr>
          <p:cNvPr id="22" name="Text 16"/>
          <p:cNvSpPr txBox="1"/>
          <p:nvPr/>
        </p:nvSpPr>
        <p:spPr>
          <a:xfrm>
            <a:off x="8356702" y="2822753"/>
            <a:ext cx="31153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Curating Reels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8356702" y="3128162"/>
            <a:ext cx="31153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Owning Real</a:t>
            </a:r>
            <a:endParaRPr lang="en-US" sz="2400" dirty="0"/>
          </a:p>
        </p:txBody>
      </p:sp>
      <p:sp>
        <p:nvSpPr>
          <p:cNvPr id="24" name="Text 18"/>
          <p:cNvSpPr txBox="1"/>
          <p:nvPr/>
        </p:nvSpPr>
        <p:spPr>
          <a:xfrm>
            <a:off x="8356702" y="3642055"/>
            <a:ext cx="3076956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Texture is normal. Pores are normal. Products promising to erase biology are viewed with suspicion. Support &gt; Erase.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09905" y="4825289"/>
            <a:ext cx="85340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rcRect t="-375" b="-375"/>
          <a:stretch/>
        </p:blipFill>
        <p:spPr>
          <a:xfrm>
            <a:off x="1371600" y="4825289"/>
            <a:ext cx="609905" cy="38405"/>
          </a:xfrm>
          <a:prstGeom prst="rect">
            <a:avLst/>
          </a:prstGeom>
        </p:spPr>
      </p:pic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7"/>
          <a:srcRect l="-620" r="-620"/>
          <a:stretch/>
        </p:blipFill>
        <p:spPr>
          <a:xfrm rot="21480000">
            <a:off x="1371600" y="4816145"/>
            <a:ext cx="761695" cy="35662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09905" y="5139842"/>
            <a:ext cx="862096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Outcome: Beauty stopped </a:t>
            </a:r>
            <a:r>
              <a:rPr lang="en-US" sz="24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performing </a:t>
            </a:r>
            <a:r>
              <a:rPr lang="en-US" sz="24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the camera and started working for the skin. </a:t>
            </a:r>
            <a:endParaRPr lang="en-US" sz="2400" dirty="0"/>
          </a:p>
        </p:txBody>
      </p:sp>
      <p:sp>
        <p:nvSpPr>
          <p:cNvPr id="30" name="Text 21"/>
          <p:cNvSpPr txBox="1"/>
          <p:nvPr/>
        </p:nvSpPr>
        <p:spPr>
          <a:xfrm>
            <a:off x="609905" y="1451153"/>
            <a:ext cx="4991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kern="0" spc="-18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filter came off</a:t>
            </a:r>
            <a:endParaRPr lang="en-US" sz="440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8"/>
          <a:srcRect t="-387" b="-387"/>
          <a:stretch/>
        </p:blipFill>
        <p:spPr>
          <a:xfrm>
            <a:off x="609905" y="1851660"/>
            <a:ext cx="584302" cy="57607"/>
          </a:xfrm>
          <a:prstGeom prst="rect">
            <a:avLst/>
          </a:prstGeom>
        </p:spPr>
      </p:pic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9">
            <a:alphaModFix amt="50000"/>
          </a:blip>
          <a:srcRect l="-34" r="-34"/>
          <a:stretch/>
        </p:blipFill>
        <p:spPr>
          <a:xfrm rot="180000">
            <a:off x="1231697" y="1870862"/>
            <a:ext cx="294437" cy="72238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609905" y="381305"/>
            <a:ext cx="21058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Redefined</a:t>
            </a:r>
            <a:endParaRPr lang="en-US" sz="900" dirty="0"/>
          </a:p>
        </p:txBody>
      </p:sp>
      <p:pic>
        <p:nvPicPr>
          <p:cNvPr id="35" name="Image 9" descr="preencoded.png">
            <a:extLst>
              <a:ext uri="{FF2B5EF4-FFF2-40B4-BE49-F238E27FC236}">
                <a16:creationId xmlns:a16="http://schemas.microsoft.com/office/drawing/2014/main" id="{E877CC70-5D21-F7F2-3C2A-E9FF6471E512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82" b="281"/>
          <a:stretch/>
        </p:blipFill>
        <p:spPr>
          <a:xfrm>
            <a:off x="11374221" y="304495"/>
            <a:ext cx="400507" cy="3813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85800" y="1410005"/>
            <a:ext cx="3457346" cy="4561297"/>
          </a:xfrm>
          <a:prstGeom prst="roundRect">
            <a:avLst>
              <a:gd name="adj" fmla="val 146"/>
            </a:avLst>
          </a:prstGeom>
          <a:solidFill>
            <a:srgbClr val="FBBF24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3" r="-3"/>
          <a:stretch/>
        </p:blipFill>
        <p:spPr>
          <a:xfrm>
            <a:off x="609905" y="1333196"/>
            <a:ext cx="3454603" cy="45015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33602" y="3829507"/>
            <a:ext cx="2809951" cy="1920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933602" y="1657807"/>
            <a:ext cx="5056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📈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857707" y="2115007"/>
            <a:ext cx="3076956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0" b="1" kern="0" spc="-525" dirty="0">
                <a:solidFill>
                  <a:srgbClr val="11182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22%</a:t>
            </a:r>
            <a:endParaRPr lang="en-US" sz="10500" dirty="0"/>
          </a:p>
        </p:txBody>
      </p:sp>
      <p:sp>
        <p:nvSpPr>
          <p:cNvPr id="9" name="Text 6"/>
          <p:cNvSpPr txBox="1"/>
          <p:nvPr/>
        </p:nvSpPr>
        <p:spPr>
          <a:xfrm>
            <a:off x="933602" y="3333902"/>
            <a:ext cx="14575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38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RESTORATIVE</a:t>
            </a:r>
            <a:endParaRPr lang="en-US" sz="15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2421331" y="3390595"/>
            <a:ext cx="133502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33602" y="4076395"/>
            <a:ext cx="2886761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Restorative daily rituals drive the single biggest value volume share.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29107" y="4943246"/>
            <a:ext cx="3419856" cy="101442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629107" y="4943246"/>
            <a:ext cx="3419856" cy="1920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933602" y="5305349"/>
            <a:ext cx="2886761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Outperforms "High Glam" (12%) &amp; "Correction" (15%). 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REF: POS BASKET ANALYSIS Q4 '25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2848356" y="1657807"/>
            <a:ext cx="9720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827">
                    <a:alpha val="6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VAL_VOL_SHARE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2669134" y="3333902"/>
            <a:ext cx="13624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6" dirty="0">
                <a:solidFill>
                  <a:srgbClr val="11182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TRANSFORMATIVE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933602" y="5115154"/>
            <a:ext cx="292242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827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BENCHMARK CONTEXT: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444898" y="1410005"/>
            <a:ext cx="3457346" cy="4561297"/>
          </a:xfrm>
          <a:prstGeom prst="roundRect">
            <a:avLst>
              <a:gd name="adj" fmla="val 146"/>
            </a:avLst>
          </a:prstGeom>
          <a:solidFill>
            <a:srgbClr val="00E5A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1" r="-1"/>
          <a:stretch/>
        </p:blipFill>
        <p:spPr>
          <a:xfrm>
            <a:off x="4369003" y="1333196"/>
            <a:ext cx="3454603" cy="450159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4692701" y="3829507"/>
            <a:ext cx="2809951" cy="1920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 txBox="1"/>
          <p:nvPr/>
        </p:nvSpPr>
        <p:spPr>
          <a:xfrm>
            <a:off x="4692701" y="1657807"/>
            <a:ext cx="5056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🔄</a:t>
            </a:r>
            <a:endParaRPr lang="en-US" sz="2700" dirty="0"/>
          </a:p>
        </p:txBody>
      </p:sp>
      <p:sp>
        <p:nvSpPr>
          <p:cNvPr id="22" name="Text 17"/>
          <p:cNvSpPr txBox="1"/>
          <p:nvPr/>
        </p:nvSpPr>
        <p:spPr>
          <a:xfrm>
            <a:off x="4616806" y="2115007"/>
            <a:ext cx="3076956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0" b="1" kern="0" spc="-525" dirty="0">
                <a:solidFill>
                  <a:srgbClr val="11182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20%</a:t>
            </a:r>
            <a:endParaRPr lang="en-US" sz="10500" dirty="0"/>
          </a:p>
        </p:txBody>
      </p:sp>
      <p:sp>
        <p:nvSpPr>
          <p:cNvPr id="23" name="Text 18"/>
          <p:cNvSpPr txBox="1"/>
          <p:nvPr/>
        </p:nvSpPr>
        <p:spPr>
          <a:xfrm>
            <a:off x="4692701" y="3333902"/>
            <a:ext cx="6574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38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</a:t>
            </a:r>
            <a:endParaRPr lang="en-US" sz="15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5386730" y="3390595"/>
            <a:ext cx="133502" cy="15270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4692701" y="4076395"/>
            <a:ext cx="2886761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readiness ("camera ready") now outweighs high-glam goals.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4388206" y="5100524"/>
            <a:ext cx="3419856" cy="870778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4388206" y="5100523"/>
            <a:ext cx="3419856" cy="1920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 txBox="1"/>
          <p:nvPr/>
        </p:nvSpPr>
        <p:spPr>
          <a:xfrm>
            <a:off x="4692701" y="5462626"/>
            <a:ext cx="288676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Freq: 5.4 days/week vs 1.2 for Glam. 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REF: CONSUMER SAMPLE N=2,400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6813194" y="1657807"/>
            <a:ext cx="7717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827">
                    <a:alpha val="6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FREQ_INDEX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5633618" y="3333902"/>
            <a:ext cx="5907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6" dirty="0">
                <a:solidFill>
                  <a:srgbClr val="11182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DRAMA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4692701" y="5272430"/>
            <a:ext cx="292242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827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BENCHMARK CONTEXT: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8203997" y="1410005"/>
            <a:ext cx="3457346" cy="4561297"/>
          </a:xfrm>
          <a:prstGeom prst="roundRect">
            <a:avLst>
              <a:gd name="adj" fmla="val 146"/>
            </a:avLst>
          </a:prstGeom>
          <a:solidFill>
            <a:srgbClr val="A78BFA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6"/>
          <a:srcRect l="-3" r="-3"/>
          <a:stretch/>
        </p:blipFill>
        <p:spPr>
          <a:xfrm>
            <a:off x="8128102" y="1333196"/>
            <a:ext cx="3454603" cy="4501592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8451799" y="3829507"/>
            <a:ext cx="2809951" cy="1920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 txBox="1"/>
          <p:nvPr/>
        </p:nvSpPr>
        <p:spPr>
          <a:xfrm>
            <a:off x="8451799" y="1657807"/>
            <a:ext cx="5056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🔒</a:t>
            </a:r>
            <a:endParaRPr lang="en-US" sz="2700" dirty="0"/>
          </a:p>
        </p:txBody>
      </p:sp>
      <p:sp>
        <p:nvSpPr>
          <p:cNvPr id="36" name="Text 29"/>
          <p:cNvSpPr txBox="1"/>
          <p:nvPr/>
        </p:nvSpPr>
        <p:spPr>
          <a:xfrm>
            <a:off x="8375904" y="2115007"/>
            <a:ext cx="3076956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0" b="1" kern="0" spc="-525" dirty="0">
                <a:solidFill>
                  <a:srgbClr val="11182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74%</a:t>
            </a:r>
            <a:endParaRPr lang="en-US" sz="10500" dirty="0"/>
          </a:p>
        </p:txBody>
      </p:sp>
      <p:sp>
        <p:nvSpPr>
          <p:cNvPr id="37" name="Text 30"/>
          <p:cNvSpPr txBox="1"/>
          <p:nvPr/>
        </p:nvSpPr>
        <p:spPr>
          <a:xfrm>
            <a:off x="8451799" y="3333902"/>
            <a:ext cx="762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38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</a:t>
            </a:r>
            <a:endParaRPr lang="en-US" sz="15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9243670" y="3390595"/>
            <a:ext cx="133502" cy="152705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8451799" y="4076395"/>
            <a:ext cx="2886761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Explicit rejection of exaggerated promises in favor of reliability.</a:t>
            </a:r>
            <a:endParaRPr lang="en-US" sz="1500" dirty="0"/>
          </a:p>
        </p:txBody>
      </p:sp>
      <p:sp>
        <p:nvSpPr>
          <p:cNvPr id="40" name="Shape 32"/>
          <p:cNvSpPr/>
          <p:nvPr/>
        </p:nvSpPr>
        <p:spPr>
          <a:xfrm>
            <a:off x="8147304" y="4943246"/>
            <a:ext cx="3419856" cy="101442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3"/>
          <p:cNvSpPr/>
          <p:nvPr/>
        </p:nvSpPr>
        <p:spPr>
          <a:xfrm>
            <a:off x="8147304" y="4943246"/>
            <a:ext cx="3419856" cy="1920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4"/>
          <p:cNvSpPr txBox="1"/>
          <p:nvPr/>
        </p:nvSpPr>
        <p:spPr>
          <a:xfrm>
            <a:off x="8451799" y="5305349"/>
            <a:ext cx="2886761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Up from 52% in 2023. Top driver: Reviews. 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REF: BRAND TRUST INDEX 2026</a:t>
            </a:r>
            <a:endParaRPr lang="en-US" sz="900" dirty="0"/>
          </a:p>
        </p:txBody>
      </p:sp>
      <p:sp>
        <p:nvSpPr>
          <p:cNvPr id="43" name="Text 35"/>
          <p:cNvSpPr txBox="1"/>
          <p:nvPr/>
        </p:nvSpPr>
        <p:spPr>
          <a:xfrm>
            <a:off x="10503713" y="1657807"/>
            <a:ext cx="8385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827">
                    <a:alpha val="6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TRUST_SCORE</a:t>
            </a:r>
            <a:endParaRPr lang="en-US" sz="900" dirty="0"/>
          </a:p>
        </p:txBody>
      </p:sp>
      <p:sp>
        <p:nvSpPr>
          <p:cNvPr id="44" name="Text 36"/>
          <p:cNvSpPr txBox="1"/>
          <p:nvPr/>
        </p:nvSpPr>
        <p:spPr>
          <a:xfrm>
            <a:off x="9491472" y="3333902"/>
            <a:ext cx="7818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6" dirty="0">
                <a:solidFill>
                  <a:srgbClr val="11182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PROMISES</a:t>
            </a:r>
            <a:endParaRPr lang="en-US" sz="1000" dirty="0"/>
          </a:p>
        </p:txBody>
      </p:sp>
      <p:sp>
        <p:nvSpPr>
          <p:cNvPr id="45" name="Text 37"/>
          <p:cNvSpPr txBox="1"/>
          <p:nvPr/>
        </p:nvSpPr>
        <p:spPr>
          <a:xfrm>
            <a:off x="8451799" y="5115154"/>
            <a:ext cx="292242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827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BENCHMARK CONTEXT:</a:t>
            </a:r>
            <a:endParaRPr lang="en-US" sz="900" dirty="0"/>
          </a:p>
        </p:txBody>
      </p:sp>
      <p:pic>
        <p:nvPicPr>
          <p:cNvPr id="51" name="Image 7" descr="preencoded.png"/>
          <p:cNvPicPr>
            <a:picLocks noChangeAspect="1"/>
          </p:cNvPicPr>
          <p:nvPr/>
        </p:nvPicPr>
        <p:blipFill>
          <a:blip r:embed="rId7"/>
          <a:srcRect t="-360" b="-360"/>
          <a:stretch/>
        </p:blipFill>
        <p:spPr>
          <a:xfrm>
            <a:off x="609905" y="437998"/>
            <a:ext cx="381305" cy="38405"/>
          </a:xfrm>
          <a:prstGeom prst="rect">
            <a:avLst/>
          </a:prstGeom>
        </p:spPr>
      </p:pic>
      <p:sp>
        <p:nvSpPr>
          <p:cNvPr id="52" name="Text 42"/>
          <p:cNvSpPr txBox="1"/>
          <p:nvPr/>
        </p:nvSpPr>
        <p:spPr>
          <a:xfrm>
            <a:off x="1104595" y="381305"/>
            <a:ext cx="16386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Innovatr Insights</a:t>
            </a:r>
            <a:endParaRPr lang="en-US" sz="900" dirty="0"/>
          </a:p>
        </p:txBody>
      </p:sp>
      <p:sp>
        <p:nvSpPr>
          <p:cNvPr id="53" name="Text 43"/>
          <p:cNvSpPr txBox="1"/>
          <p:nvPr/>
        </p:nvSpPr>
        <p:spPr>
          <a:xfrm>
            <a:off x="609905" y="609905"/>
            <a:ext cx="34664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9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Receipts</a:t>
            </a:r>
            <a:endParaRPr lang="en-US" sz="3600" dirty="0"/>
          </a:p>
        </p:txBody>
      </p:sp>
      <p:pic>
        <p:nvPicPr>
          <p:cNvPr id="54" name="Image 8" descr="preencoded.png"/>
          <p:cNvPicPr>
            <a:picLocks noChangeAspect="1"/>
          </p:cNvPicPr>
          <p:nvPr/>
        </p:nvPicPr>
        <p:blipFill>
          <a:blip r:embed="rId8"/>
          <a:srcRect t="282" b="281"/>
          <a:stretch/>
        </p:blipFill>
        <p:spPr>
          <a:xfrm>
            <a:off x="11184941" y="381305"/>
            <a:ext cx="400507" cy="3813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rcRect/>
          <a:stretch/>
        </p:blipFill>
        <p:spPr>
          <a:xfrm>
            <a:off x="4316693" y="-619049"/>
            <a:ext cx="2438705" cy="24387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60000"/>
          </a:blip>
          <a:srcRect/>
          <a:stretch/>
        </p:blipFill>
        <p:spPr>
          <a:xfrm>
            <a:off x="3333902" y="1714500"/>
            <a:ext cx="381305" cy="38130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alphaModFix amt="60000"/>
          </a:blip>
          <a:srcRect/>
          <a:stretch/>
        </p:blipFill>
        <p:spPr>
          <a:xfrm>
            <a:off x="4000500" y="3810305"/>
            <a:ext cx="286207" cy="286207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>
            <a:alphaModFix amt="40000"/>
          </a:blip>
          <a:srcRect/>
          <a:stretch/>
        </p:blipFill>
        <p:spPr>
          <a:xfrm>
            <a:off x="7905902" y="2381098"/>
            <a:ext cx="476402" cy="476402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019995" y="3924605"/>
            <a:ext cx="1218895" cy="1218895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/>
          <a:srcRect t="-25" b="-25"/>
          <a:stretch/>
        </p:blipFill>
        <p:spPr>
          <a:xfrm rot="20880000">
            <a:off x="9753905" y="1714500"/>
            <a:ext cx="2387498" cy="516636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9"/>
          <a:srcRect l="-92" r="-92"/>
          <a:stretch/>
        </p:blipFill>
        <p:spPr>
          <a:xfrm rot="360000">
            <a:off x="0" y="4562856"/>
            <a:ext cx="1819656" cy="200254"/>
          </a:xfrm>
          <a:prstGeom prst="rect">
            <a:avLst/>
          </a:prstGeom>
        </p:spPr>
      </p:pic>
      <p:sp>
        <p:nvSpPr>
          <p:cNvPr id="11" name="Shape 2"/>
          <p:cNvSpPr/>
          <p:nvPr/>
        </p:nvSpPr>
        <p:spPr>
          <a:xfrm>
            <a:off x="533095" y="838505"/>
            <a:ext cx="4162349" cy="609905"/>
          </a:xfrm>
          <a:prstGeom prst="roundRect">
            <a:avLst>
              <a:gd name="adj" fmla="val 18741"/>
            </a:avLst>
          </a:prstGeom>
          <a:solidFill>
            <a:srgbClr val="FB7185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10"/>
          <a:srcRect t="-394" b="-394"/>
          <a:stretch/>
        </p:blipFill>
        <p:spPr>
          <a:xfrm>
            <a:off x="609905" y="1390802"/>
            <a:ext cx="2438705" cy="57607"/>
          </a:xfrm>
          <a:prstGeom prst="rect">
            <a:avLst/>
          </a:prstGeom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11"/>
          <a:srcRect t="-8" b="-8"/>
          <a:stretch/>
        </p:blipFill>
        <p:spPr>
          <a:xfrm>
            <a:off x="609905" y="1676095"/>
            <a:ext cx="3504895" cy="4038905"/>
          </a:xfrm>
          <a:prstGeom prst="rect">
            <a:avLst/>
          </a:prstGeom>
        </p:spPr>
      </p:pic>
      <p:pic>
        <p:nvPicPr>
          <p:cNvPr id="14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38505" y="1904695"/>
            <a:ext cx="381305" cy="381305"/>
          </a:xfrm>
          <a:prstGeom prst="rect">
            <a:avLst/>
          </a:prstGeom>
        </p:spPr>
      </p:pic>
      <p:pic>
        <p:nvPicPr>
          <p:cNvPr id="15" name="Image 10" descr="preencoded.png"/>
          <p:cNvPicPr>
            <a:picLocks noChangeAspect="1"/>
          </p:cNvPicPr>
          <p:nvPr/>
        </p:nvPicPr>
        <p:blipFill>
          <a:blip r:embed="rId13"/>
          <a:srcRect t="-27660" b="-27660"/>
          <a:stretch/>
        </p:blipFill>
        <p:spPr>
          <a:xfrm>
            <a:off x="942746" y="1962302"/>
            <a:ext cx="171907" cy="267005"/>
          </a:xfrm>
          <a:prstGeom prst="rect">
            <a:avLst/>
          </a:prstGeom>
        </p:spPr>
      </p:pic>
      <p:sp>
        <p:nvSpPr>
          <p:cNvPr id="16" name="Text 3"/>
          <p:cNvSpPr txBox="1"/>
          <p:nvPr/>
        </p:nvSpPr>
        <p:spPr>
          <a:xfrm>
            <a:off x="1371600" y="1928470"/>
            <a:ext cx="249448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"Will this hurt?"</a:t>
            </a:r>
            <a:endParaRPr lang="en-US" sz="2100" dirty="0"/>
          </a:p>
        </p:txBody>
      </p:sp>
      <p:sp>
        <p:nvSpPr>
          <p:cNvPr id="17" name="Shape 4"/>
          <p:cNvSpPr/>
          <p:nvPr/>
        </p:nvSpPr>
        <p:spPr>
          <a:xfrm>
            <a:off x="838505" y="3819449"/>
            <a:ext cx="3047695" cy="780898"/>
          </a:xfrm>
          <a:prstGeom prst="roundRect">
            <a:avLst>
              <a:gd name="adj" fmla="val 2856"/>
            </a:avLst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5"/>
          <p:cNvSpPr/>
          <p:nvPr/>
        </p:nvSpPr>
        <p:spPr>
          <a:xfrm>
            <a:off x="838505" y="3819449"/>
            <a:ext cx="19202" cy="780898"/>
          </a:xfrm>
          <a:prstGeom prst="roundRect">
            <a:avLst>
              <a:gd name="adj" fmla="val 116146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6"/>
          <p:cNvSpPr txBox="1"/>
          <p:nvPr/>
        </p:nvSpPr>
        <p:spPr>
          <a:xfrm>
            <a:off x="972007" y="3933749"/>
            <a:ext cx="291236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9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Stat</a:t>
            </a:r>
            <a:endParaRPr lang="en-US" sz="800" dirty="0"/>
          </a:p>
        </p:txBody>
      </p:sp>
      <p:sp>
        <p:nvSpPr>
          <p:cNvPr id="20" name="Text 7"/>
          <p:cNvSpPr txBox="1"/>
          <p:nvPr/>
        </p:nvSpPr>
        <p:spPr>
          <a:xfrm>
            <a:off x="972007" y="4114800"/>
            <a:ext cx="28767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B71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60%</a:t>
            </a:r>
            <a:r>
              <a:rPr lang="en-US" sz="10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SA women identify as "sensitive." 1 in 3 returns products due to breakouts. </a:t>
            </a:r>
            <a:endParaRPr lang="en-US" sz="1000" dirty="0"/>
          </a:p>
        </p:txBody>
      </p:sp>
      <p:sp>
        <p:nvSpPr>
          <p:cNvPr id="21" name="Shape 8"/>
          <p:cNvSpPr/>
          <p:nvPr/>
        </p:nvSpPr>
        <p:spPr>
          <a:xfrm>
            <a:off x="838505" y="4710074"/>
            <a:ext cx="3047695" cy="780898"/>
          </a:xfrm>
          <a:prstGeom prst="roundRect">
            <a:avLst>
              <a:gd name="adj" fmla="val 2856"/>
            </a:avLst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9"/>
          <p:cNvSpPr/>
          <p:nvPr/>
        </p:nvSpPr>
        <p:spPr>
          <a:xfrm>
            <a:off x="838505" y="4710074"/>
            <a:ext cx="19202" cy="780898"/>
          </a:xfrm>
          <a:prstGeom prst="roundRect">
            <a:avLst>
              <a:gd name="adj" fmla="val 116146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0"/>
          <p:cNvSpPr txBox="1"/>
          <p:nvPr/>
        </p:nvSpPr>
        <p:spPr>
          <a:xfrm>
            <a:off x="972007" y="4824374"/>
            <a:ext cx="291236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9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Consumer Quote</a:t>
            </a:r>
            <a:endParaRPr lang="en-US" sz="800" dirty="0"/>
          </a:p>
        </p:txBody>
      </p:sp>
      <p:sp>
        <p:nvSpPr>
          <p:cNvPr id="24" name="Text 11"/>
          <p:cNvSpPr txBox="1"/>
          <p:nvPr/>
        </p:nvSpPr>
        <p:spPr>
          <a:xfrm>
            <a:off x="972007" y="5005426"/>
            <a:ext cx="28767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 don't care if it works in 2 weeks. If it burns in 2 seconds, it's trash."</a:t>
            </a:r>
            <a:endParaRPr lang="en-US" sz="1000" dirty="0"/>
          </a:p>
        </p:txBody>
      </p:sp>
      <p:sp>
        <p:nvSpPr>
          <p:cNvPr id="25" name="Shape 12"/>
          <p:cNvSpPr/>
          <p:nvPr/>
        </p:nvSpPr>
        <p:spPr>
          <a:xfrm>
            <a:off x="838505" y="2438705"/>
            <a:ext cx="38405" cy="21945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3"/>
          <p:cNvSpPr txBox="1"/>
          <p:nvPr/>
        </p:nvSpPr>
        <p:spPr>
          <a:xfrm>
            <a:off x="991210" y="2438705"/>
            <a:ext cx="3010205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Fear of irritation.</a:t>
            </a:r>
            <a:endParaRPr lang="en-US" sz="1300" dirty="0"/>
          </a:p>
        </p:txBody>
      </p:sp>
      <p:sp>
        <p:nvSpPr>
          <p:cNvPr id="27" name="Shape 14"/>
          <p:cNvSpPr/>
          <p:nvPr/>
        </p:nvSpPr>
        <p:spPr>
          <a:xfrm>
            <a:off x="3810305" y="1676095"/>
            <a:ext cx="304495" cy="304495"/>
          </a:xfrm>
          <a:custGeom>
            <a:avLst/>
            <a:gdLst/>
            <a:ahLst/>
            <a:cxnLst/>
            <a:rect l="l" t="t" r="r" b="b"/>
            <a:pathLst>
              <a:path w="304495" h="304495">
                <a:moveTo>
                  <a:pt x="304495" y="0"/>
                </a:moveTo>
                <a:lnTo>
                  <a:pt x="0" y="0"/>
                </a:lnTo>
                <a:lnTo>
                  <a:pt x="304495" y="304495"/>
                </a:lnTo>
                <a:close/>
              </a:path>
            </a:pathLst>
          </a:cu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14"/>
          <a:srcRect t="-8" b="-8"/>
          <a:stretch/>
        </p:blipFill>
        <p:spPr>
          <a:xfrm>
            <a:off x="4343400" y="1676095"/>
            <a:ext cx="3504895" cy="4038905"/>
          </a:xfrm>
          <a:prstGeom prst="rect">
            <a:avLst/>
          </a:prstGeom>
        </p:spPr>
      </p:pic>
      <p:pic>
        <p:nvPicPr>
          <p:cNvPr id="29" name="Image 12" descr="preencoded.png"/>
          <p:cNvPicPr>
            <a:picLocks noChangeAspect="1"/>
          </p:cNvPicPr>
          <p:nvPr/>
        </p:nvPicPr>
        <p:blipFill>
          <a:blip r:embed="rId15"/>
          <a:srcRect t="-3" b="-3"/>
          <a:stretch/>
        </p:blipFill>
        <p:spPr>
          <a:xfrm>
            <a:off x="4572000" y="2048256"/>
            <a:ext cx="341071" cy="381305"/>
          </a:xfrm>
          <a:prstGeom prst="rect">
            <a:avLst/>
          </a:prstGeom>
        </p:spPr>
      </p:pic>
      <p:pic>
        <p:nvPicPr>
          <p:cNvPr id="30" name="Image 13" descr="preencoded.png"/>
          <p:cNvPicPr>
            <a:picLocks noChangeAspect="1"/>
          </p:cNvPicPr>
          <p:nvPr/>
        </p:nvPicPr>
        <p:blipFill>
          <a:blip r:embed="rId16"/>
          <a:srcRect t="-27660" b="-27660"/>
          <a:stretch/>
        </p:blipFill>
        <p:spPr>
          <a:xfrm>
            <a:off x="4657039" y="2104949"/>
            <a:ext cx="171907" cy="267005"/>
          </a:xfrm>
          <a:prstGeom prst="rect">
            <a:avLst/>
          </a:prstGeom>
        </p:spPr>
      </p:pic>
      <p:sp>
        <p:nvSpPr>
          <p:cNvPr id="31" name="Text 15"/>
          <p:cNvSpPr txBox="1"/>
          <p:nvPr/>
        </p:nvSpPr>
        <p:spPr>
          <a:xfrm>
            <a:off x="5064862" y="1904695"/>
            <a:ext cx="2662733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"Will I waste money?"</a:t>
            </a:r>
            <a:endParaRPr lang="en-US" sz="2100" dirty="0"/>
          </a:p>
        </p:txBody>
      </p:sp>
      <p:sp>
        <p:nvSpPr>
          <p:cNvPr id="32" name="Shape 16"/>
          <p:cNvSpPr/>
          <p:nvPr/>
        </p:nvSpPr>
        <p:spPr>
          <a:xfrm>
            <a:off x="4572000" y="3819449"/>
            <a:ext cx="3047695" cy="780898"/>
          </a:xfrm>
          <a:prstGeom prst="roundRect">
            <a:avLst>
              <a:gd name="adj" fmla="val 2856"/>
            </a:avLst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17"/>
          <p:cNvSpPr/>
          <p:nvPr/>
        </p:nvSpPr>
        <p:spPr>
          <a:xfrm>
            <a:off x="4572000" y="3819449"/>
            <a:ext cx="19202" cy="780898"/>
          </a:xfrm>
          <a:prstGeom prst="roundRect">
            <a:avLst>
              <a:gd name="adj" fmla="val 116146"/>
            </a:avLst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18"/>
          <p:cNvSpPr txBox="1"/>
          <p:nvPr/>
        </p:nvSpPr>
        <p:spPr>
          <a:xfrm>
            <a:off x="4705502" y="3933749"/>
            <a:ext cx="291236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9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Behavior</a:t>
            </a:r>
            <a:endParaRPr lang="en-US" sz="800" dirty="0"/>
          </a:p>
        </p:txBody>
      </p:sp>
      <p:sp>
        <p:nvSpPr>
          <p:cNvPr id="35" name="Text 19"/>
          <p:cNvSpPr txBox="1"/>
          <p:nvPr/>
        </p:nvSpPr>
        <p:spPr>
          <a:xfrm>
            <a:off x="4705502" y="4114800"/>
            <a:ext cx="28767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'Blind Buy' is dead. </a:t>
            </a:r>
            <a:r>
              <a:rPr lang="en-US" sz="10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82%</a:t>
            </a:r>
            <a:r>
              <a:rPr lang="en-US" sz="10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read 5+ reviews before spending &gt;R300. </a:t>
            </a:r>
            <a:endParaRPr lang="en-US" sz="1000" dirty="0"/>
          </a:p>
        </p:txBody>
      </p:sp>
      <p:sp>
        <p:nvSpPr>
          <p:cNvPr id="36" name="Shape 20"/>
          <p:cNvSpPr/>
          <p:nvPr/>
        </p:nvSpPr>
        <p:spPr>
          <a:xfrm>
            <a:off x="4572000" y="4710074"/>
            <a:ext cx="3047695" cy="780898"/>
          </a:xfrm>
          <a:prstGeom prst="roundRect">
            <a:avLst>
              <a:gd name="adj" fmla="val 2856"/>
            </a:avLst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21"/>
          <p:cNvSpPr/>
          <p:nvPr/>
        </p:nvSpPr>
        <p:spPr>
          <a:xfrm>
            <a:off x="4572000" y="4710074"/>
            <a:ext cx="19202" cy="780898"/>
          </a:xfrm>
          <a:prstGeom prst="roundRect">
            <a:avLst>
              <a:gd name="adj" fmla="val 116146"/>
            </a:avLst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22"/>
          <p:cNvSpPr txBox="1"/>
          <p:nvPr/>
        </p:nvSpPr>
        <p:spPr>
          <a:xfrm>
            <a:off x="4705502" y="4824374"/>
            <a:ext cx="291236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9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Failure</a:t>
            </a:r>
            <a:endParaRPr lang="en-US" sz="800" dirty="0"/>
          </a:p>
        </p:txBody>
      </p:sp>
      <p:sp>
        <p:nvSpPr>
          <p:cNvPr id="39" name="Text 23"/>
          <p:cNvSpPr txBox="1"/>
          <p:nvPr/>
        </p:nvSpPr>
        <p:spPr>
          <a:xfrm>
            <a:off x="4705502" y="5005426"/>
            <a:ext cx="28767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High-end celebrity lines sitting stagnant while Clicks Private Label grows </a:t>
            </a:r>
            <a:r>
              <a:rPr lang="en-US" sz="1000" b="1" i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+20.5%</a:t>
            </a:r>
            <a:r>
              <a:rPr lang="en-US" sz="1000" i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00" dirty="0"/>
          </a:p>
        </p:txBody>
      </p:sp>
      <p:sp>
        <p:nvSpPr>
          <p:cNvPr id="40" name="Shape 24"/>
          <p:cNvSpPr/>
          <p:nvPr/>
        </p:nvSpPr>
        <p:spPr>
          <a:xfrm>
            <a:off x="4572000" y="2723998"/>
            <a:ext cx="38405" cy="2194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25"/>
          <p:cNvSpPr txBox="1"/>
          <p:nvPr/>
        </p:nvSpPr>
        <p:spPr>
          <a:xfrm>
            <a:off x="4724705" y="2723998"/>
            <a:ext cx="3010205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Economic fear.</a:t>
            </a:r>
            <a:endParaRPr lang="en-US" sz="1300" dirty="0"/>
          </a:p>
        </p:txBody>
      </p:sp>
      <p:pic>
        <p:nvPicPr>
          <p:cNvPr id="42" name="Image 14" descr="preencoded.png"/>
          <p:cNvPicPr>
            <a:picLocks noChangeAspect="1"/>
          </p:cNvPicPr>
          <p:nvPr/>
        </p:nvPicPr>
        <p:blipFill>
          <a:blip r:embed="rId17"/>
          <a:srcRect t="-8" b="-8"/>
          <a:stretch/>
        </p:blipFill>
        <p:spPr>
          <a:xfrm>
            <a:off x="8076895" y="1676095"/>
            <a:ext cx="3504895" cy="4038905"/>
          </a:xfrm>
          <a:prstGeom prst="rect">
            <a:avLst/>
          </a:prstGeom>
        </p:spPr>
      </p:pic>
      <p:pic>
        <p:nvPicPr>
          <p:cNvPr id="43" name="Image 15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305495" y="1904695"/>
            <a:ext cx="381305" cy="381305"/>
          </a:xfrm>
          <a:prstGeom prst="rect">
            <a:avLst/>
          </a:prstGeom>
        </p:spPr>
      </p:pic>
      <p:pic>
        <p:nvPicPr>
          <p:cNvPr id="44" name="Image 16" descr="preencoded.png"/>
          <p:cNvPicPr>
            <a:picLocks noChangeAspect="1"/>
          </p:cNvPicPr>
          <p:nvPr/>
        </p:nvPicPr>
        <p:blipFill>
          <a:blip r:embed="rId19"/>
          <a:srcRect t="-27660" b="-27660"/>
          <a:stretch/>
        </p:blipFill>
        <p:spPr>
          <a:xfrm>
            <a:off x="8410651" y="1962302"/>
            <a:ext cx="171907" cy="267005"/>
          </a:xfrm>
          <a:prstGeom prst="rect">
            <a:avLst/>
          </a:prstGeom>
        </p:spPr>
      </p:pic>
      <p:sp>
        <p:nvSpPr>
          <p:cNvPr id="45" name="Text 26"/>
          <p:cNvSpPr txBox="1"/>
          <p:nvPr/>
        </p:nvSpPr>
        <p:spPr>
          <a:xfrm>
            <a:off x="8839505" y="1928470"/>
            <a:ext cx="240304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"Can I trust it?"</a:t>
            </a:r>
            <a:endParaRPr lang="en-US" sz="2100" dirty="0"/>
          </a:p>
        </p:txBody>
      </p:sp>
      <p:sp>
        <p:nvSpPr>
          <p:cNvPr id="46" name="Shape 27"/>
          <p:cNvSpPr/>
          <p:nvPr/>
        </p:nvSpPr>
        <p:spPr>
          <a:xfrm>
            <a:off x="8305495" y="3819449"/>
            <a:ext cx="3047695" cy="780898"/>
          </a:xfrm>
          <a:prstGeom prst="roundRect">
            <a:avLst>
              <a:gd name="adj" fmla="val 2856"/>
            </a:avLst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28"/>
          <p:cNvSpPr/>
          <p:nvPr/>
        </p:nvSpPr>
        <p:spPr>
          <a:xfrm>
            <a:off x="8305495" y="3819449"/>
            <a:ext cx="19202" cy="780898"/>
          </a:xfrm>
          <a:prstGeom prst="roundRect">
            <a:avLst>
              <a:gd name="adj" fmla="val 116146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29"/>
          <p:cNvSpPr txBox="1"/>
          <p:nvPr/>
        </p:nvSpPr>
        <p:spPr>
          <a:xfrm>
            <a:off x="8438998" y="3933749"/>
            <a:ext cx="291236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9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Cultural Shift</a:t>
            </a:r>
            <a:endParaRPr lang="en-US" sz="800" dirty="0"/>
          </a:p>
        </p:txBody>
      </p:sp>
      <p:sp>
        <p:nvSpPr>
          <p:cNvPr id="49" name="Text 30"/>
          <p:cNvSpPr txBox="1"/>
          <p:nvPr/>
        </p:nvSpPr>
        <p:spPr>
          <a:xfrm>
            <a:off x="8438998" y="4114800"/>
            <a:ext cx="28767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Science-washing backlash. </a:t>
            </a: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68%</a:t>
            </a:r>
            <a:r>
              <a:rPr lang="en-US" sz="10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feel brands "make up" benefits. </a:t>
            </a:r>
            <a:endParaRPr lang="en-US" sz="1000" dirty="0"/>
          </a:p>
        </p:txBody>
      </p:sp>
      <p:sp>
        <p:nvSpPr>
          <p:cNvPr id="50" name="Shape 31"/>
          <p:cNvSpPr/>
          <p:nvPr/>
        </p:nvSpPr>
        <p:spPr>
          <a:xfrm>
            <a:off x="8305495" y="4710074"/>
            <a:ext cx="3047695" cy="780898"/>
          </a:xfrm>
          <a:prstGeom prst="roundRect">
            <a:avLst>
              <a:gd name="adj" fmla="val 2856"/>
            </a:avLst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32"/>
          <p:cNvSpPr/>
          <p:nvPr/>
        </p:nvSpPr>
        <p:spPr>
          <a:xfrm>
            <a:off x="8305495" y="4710074"/>
            <a:ext cx="19202" cy="780898"/>
          </a:xfrm>
          <a:prstGeom prst="roundRect">
            <a:avLst>
              <a:gd name="adj" fmla="val 116146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33"/>
          <p:cNvSpPr txBox="1"/>
          <p:nvPr/>
        </p:nvSpPr>
        <p:spPr>
          <a:xfrm>
            <a:off x="8438998" y="4824374"/>
            <a:ext cx="291236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9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Reality Check</a:t>
            </a:r>
            <a:endParaRPr lang="en-US" sz="800" dirty="0"/>
          </a:p>
        </p:txBody>
      </p:sp>
      <p:sp>
        <p:nvSpPr>
          <p:cNvPr id="53" name="Text 34"/>
          <p:cNvSpPr txBox="1"/>
          <p:nvPr/>
        </p:nvSpPr>
        <p:spPr>
          <a:xfrm>
            <a:off x="8438998" y="5005426"/>
            <a:ext cx="28767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 logo isn't a promise anymore. It's just a sticker on a jar."</a:t>
            </a:r>
            <a:endParaRPr lang="en-US" sz="1000" dirty="0"/>
          </a:p>
        </p:txBody>
      </p:sp>
      <p:sp>
        <p:nvSpPr>
          <p:cNvPr id="54" name="Shape 35"/>
          <p:cNvSpPr/>
          <p:nvPr/>
        </p:nvSpPr>
        <p:spPr>
          <a:xfrm>
            <a:off x="8305495" y="2438705"/>
            <a:ext cx="38405" cy="2194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36"/>
          <p:cNvSpPr txBox="1"/>
          <p:nvPr/>
        </p:nvSpPr>
        <p:spPr>
          <a:xfrm>
            <a:off x="8458200" y="2438705"/>
            <a:ext cx="3010205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collapse.</a:t>
            </a:r>
            <a:endParaRPr lang="en-US" sz="1300" dirty="0"/>
          </a:p>
        </p:txBody>
      </p:sp>
      <p:sp>
        <p:nvSpPr>
          <p:cNvPr id="56" name="Shape 37"/>
          <p:cNvSpPr/>
          <p:nvPr/>
        </p:nvSpPr>
        <p:spPr>
          <a:xfrm>
            <a:off x="8076895" y="525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457200"/>
                </a:moveTo>
                <a:lnTo>
                  <a:pt x="0" y="0"/>
                </a:lnTo>
                <a:lnTo>
                  <a:pt x="457200" y="457200"/>
                </a:lnTo>
                <a:close/>
              </a:path>
            </a:pathLst>
          </a:cu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7" name="Image 17" descr="preencoded.png"/>
          <p:cNvPicPr>
            <a:picLocks noChangeAspect="1"/>
          </p:cNvPicPr>
          <p:nvPr/>
        </p:nvPicPr>
        <p:blipFill>
          <a:blip r:embed="rId20"/>
          <a:srcRect t="-25" b="-25"/>
          <a:stretch/>
        </p:blipFill>
        <p:spPr>
          <a:xfrm>
            <a:off x="609905" y="5943600"/>
            <a:ext cx="10972800" cy="609905"/>
          </a:xfrm>
          <a:prstGeom prst="rect">
            <a:avLst/>
          </a:prstGeom>
        </p:spPr>
      </p:pic>
      <p:sp>
        <p:nvSpPr>
          <p:cNvPr id="58" name="Text 38"/>
          <p:cNvSpPr txBox="1"/>
          <p:nvPr/>
        </p:nvSpPr>
        <p:spPr>
          <a:xfrm>
            <a:off x="609905" y="914400"/>
            <a:ext cx="4200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9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 Collapsed</a:t>
            </a:r>
            <a:endParaRPr lang="en-US" sz="3600" dirty="0"/>
          </a:p>
        </p:txBody>
      </p:sp>
      <p:sp>
        <p:nvSpPr>
          <p:cNvPr id="59" name="Text 39"/>
          <p:cNvSpPr txBox="1"/>
          <p:nvPr/>
        </p:nvSpPr>
        <p:spPr>
          <a:xfrm>
            <a:off x="838505" y="6096305"/>
            <a:ext cx="107067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60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machine broke. </a:t>
            </a:r>
            <a:r>
              <a:rPr lang="en-US" sz="2400" b="1" kern="0" spc="-6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is the only currency left.</a:t>
            </a:r>
            <a:endParaRPr lang="en-US" sz="2400" dirty="0"/>
          </a:p>
        </p:txBody>
      </p:sp>
      <p:pic>
        <p:nvPicPr>
          <p:cNvPr id="60" name="Image 18" descr="preencoded.png"/>
          <p:cNvPicPr>
            <a:picLocks noChangeAspect="1"/>
          </p:cNvPicPr>
          <p:nvPr/>
        </p:nvPicPr>
        <p:blipFill>
          <a:blip r:embed="rId21"/>
          <a:srcRect l="-12" r="-12"/>
          <a:stretch/>
        </p:blipFill>
        <p:spPr>
          <a:xfrm>
            <a:off x="571500" y="5829300"/>
            <a:ext cx="362102" cy="409651"/>
          </a:xfrm>
          <a:prstGeom prst="rect">
            <a:avLst/>
          </a:prstGeom>
        </p:spPr>
      </p:pic>
      <p:pic>
        <p:nvPicPr>
          <p:cNvPr id="61" name="Image 19" descr="preencoded.png"/>
          <p:cNvPicPr>
            <a:picLocks noChangeAspect="1"/>
          </p:cNvPicPr>
          <p:nvPr/>
        </p:nvPicPr>
        <p:blipFill>
          <a:blip r:embed="rId22"/>
          <a:srcRect t="-16494" b="-16494"/>
          <a:stretch/>
        </p:blipFill>
        <p:spPr>
          <a:xfrm>
            <a:off x="609905" y="5867705"/>
            <a:ext cx="286207" cy="304495"/>
          </a:xfrm>
          <a:prstGeom prst="rect">
            <a:avLst/>
          </a:prstGeom>
        </p:spPr>
      </p:pic>
      <p:sp>
        <p:nvSpPr>
          <p:cNvPr id="62" name="Text 40"/>
          <p:cNvSpPr txBox="1"/>
          <p:nvPr/>
        </p:nvSpPr>
        <p:spPr>
          <a:xfrm>
            <a:off x="609905" y="381305"/>
            <a:ext cx="14676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Autopsy</a:t>
            </a:r>
            <a:endParaRPr lang="en-US" sz="900" dirty="0"/>
          </a:p>
        </p:txBody>
      </p:sp>
      <p:pic>
        <p:nvPicPr>
          <p:cNvPr id="63" name="Image 20" descr="preencoded.png"/>
          <p:cNvPicPr>
            <a:picLocks noChangeAspect="1"/>
          </p:cNvPicPr>
          <p:nvPr/>
        </p:nvPicPr>
        <p:blipFill>
          <a:blip r:embed="rId23"/>
          <a:srcRect t="876" b="876"/>
          <a:stretch/>
        </p:blipFill>
        <p:spPr>
          <a:xfrm>
            <a:off x="11264494" y="381305"/>
            <a:ext cx="323698" cy="3044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30000"/>
          </a:blip>
          <a:srcRect l="-7" r="-7"/>
          <a:stretch/>
        </p:blipFill>
        <p:spPr>
          <a:xfrm rot="20880000">
            <a:off x="457200" y="1314907"/>
            <a:ext cx="896112" cy="199339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09905" y="914400"/>
            <a:ext cx="9944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9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Battle </a:t>
            </a:r>
            <a:r>
              <a:rPr lang="en-US" sz="3600" b="1" kern="0" spc="-90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Ended.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609905" y="1447495"/>
            <a:ext cx="67775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industry moved from declaring war on skin to negotiating peace.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402" r="-402"/>
          <a:stretch/>
        </p:blipFill>
        <p:spPr>
          <a:xfrm>
            <a:off x="638251" y="2171700"/>
            <a:ext cx="19202" cy="3981298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rcRect t="-5" b="-5"/>
          <a:stretch/>
        </p:blipFill>
        <p:spPr>
          <a:xfrm>
            <a:off x="7010705" y="2018995"/>
            <a:ext cx="4572000" cy="4286707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10211105" y="1561795"/>
            <a:ext cx="1828800" cy="182880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5"/>
          <p:cNvSpPr/>
          <p:nvPr/>
        </p:nvSpPr>
        <p:spPr>
          <a:xfrm>
            <a:off x="10668305" y="2781605"/>
            <a:ext cx="1218895" cy="1218895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6"/>
          <p:cNvSpPr/>
          <p:nvPr/>
        </p:nvSpPr>
        <p:spPr>
          <a:xfrm>
            <a:off x="9905695" y="2018995"/>
            <a:ext cx="914400" cy="91440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>
            <a:alphaModFix amt="80000"/>
          </a:blip>
          <a:srcRect t="-13" b="-13"/>
          <a:stretch/>
        </p:blipFill>
        <p:spPr>
          <a:xfrm>
            <a:off x="7391095" y="5640934"/>
            <a:ext cx="1218895" cy="11430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914400" y="2095805"/>
            <a:ext cx="58293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Messaging Evolution: Aggression to Empathy</a:t>
            </a:r>
            <a:endParaRPr lang="en-US" sz="1500" dirty="0"/>
          </a:p>
        </p:txBody>
      </p:sp>
      <p:sp>
        <p:nvSpPr>
          <p:cNvPr id="15" name="Text 8"/>
          <p:cNvSpPr txBox="1"/>
          <p:nvPr/>
        </p:nvSpPr>
        <p:spPr>
          <a:xfrm>
            <a:off x="914400" y="2409444"/>
            <a:ext cx="579181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Verbs like "fight," "destroy," and "kill" (acne/wrinkles) have vanished. Replaced by "support," "calm," and "feed." Clearasil's military language has been replaced by Starface's acceptance model.</a:t>
            </a:r>
            <a:endParaRPr lang="en-US" sz="12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rcRect t="-190" b="-190"/>
          <a:stretch/>
        </p:blipFill>
        <p:spPr>
          <a:xfrm>
            <a:off x="609905" y="2095805"/>
            <a:ext cx="75895" cy="1057046"/>
          </a:xfrm>
          <a:prstGeom prst="rect">
            <a:avLst/>
          </a:prstGeom>
        </p:spPr>
      </p:pic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rcRect t="-190" b="-190"/>
          <a:stretch/>
        </p:blipFill>
        <p:spPr>
          <a:xfrm>
            <a:off x="609905" y="3633826"/>
            <a:ext cx="75895" cy="1057046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914400" y="3633826"/>
            <a:ext cx="58293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 Evolution: Defense to Tolerance</a:t>
            </a:r>
            <a:endParaRPr lang="en-US" sz="1500" dirty="0"/>
          </a:p>
        </p:txBody>
      </p:sp>
      <p:sp>
        <p:nvSpPr>
          <p:cNvPr id="19" name="Text 10"/>
          <p:cNvSpPr txBox="1"/>
          <p:nvPr/>
        </p:nvSpPr>
        <p:spPr>
          <a:xfrm>
            <a:off x="914400" y="3948379"/>
            <a:ext cx="579181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"Anti-aging" is now "Pro-aging." High percentage actives (e.g., 10% Glycolic) moved from front-of-pack glory to back-of-pack details. The new flex isn't potency; it's compatibility.</a:t>
            </a:r>
            <a:endParaRPr lang="en-US" sz="12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0"/>
          <a:srcRect t="-190" b="-190"/>
          <a:stretch/>
        </p:blipFill>
        <p:spPr>
          <a:xfrm>
            <a:off x="609905" y="5171846"/>
            <a:ext cx="75895" cy="1057046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914400" y="5171846"/>
            <a:ext cx="58293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Repositioning: The Scrub is Dead</a:t>
            </a:r>
            <a:endParaRPr lang="en-US" sz="1500" dirty="0"/>
          </a:p>
        </p:txBody>
      </p:sp>
      <p:sp>
        <p:nvSpPr>
          <p:cNvPr id="22" name="Text 12"/>
          <p:cNvSpPr txBox="1"/>
          <p:nvPr/>
        </p:nvSpPr>
        <p:spPr>
          <a:xfrm>
            <a:off x="914400" y="5486400"/>
            <a:ext cx="579181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exfoliants and harsh peels have been replaced by "Barrier Repair Balms" and "Recovery Masks." The routine shifted from stripping layers to rebuilding the biome.</a:t>
            </a:r>
            <a:endParaRPr lang="en-US" sz="1200" dirty="0"/>
          </a:p>
        </p:txBody>
      </p:sp>
      <p:sp>
        <p:nvSpPr>
          <p:cNvPr id="23" name="Text 13"/>
          <p:cNvSpPr txBox="1"/>
          <p:nvPr/>
        </p:nvSpPr>
        <p:spPr>
          <a:xfrm>
            <a:off x="7391095" y="3202229"/>
            <a:ext cx="4854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it’s a ceasefire.</a:t>
            </a:r>
            <a:endParaRPr lang="en-US" sz="3600" dirty="0"/>
          </a:p>
        </p:txBody>
      </p:sp>
      <p:sp>
        <p:nvSpPr>
          <p:cNvPr id="24" name="Text 14"/>
          <p:cNvSpPr txBox="1"/>
          <p:nvPr/>
        </p:nvSpPr>
        <p:spPr>
          <a:xfrm>
            <a:off x="7391095" y="2569464"/>
            <a:ext cx="5418734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10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It’s not a pivot;</a:t>
            </a:r>
            <a:endParaRPr lang="en-US" sz="42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11"/>
          <a:srcRect l="-4" r="-4"/>
          <a:stretch/>
        </p:blipFill>
        <p:spPr>
          <a:xfrm>
            <a:off x="7391095" y="3963924"/>
            <a:ext cx="3810305" cy="1371600"/>
          </a:xfrm>
          <a:prstGeom prst="rect">
            <a:avLst/>
          </a:prstGeom>
        </p:spPr>
      </p:pic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2">
            <a:alphaModFix amt="50000"/>
          </a:blip>
          <a:srcRect/>
          <a:stretch/>
        </p:blipFill>
        <p:spPr>
          <a:xfrm>
            <a:off x="10972800" y="3888029"/>
            <a:ext cx="304495" cy="304495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7658100" y="4192524"/>
            <a:ext cx="3429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6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Signal</a:t>
            </a:r>
            <a:endParaRPr lang="en-US" sz="1000" dirty="0"/>
          </a:p>
        </p:txBody>
      </p:sp>
      <p:sp>
        <p:nvSpPr>
          <p:cNvPr id="28" name="Text 16"/>
          <p:cNvSpPr txBox="1"/>
          <p:nvPr/>
        </p:nvSpPr>
        <p:spPr>
          <a:xfrm>
            <a:off x="7658100" y="4421124"/>
            <a:ext cx="33915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"We stopped trying to fix skin because consumers stopped believing it was broken. They just wanted it to be calm."</a:t>
            </a:r>
            <a:endParaRPr lang="en-US" sz="1200" dirty="0"/>
          </a:p>
        </p:txBody>
      </p:sp>
      <p:sp>
        <p:nvSpPr>
          <p:cNvPr id="29" name="Text 17"/>
          <p:cNvSpPr txBox="1"/>
          <p:nvPr/>
        </p:nvSpPr>
        <p:spPr>
          <a:xfrm>
            <a:off x="609905" y="457200"/>
            <a:ext cx="1371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CULTURAL SHIFT</a:t>
            </a:r>
            <a:endParaRPr lang="en-US" sz="900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13"/>
          <a:srcRect t="826" b="827"/>
          <a:stretch/>
        </p:blipFill>
        <p:spPr>
          <a:xfrm>
            <a:off x="11105388" y="304495"/>
            <a:ext cx="485546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l="-226" r="-226"/>
          <a:stretch/>
        </p:blipFill>
        <p:spPr>
          <a:xfrm>
            <a:off x="609905" y="228600"/>
            <a:ext cx="609905" cy="7589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09905" y="418795"/>
            <a:ext cx="305592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Wins vs. Loses</a:t>
            </a:r>
            <a:endParaRPr lang="en-US" sz="2700" dirty="0"/>
          </a:p>
        </p:txBody>
      </p:sp>
      <p:sp>
        <p:nvSpPr>
          <p:cNvPr id="6" name="Text 2"/>
          <p:cNvSpPr txBox="1"/>
          <p:nvPr/>
        </p:nvSpPr>
        <p:spPr>
          <a:xfrm>
            <a:off x="609905" y="923544"/>
            <a:ext cx="276331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-34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new rules of engagement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 t="282" b="281"/>
          <a:stretch/>
        </p:blipFill>
        <p:spPr>
          <a:xfrm>
            <a:off x="11184941" y="304495"/>
            <a:ext cx="400507" cy="381305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09905" y="1343254"/>
            <a:ext cx="5333695" cy="5057546"/>
          </a:xfrm>
          <a:prstGeom prst="roundRect">
            <a:avLst>
              <a:gd name="adj" fmla="val 817"/>
            </a:avLst>
          </a:prstGeom>
          <a:solidFill>
            <a:srgbClr val="FFF0ED"/>
          </a:solidFill>
          <a:ln w="254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4"/>
          <p:cNvSpPr txBox="1"/>
          <p:nvPr/>
        </p:nvSpPr>
        <p:spPr>
          <a:xfrm>
            <a:off x="819302" y="1552651"/>
            <a:ext cx="192755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It Loses</a:t>
            </a:r>
            <a:endParaRPr lang="en-US" sz="1800" dirty="0"/>
          </a:p>
        </p:txBody>
      </p:sp>
      <p:sp>
        <p:nvSpPr>
          <p:cNvPr id="10" name="Shape 5"/>
          <p:cNvSpPr/>
          <p:nvPr/>
        </p:nvSpPr>
        <p:spPr>
          <a:xfrm>
            <a:off x="5352898" y="1514246"/>
            <a:ext cx="381305" cy="381305"/>
          </a:xfrm>
          <a:prstGeom prst="ellipse">
            <a:avLst/>
          </a:prstGeom>
          <a:solidFill>
            <a:srgbClr val="FEE2E2"/>
          </a:solidFill>
          <a:ln w="254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t="-20193" b="-20193"/>
          <a:stretch/>
        </p:blipFill>
        <p:spPr>
          <a:xfrm>
            <a:off x="5471770" y="1571854"/>
            <a:ext cx="142646" cy="26700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819302" y="2009851"/>
            <a:ext cx="2400300" cy="1238098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  <a:effectLst>
            <a:outerShdw blurRad="76200" dist="254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7"/>
          <p:cNvSpPr/>
          <p:nvPr/>
        </p:nvSpPr>
        <p:spPr>
          <a:xfrm>
            <a:off x="1790395" y="2171700"/>
            <a:ext cx="457200" cy="457200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rcRect t="-16494" b="-16494"/>
          <a:stretch/>
        </p:blipFill>
        <p:spPr>
          <a:xfrm>
            <a:off x="1876349" y="2247595"/>
            <a:ext cx="286207" cy="304495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551737" y="2704795"/>
            <a:ext cx="9436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-26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Complexity</a:t>
            </a:r>
            <a:endParaRPr lang="en-US" sz="1000" dirty="0"/>
          </a:p>
        </p:txBody>
      </p:sp>
      <p:sp>
        <p:nvSpPr>
          <p:cNvPr id="16" name="Text 9"/>
          <p:cNvSpPr txBox="1"/>
          <p:nvPr/>
        </p:nvSpPr>
        <p:spPr>
          <a:xfrm>
            <a:off x="1500530" y="2933395"/>
            <a:ext cx="10433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"47 ingredients"</a:t>
            </a:r>
            <a:endParaRPr lang="en-US" sz="900" dirty="0"/>
          </a:p>
        </p:txBody>
      </p:sp>
      <p:sp>
        <p:nvSpPr>
          <p:cNvPr id="17" name="Shape 10"/>
          <p:cNvSpPr/>
          <p:nvPr/>
        </p:nvSpPr>
        <p:spPr>
          <a:xfrm>
            <a:off x="3333902" y="2009851"/>
            <a:ext cx="2400300" cy="1238098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  <a:effectLst>
            <a:outerShdw blurRad="76200" dist="254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1"/>
          <p:cNvSpPr/>
          <p:nvPr/>
        </p:nvSpPr>
        <p:spPr>
          <a:xfrm>
            <a:off x="4304995" y="2171700"/>
            <a:ext cx="457200" cy="457200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rcRect t="-16600" b="-16600"/>
          <a:stretch/>
        </p:blipFill>
        <p:spPr>
          <a:xfrm>
            <a:off x="4419295" y="2247595"/>
            <a:ext cx="228600" cy="304495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4114800" y="2704795"/>
            <a:ext cx="8485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-26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Over-Hype</a:t>
            </a:r>
            <a:endParaRPr lang="en-US" sz="1000" dirty="0"/>
          </a:p>
        </p:txBody>
      </p:sp>
      <p:sp>
        <p:nvSpPr>
          <p:cNvPr id="21" name="Text 13"/>
          <p:cNvSpPr txBox="1"/>
          <p:nvPr/>
        </p:nvSpPr>
        <p:spPr>
          <a:xfrm>
            <a:off x="4078224" y="2933395"/>
            <a:ext cx="91897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"10x younger"</a:t>
            </a:r>
            <a:endParaRPr lang="en-US" sz="900" dirty="0"/>
          </a:p>
        </p:txBody>
      </p:sp>
      <p:sp>
        <p:nvSpPr>
          <p:cNvPr id="22" name="Shape 14"/>
          <p:cNvSpPr/>
          <p:nvPr/>
        </p:nvSpPr>
        <p:spPr>
          <a:xfrm>
            <a:off x="819302" y="3362249"/>
            <a:ext cx="2400300" cy="1238098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  <a:effectLst>
            <a:outerShdw blurRad="76200" dist="254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5"/>
          <p:cNvSpPr/>
          <p:nvPr/>
        </p:nvSpPr>
        <p:spPr>
          <a:xfrm>
            <a:off x="1790395" y="3524098"/>
            <a:ext cx="457200" cy="457200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9"/>
          <a:srcRect t="-16524" b="-16524"/>
          <a:stretch/>
        </p:blipFill>
        <p:spPr>
          <a:xfrm>
            <a:off x="1919326" y="3600907"/>
            <a:ext cx="200254" cy="304495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1557223" y="4058107"/>
            <a:ext cx="9336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-26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Effort</a:t>
            </a:r>
            <a:endParaRPr lang="en-US" sz="1000" dirty="0"/>
          </a:p>
        </p:txBody>
      </p:sp>
      <p:sp>
        <p:nvSpPr>
          <p:cNvPr id="26" name="Text 17"/>
          <p:cNvSpPr txBox="1"/>
          <p:nvPr/>
        </p:nvSpPr>
        <p:spPr>
          <a:xfrm>
            <a:off x="1500530" y="4286707"/>
            <a:ext cx="10433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12-step routines</a:t>
            </a:r>
            <a:endParaRPr lang="en-US" sz="900" dirty="0"/>
          </a:p>
        </p:txBody>
      </p:sp>
      <p:sp>
        <p:nvSpPr>
          <p:cNvPr id="27" name="Shape 18"/>
          <p:cNvSpPr/>
          <p:nvPr/>
        </p:nvSpPr>
        <p:spPr>
          <a:xfrm>
            <a:off x="3333902" y="3362249"/>
            <a:ext cx="2400300" cy="1238098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  <a:effectLst>
            <a:outerShdw blurRad="76200" dist="254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19"/>
          <p:cNvSpPr/>
          <p:nvPr/>
        </p:nvSpPr>
        <p:spPr>
          <a:xfrm>
            <a:off x="4304995" y="3524098"/>
            <a:ext cx="457200" cy="457200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0"/>
          <a:srcRect t="-16600" b="-16600"/>
          <a:stretch/>
        </p:blipFill>
        <p:spPr>
          <a:xfrm>
            <a:off x="4419295" y="3600907"/>
            <a:ext cx="228600" cy="304495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4204411" y="4058107"/>
            <a:ext cx="667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-26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Anxiety</a:t>
            </a:r>
            <a:endParaRPr lang="en-US" sz="1000" dirty="0"/>
          </a:p>
        </p:txBody>
      </p:sp>
      <p:sp>
        <p:nvSpPr>
          <p:cNvPr id="31" name="Text 21"/>
          <p:cNvSpPr txBox="1"/>
          <p:nvPr/>
        </p:nvSpPr>
        <p:spPr>
          <a:xfrm>
            <a:off x="4066337" y="4286707"/>
            <a:ext cx="9409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Selling by flaw</a:t>
            </a:r>
            <a:endParaRPr lang="en-US" sz="900" dirty="0"/>
          </a:p>
        </p:txBody>
      </p:sp>
      <p:sp>
        <p:nvSpPr>
          <p:cNvPr id="32" name="Shape 22"/>
          <p:cNvSpPr/>
          <p:nvPr/>
        </p:nvSpPr>
        <p:spPr>
          <a:xfrm>
            <a:off x="819302" y="4714646"/>
            <a:ext cx="4914900" cy="629107"/>
          </a:xfrm>
          <a:prstGeom prst="roundRect">
            <a:avLst>
              <a:gd name="adj" fmla="val 35236"/>
            </a:avLst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  <a:effectLst>
            <a:outerShdw blurRad="76200" dist="254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3"/>
          <p:cNvSpPr/>
          <p:nvPr/>
        </p:nvSpPr>
        <p:spPr>
          <a:xfrm>
            <a:off x="2448763" y="4839005"/>
            <a:ext cx="381305" cy="381305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11"/>
          <a:srcRect t="-20192" b="-20192"/>
          <a:stretch/>
        </p:blipFill>
        <p:spPr>
          <a:xfrm>
            <a:off x="2520086" y="4895698"/>
            <a:ext cx="237744" cy="267005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2981858" y="4858207"/>
            <a:ext cx="12006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-26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Hidden Pricing</a:t>
            </a:r>
            <a:endParaRPr lang="en-US" sz="1000" dirty="0"/>
          </a:p>
        </p:txBody>
      </p:sp>
      <p:sp>
        <p:nvSpPr>
          <p:cNvPr id="36" name="Text 25"/>
          <p:cNvSpPr txBox="1"/>
          <p:nvPr/>
        </p:nvSpPr>
        <p:spPr>
          <a:xfrm>
            <a:off x="2981858" y="5048402"/>
            <a:ext cx="13377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Opaque tiers &amp; costs</a:t>
            </a:r>
            <a:endParaRPr lang="en-US" sz="900" dirty="0"/>
          </a:p>
        </p:txBody>
      </p:sp>
      <p:sp>
        <p:nvSpPr>
          <p:cNvPr id="37" name="Shape 26"/>
          <p:cNvSpPr/>
          <p:nvPr/>
        </p:nvSpPr>
        <p:spPr>
          <a:xfrm>
            <a:off x="819302" y="5533949"/>
            <a:ext cx="4914900" cy="9144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27"/>
          <p:cNvSpPr txBox="1"/>
          <p:nvPr/>
        </p:nvSpPr>
        <p:spPr>
          <a:xfrm>
            <a:off x="2969971" y="5619902"/>
            <a:ext cx="6958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</a:t>
            </a:r>
            <a:endParaRPr lang="en-US" sz="900" dirty="0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12"/>
          <a:srcRect l="-36" r="-36"/>
          <a:stretch/>
        </p:blipFill>
        <p:spPr>
          <a:xfrm>
            <a:off x="819302" y="5810098"/>
            <a:ext cx="4914900" cy="418795"/>
          </a:xfrm>
          <a:prstGeom prst="rect">
            <a:avLst/>
          </a:prstGeom>
        </p:spPr>
      </p:pic>
      <p:sp>
        <p:nvSpPr>
          <p:cNvPr id="40" name="Shape 28"/>
          <p:cNvSpPr/>
          <p:nvPr/>
        </p:nvSpPr>
        <p:spPr>
          <a:xfrm>
            <a:off x="819302" y="5810098"/>
            <a:ext cx="4914900" cy="41879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29"/>
          <p:cNvSpPr/>
          <p:nvPr/>
        </p:nvSpPr>
        <p:spPr>
          <a:xfrm>
            <a:off x="819302" y="5810098"/>
            <a:ext cx="491490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Quiet Disengagement</a:t>
            </a:r>
            <a:endParaRPr lang="en-US" sz="1500" dirty="0"/>
          </a:p>
        </p:txBody>
      </p:sp>
      <p:sp>
        <p:nvSpPr>
          <p:cNvPr id="42" name="Shape 30"/>
          <p:cNvSpPr/>
          <p:nvPr/>
        </p:nvSpPr>
        <p:spPr>
          <a:xfrm>
            <a:off x="6248095" y="1343254"/>
            <a:ext cx="5333695" cy="5057546"/>
          </a:xfrm>
          <a:prstGeom prst="roundRect">
            <a:avLst>
              <a:gd name="adj" fmla="val 817"/>
            </a:avLst>
          </a:prstGeom>
          <a:solidFill>
            <a:srgbClr val="ECFDF5"/>
          </a:solidFill>
          <a:ln w="254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1"/>
          <p:cNvSpPr txBox="1"/>
          <p:nvPr/>
        </p:nvSpPr>
        <p:spPr>
          <a:xfrm>
            <a:off x="6458407" y="1552651"/>
            <a:ext cx="183611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It Wins</a:t>
            </a:r>
            <a:endParaRPr lang="en-US" sz="1800" dirty="0"/>
          </a:p>
        </p:txBody>
      </p:sp>
      <p:sp>
        <p:nvSpPr>
          <p:cNvPr id="44" name="Shape 32"/>
          <p:cNvSpPr/>
          <p:nvPr/>
        </p:nvSpPr>
        <p:spPr>
          <a:xfrm>
            <a:off x="10992002" y="1514246"/>
            <a:ext cx="381305" cy="381305"/>
          </a:xfrm>
          <a:prstGeom prst="ellipse">
            <a:avLst/>
          </a:prstGeom>
          <a:solidFill>
            <a:srgbClr val="DCFCE7"/>
          </a:solidFill>
          <a:ln w="254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13"/>
          <a:srcRect t="-17952" b="-17952"/>
          <a:stretch/>
        </p:blipFill>
        <p:spPr>
          <a:xfrm>
            <a:off x="11096244" y="1571854"/>
            <a:ext cx="171907" cy="267005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6458407" y="2009851"/>
            <a:ext cx="2400300" cy="1238098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DCFCE7"/>
            </a:solidFill>
            <a:prstDash val="solid"/>
          </a:ln>
          <a:effectLst>
            <a:outerShdw blurRad="76200" dist="254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34"/>
          <p:cNvSpPr/>
          <p:nvPr/>
        </p:nvSpPr>
        <p:spPr>
          <a:xfrm>
            <a:off x="7429500" y="2171700"/>
            <a:ext cx="457200" cy="457200"/>
          </a:xfrm>
          <a:prstGeom prst="ellipse">
            <a:avLst/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14"/>
          <a:srcRect t="-16659" b="-16659"/>
          <a:stretch/>
        </p:blipFill>
        <p:spPr>
          <a:xfrm>
            <a:off x="7529170" y="2247595"/>
            <a:ext cx="256946" cy="304495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7145122" y="2704795"/>
            <a:ext cx="10287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-26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Calm &amp; Clear</a:t>
            </a:r>
            <a:endParaRPr lang="en-US" sz="1000" dirty="0"/>
          </a:p>
        </p:txBody>
      </p:sp>
      <p:sp>
        <p:nvSpPr>
          <p:cNvPr id="50" name="Text 36"/>
          <p:cNvSpPr txBox="1"/>
          <p:nvPr/>
        </p:nvSpPr>
        <p:spPr>
          <a:xfrm>
            <a:off x="7077456" y="2933395"/>
            <a:ext cx="11676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core ingredients</a:t>
            </a:r>
            <a:endParaRPr lang="en-US" sz="900" dirty="0"/>
          </a:p>
        </p:txBody>
      </p:sp>
      <p:sp>
        <p:nvSpPr>
          <p:cNvPr id="51" name="Shape 37"/>
          <p:cNvSpPr/>
          <p:nvPr/>
        </p:nvSpPr>
        <p:spPr>
          <a:xfrm>
            <a:off x="8973007" y="2009851"/>
            <a:ext cx="2400300" cy="1238098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DCFCE7"/>
            </a:solidFill>
            <a:prstDash val="solid"/>
          </a:ln>
          <a:effectLst>
            <a:outerShdw blurRad="76200" dist="254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38"/>
          <p:cNvSpPr/>
          <p:nvPr/>
        </p:nvSpPr>
        <p:spPr>
          <a:xfrm>
            <a:off x="9944100" y="2171700"/>
            <a:ext cx="457200" cy="457200"/>
          </a:xfrm>
          <a:prstGeom prst="ellipse">
            <a:avLst/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3" name="Image 12" descr="preencoded.png"/>
          <p:cNvPicPr>
            <a:picLocks noChangeAspect="1"/>
          </p:cNvPicPr>
          <p:nvPr/>
        </p:nvPicPr>
        <p:blipFill>
          <a:blip r:embed="rId15"/>
          <a:srcRect t="-16600" b="-16600"/>
          <a:stretch/>
        </p:blipFill>
        <p:spPr>
          <a:xfrm>
            <a:off x="10058400" y="2247595"/>
            <a:ext cx="228600" cy="304495"/>
          </a:xfrm>
          <a:prstGeom prst="rect">
            <a:avLst/>
          </a:prstGeom>
        </p:spPr>
      </p:pic>
      <p:sp>
        <p:nvSpPr>
          <p:cNvPr id="54" name="Text 39"/>
          <p:cNvSpPr txBox="1"/>
          <p:nvPr/>
        </p:nvSpPr>
        <p:spPr>
          <a:xfrm>
            <a:off x="9787738" y="2704795"/>
            <a:ext cx="7717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-26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Everyday</a:t>
            </a:r>
            <a:endParaRPr lang="en-US" sz="1000" dirty="0"/>
          </a:p>
        </p:txBody>
      </p:sp>
      <p:sp>
        <p:nvSpPr>
          <p:cNvPr id="55" name="Text 40"/>
          <p:cNvSpPr txBox="1"/>
          <p:nvPr/>
        </p:nvSpPr>
        <p:spPr>
          <a:xfrm>
            <a:off x="9742932" y="2933395"/>
            <a:ext cx="8622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comfort</a:t>
            </a:r>
            <a:endParaRPr lang="en-US" sz="900" dirty="0"/>
          </a:p>
        </p:txBody>
      </p:sp>
      <p:sp>
        <p:nvSpPr>
          <p:cNvPr id="56" name="Shape 41"/>
          <p:cNvSpPr/>
          <p:nvPr/>
        </p:nvSpPr>
        <p:spPr>
          <a:xfrm>
            <a:off x="6458407" y="3362249"/>
            <a:ext cx="2400300" cy="1238098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DCFCE7"/>
            </a:solidFill>
            <a:prstDash val="solid"/>
          </a:ln>
          <a:effectLst>
            <a:outerShdw blurRad="76200" dist="254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42"/>
          <p:cNvSpPr/>
          <p:nvPr/>
        </p:nvSpPr>
        <p:spPr>
          <a:xfrm>
            <a:off x="7429500" y="3524098"/>
            <a:ext cx="457200" cy="457200"/>
          </a:xfrm>
          <a:prstGeom prst="ellipse">
            <a:avLst/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8" name="Image 13" descr="preencoded.png"/>
          <p:cNvPicPr>
            <a:picLocks noChangeAspect="1"/>
          </p:cNvPicPr>
          <p:nvPr/>
        </p:nvPicPr>
        <p:blipFill>
          <a:blip r:embed="rId16"/>
          <a:srcRect t="-16659" b="-16659"/>
          <a:stretch/>
        </p:blipFill>
        <p:spPr>
          <a:xfrm>
            <a:off x="7529170" y="3600907"/>
            <a:ext cx="256946" cy="304495"/>
          </a:xfrm>
          <a:prstGeom prst="rect">
            <a:avLst/>
          </a:prstGeom>
        </p:spPr>
      </p:pic>
      <p:sp>
        <p:nvSpPr>
          <p:cNvPr id="59" name="Text 43"/>
          <p:cNvSpPr txBox="1"/>
          <p:nvPr/>
        </p:nvSpPr>
        <p:spPr>
          <a:xfrm>
            <a:off x="7123176" y="4058107"/>
            <a:ext cx="107442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-26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Earned Belief</a:t>
            </a:r>
            <a:endParaRPr lang="en-US" sz="1000" dirty="0"/>
          </a:p>
        </p:txBody>
      </p:sp>
      <p:sp>
        <p:nvSpPr>
          <p:cNvPr id="60" name="Text 44"/>
          <p:cNvSpPr txBox="1"/>
          <p:nvPr/>
        </p:nvSpPr>
        <p:spPr>
          <a:xfrm>
            <a:off x="7012534" y="4286707"/>
            <a:ext cx="129296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on consistency</a:t>
            </a:r>
            <a:endParaRPr lang="en-US" sz="900" dirty="0"/>
          </a:p>
        </p:txBody>
      </p:sp>
      <p:sp>
        <p:nvSpPr>
          <p:cNvPr id="61" name="Shape 45"/>
          <p:cNvSpPr/>
          <p:nvPr/>
        </p:nvSpPr>
        <p:spPr>
          <a:xfrm>
            <a:off x="8973007" y="3362249"/>
            <a:ext cx="2400300" cy="1238098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DCFCE7"/>
            </a:solidFill>
            <a:prstDash val="solid"/>
          </a:ln>
          <a:effectLst>
            <a:outerShdw blurRad="76200" dist="254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Shape 46"/>
          <p:cNvSpPr/>
          <p:nvPr/>
        </p:nvSpPr>
        <p:spPr>
          <a:xfrm>
            <a:off x="9944100" y="3524098"/>
            <a:ext cx="457200" cy="457200"/>
          </a:xfrm>
          <a:prstGeom prst="ellipse">
            <a:avLst/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3" name="Image 14" descr="preencoded.png"/>
          <p:cNvPicPr>
            <a:picLocks noChangeAspect="1"/>
          </p:cNvPicPr>
          <p:nvPr/>
        </p:nvPicPr>
        <p:blipFill>
          <a:blip r:embed="rId17"/>
          <a:srcRect t="-16600" b="-16600"/>
          <a:stretch/>
        </p:blipFill>
        <p:spPr>
          <a:xfrm>
            <a:off x="10058400" y="3600907"/>
            <a:ext cx="228600" cy="304495"/>
          </a:xfrm>
          <a:prstGeom prst="rect">
            <a:avLst/>
          </a:prstGeom>
        </p:spPr>
      </p:pic>
      <p:sp>
        <p:nvSpPr>
          <p:cNvPr id="64" name="Text 47"/>
          <p:cNvSpPr txBox="1"/>
          <p:nvPr/>
        </p:nvSpPr>
        <p:spPr>
          <a:xfrm>
            <a:off x="9601200" y="4058107"/>
            <a:ext cx="1143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-26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Transparency</a:t>
            </a:r>
            <a:endParaRPr lang="en-US" sz="1000" dirty="0"/>
          </a:p>
        </p:txBody>
      </p:sp>
      <p:sp>
        <p:nvSpPr>
          <p:cNvPr id="65" name="Text 48"/>
          <p:cNvSpPr txBox="1"/>
          <p:nvPr/>
        </p:nvSpPr>
        <p:spPr>
          <a:xfrm>
            <a:off x="9711842" y="4286707"/>
            <a:ext cx="92994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disclosure</a:t>
            </a:r>
            <a:endParaRPr lang="en-US" sz="900" dirty="0"/>
          </a:p>
        </p:txBody>
      </p:sp>
      <p:sp>
        <p:nvSpPr>
          <p:cNvPr id="66" name="Shape 49"/>
          <p:cNvSpPr/>
          <p:nvPr/>
        </p:nvSpPr>
        <p:spPr>
          <a:xfrm>
            <a:off x="6458407" y="4714646"/>
            <a:ext cx="4914900" cy="629107"/>
          </a:xfrm>
          <a:prstGeom prst="roundRect">
            <a:avLst>
              <a:gd name="adj" fmla="val 35236"/>
            </a:avLst>
          </a:prstGeom>
          <a:solidFill>
            <a:srgbClr val="FFFFFF"/>
          </a:solidFill>
          <a:ln w="12700">
            <a:solidFill>
              <a:srgbClr val="DCFCE7"/>
            </a:solidFill>
            <a:prstDash val="solid"/>
          </a:ln>
          <a:effectLst>
            <a:outerShdw blurRad="76200" dist="254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7" name="Shape 50"/>
          <p:cNvSpPr/>
          <p:nvPr/>
        </p:nvSpPr>
        <p:spPr>
          <a:xfrm>
            <a:off x="8065922" y="4839005"/>
            <a:ext cx="381305" cy="381305"/>
          </a:xfrm>
          <a:prstGeom prst="ellipse">
            <a:avLst/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8" name="Image 15" descr="preencoded.png"/>
          <p:cNvPicPr>
            <a:picLocks noChangeAspect="1"/>
          </p:cNvPicPr>
          <p:nvPr/>
        </p:nvPicPr>
        <p:blipFill>
          <a:blip r:embed="rId18"/>
          <a:srcRect t="-20192" b="-20192"/>
          <a:stretch/>
        </p:blipFill>
        <p:spPr>
          <a:xfrm>
            <a:off x="8137246" y="4895698"/>
            <a:ext cx="237744" cy="267005"/>
          </a:xfrm>
          <a:prstGeom prst="rect">
            <a:avLst/>
          </a:prstGeom>
        </p:spPr>
      </p:pic>
      <p:sp>
        <p:nvSpPr>
          <p:cNvPr id="69" name="Text 51"/>
          <p:cNvSpPr txBox="1"/>
          <p:nvPr/>
        </p:nvSpPr>
        <p:spPr>
          <a:xfrm>
            <a:off x="8599932" y="4858207"/>
            <a:ext cx="12481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-26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Signaling</a:t>
            </a:r>
            <a:endParaRPr lang="en-US" sz="1000" dirty="0"/>
          </a:p>
        </p:txBody>
      </p:sp>
      <p:sp>
        <p:nvSpPr>
          <p:cNvPr id="70" name="Text 52"/>
          <p:cNvSpPr txBox="1"/>
          <p:nvPr/>
        </p:nvSpPr>
        <p:spPr>
          <a:xfrm>
            <a:off x="8599932" y="5048402"/>
            <a:ext cx="12481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over tax</a:t>
            </a:r>
            <a:endParaRPr lang="en-US" sz="900" dirty="0"/>
          </a:p>
        </p:txBody>
      </p:sp>
      <p:sp>
        <p:nvSpPr>
          <p:cNvPr id="71" name="Shape 53"/>
          <p:cNvSpPr/>
          <p:nvPr/>
        </p:nvSpPr>
        <p:spPr>
          <a:xfrm>
            <a:off x="6458407" y="5533949"/>
            <a:ext cx="4914900" cy="9144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54"/>
          <p:cNvSpPr txBox="1"/>
          <p:nvPr/>
        </p:nvSpPr>
        <p:spPr>
          <a:xfrm>
            <a:off x="8609076" y="5619902"/>
            <a:ext cx="6958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</a:t>
            </a:r>
            <a:endParaRPr lang="en-US" sz="900" dirty="0"/>
          </a:p>
        </p:txBody>
      </p:sp>
      <p:pic>
        <p:nvPicPr>
          <p:cNvPr id="73" name="Image 16" descr="preencoded.png"/>
          <p:cNvPicPr>
            <a:picLocks noChangeAspect="1"/>
          </p:cNvPicPr>
          <p:nvPr/>
        </p:nvPicPr>
        <p:blipFill>
          <a:blip r:embed="rId19"/>
          <a:srcRect l="-36" r="-36"/>
          <a:stretch/>
        </p:blipFill>
        <p:spPr>
          <a:xfrm>
            <a:off x="6458407" y="5810098"/>
            <a:ext cx="4914900" cy="418795"/>
          </a:xfrm>
          <a:prstGeom prst="rect">
            <a:avLst/>
          </a:prstGeom>
        </p:spPr>
      </p:pic>
      <p:sp>
        <p:nvSpPr>
          <p:cNvPr id="74" name="Shape 55"/>
          <p:cNvSpPr/>
          <p:nvPr/>
        </p:nvSpPr>
        <p:spPr>
          <a:xfrm>
            <a:off x="6458407" y="5810098"/>
            <a:ext cx="4914900" cy="41879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56"/>
          <p:cNvSpPr/>
          <p:nvPr/>
        </p:nvSpPr>
        <p:spPr>
          <a:xfrm>
            <a:off x="6458407" y="5810098"/>
            <a:ext cx="491490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Earned Loyalty</a:t>
            </a:r>
            <a:endParaRPr lang="en-US" sz="1500" dirty="0"/>
          </a:p>
        </p:txBody>
      </p:sp>
      <p:sp>
        <p:nvSpPr>
          <p:cNvPr id="76" name="Shape 57"/>
          <p:cNvSpPr/>
          <p:nvPr/>
        </p:nvSpPr>
        <p:spPr>
          <a:xfrm>
            <a:off x="609905" y="6515100"/>
            <a:ext cx="10972800" cy="2670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58"/>
          <p:cNvSpPr/>
          <p:nvPr/>
        </p:nvSpPr>
        <p:spPr>
          <a:xfrm>
            <a:off x="609905" y="6515100"/>
            <a:ext cx="10972800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59"/>
          <p:cNvSpPr txBox="1"/>
          <p:nvPr/>
        </p:nvSpPr>
        <p:spPr>
          <a:xfrm>
            <a:off x="609905" y="6601054"/>
            <a:ext cx="13908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Comparison</a:t>
            </a:r>
            <a:endParaRPr lang="en-US" sz="800" dirty="0"/>
          </a:p>
        </p:txBody>
      </p:sp>
      <p:sp>
        <p:nvSpPr>
          <p:cNvPr id="79" name="Text 60"/>
          <p:cNvSpPr txBox="1"/>
          <p:nvPr/>
        </p:nvSpPr>
        <p:spPr>
          <a:xfrm>
            <a:off x="10233965" y="6601054"/>
            <a:ext cx="16102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Innovatr Beauty Insights 2026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rcRect/>
          <a:stretch/>
        </p:blipFill>
        <p:spPr>
          <a:xfrm>
            <a:off x="7810805" y="-381305"/>
            <a:ext cx="4762195" cy="47621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81305" y="6457493"/>
            <a:ext cx="1218895" cy="1920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81305" y="5257800"/>
            <a:ext cx="19202" cy="1218895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95605" y="800100"/>
            <a:ext cx="2609698" cy="685800"/>
          </a:xfrm>
          <a:prstGeom prst="roundRect">
            <a:avLst>
              <a:gd name="adj" fmla="val 14815"/>
            </a:avLst>
          </a:prstGeom>
          <a:solidFill>
            <a:srgbClr val="FDE047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609905" y="1390802"/>
            <a:ext cx="761695" cy="5760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09905" y="1676095"/>
            <a:ext cx="8641994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Gentle isn't weak. It is </a:t>
            </a:r>
            <a:r>
              <a:rPr lang="en-US" sz="2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dominance</a:t>
            </a:r>
            <a:r>
              <a:rPr lang="en-US" sz="2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While aggression creates resistance, softness bypasses it to build deeper loyalty. 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609905" y="2842870"/>
            <a:ext cx="57607" cy="1580998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 txBox="1"/>
          <p:nvPr/>
        </p:nvSpPr>
        <p:spPr>
          <a:xfrm>
            <a:off x="895198" y="2842870"/>
            <a:ext cx="47439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4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CeraVe Effect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95198" y="3185770"/>
            <a:ext cx="4705502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Boring packaging and "medical" cues have overtaken heritage luxury. Gen Z is trading thrill for trust—making clinical safety the ultimate flex.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286500" y="2842870"/>
            <a:ext cx="57607" cy="158099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6572707" y="2842870"/>
            <a:ext cx="47439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4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Drivers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572707" y="3185770"/>
            <a:ext cx="4705502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"Barrier Support" claims are outpacing "Potent Actives" by 3x. Consumers are searching for recovery solutions, prioritizing health over correction.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09905" y="4881982"/>
            <a:ext cx="57607" cy="1276502"/>
          </a:xfrm>
          <a:prstGeom prst="rect">
            <a:avLst/>
          </a:prstGeom>
          <a:solidFill>
            <a:srgbClr val="FDE047"/>
          </a:solidFill>
          <a:ln w="12700">
            <a:solidFill>
              <a:srgbClr val="FDE0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 txBox="1"/>
          <p:nvPr/>
        </p:nvSpPr>
        <p:spPr>
          <a:xfrm>
            <a:off x="895198" y="4881982"/>
            <a:ext cx="47439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4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Niche to Empire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895198" y="5224882"/>
            <a:ext cx="4705502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Brands like </a:t>
            </a:r>
            <a:r>
              <a:rPr lang="en-US" sz="15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Tower 28</a:t>
            </a: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turned "sensitive skin"—formerly a medical niche—into a lifestyle aesthetic, proving exclusion is no longer premium. 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6286500" y="4881982"/>
            <a:ext cx="57607" cy="127650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 txBox="1"/>
          <p:nvPr/>
        </p:nvSpPr>
        <p:spPr>
          <a:xfrm>
            <a:off x="6572707" y="4881982"/>
            <a:ext cx="47439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4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Routine Reset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6572707" y="5224882"/>
            <a:ext cx="4705502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10-step exfoliation to "Skin Flooding." The ritual has shifted from stripping the skin to feeding it. Rest days are now part of the regimen.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609905" y="914400"/>
            <a:ext cx="2980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8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 Power.</a:t>
            </a:r>
            <a:endParaRPr lang="en-US" sz="3600" dirty="0"/>
          </a:p>
        </p:txBody>
      </p:sp>
      <p:sp>
        <p:nvSpPr>
          <p:cNvPr id="23" name="Text 19"/>
          <p:cNvSpPr txBox="1"/>
          <p:nvPr/>
        </p:nvSpPr>
        <p:spPr>
          <a:xfrm>
            <a:off x="609905" y="381305"/>
            <a:ext cx="190195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Advantage</a:t>
            </a:r>
            <a:endParaRPr lang="en-US" sz="9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 t="876" b="876"/>
          <a:stretch/>
        </p:blipFill>
        <p:spPr>
          <a:xfrm>
            <a:off x="11264494" y="381305"/>
            <a:ext cx="323698" cy="3044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9905" y="1772107"/>
            <a:ext cx="3457346" cy="4629607"/>
          </a:xfrm>
          <a:prstGeom prst="roundRect">
            <a:avLst>
              <a:gd name="adj" fmla="val 2332"/>
            </a:avLst>
          </a:prstGeom>
          <a:solidFill>
            <a:srgbClr val="A78B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7395" y="1809598"/>
            <a:ext cx="3381451" cy="4552798"/>
          </a:xfrm>
          <a:prstGeom prst="roundRect">
            <a:avLst>
              <a:gd name="adj" fmla="val 213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6054" y="2048256"/>
            <a:ext cx="609905" cy="6099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25626" y="2180844"/>
            <a:ext cx="2103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3359506" y="2048256"/>
            <a:ext cx="67757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🧘‍♀️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886054" y="2885846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 No. 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86054" y="3114446"/>
            <a:ext cx="302026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Calm &gt; Change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86054" y="3476549"/>
            <a:ext cx="2905049" cy="390449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86054" y="3476549"/>
            <a:ext cx="2905963" cy="391363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for calm, not change.</a:t>
            </a:r>
            <a:endParaRPr lang="en-US" sz="13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l="-13" r="-13"/>
          <a:stretch/>
        </p:blipFill>
        <p:spPr>
          <a:xfrm>
            <a:off x="886054" y="4176979"/>
            <a:ext cx="2902306" cy="194767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37844" y="4328770"/>
            <a:ext cx="26773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"New Formula" panic:</a:t>
            </a:r>
            <a:r>
              <a:rPr lang="en-US" sz="10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Emphasize heritage &amp; consistency.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037844" y="4876495"/>
            <a:ext cx="26773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Tactile reassurance:</a:t>
            </a:r>
            <a:r>
              <a:rPr lang="en-US" sz="10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Soft-touch textures, minimal sensory noise.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1037844" y="5424221"/>
            <a:ext cx="26773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Ex:</a:t>
            </a:r>
            <a:r>
              <a:rPr lang="en-US" sz="10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Dove sells the </a:t>
            </a:r>
            <a:r>
              <a:rPr lang="en-US" sz="1000" i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feeling</a:t>
            </a:r>
            <a:r>
              <a:rPr lang="en-US" sz="10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care, not the science.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369003" y="1772107"/>
            <a:ext cx="3457346" cy="4629607"/>
          </a:xfrm>
          <a:prstGeom prst="roundRect">
            <a:avLst>
              <a:gd name="adj" fmla="val 2332"/>
            </a:avLst>
          </a:prstGeom>
          <a:solidFill>
            <a:srgbClr val="00E5A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406494" y="1809598"/>
            <a:ext cx="3381451" cy="4552798"/>
          </a:xfrm>
          <a:prstGeom prst="roundRect">
            <a:avLst>
              <a:gd name="adj" fmla="val 213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45152" y="2048256"/>
            <a:ext cx="609905" cy="60990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857293" y="2180844"/>
            <a:ext cx="2670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7118604" y="2048256"/>
            <a:ext cx="63185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🛡️</a:t>
            </a:r>
            <a:endParaRPr lang="en-US" sz="2700" dirty="0"/>
          </a:p>
        </p:txBody>
      </p:sp>
      <p:sp>
        <p:nvSpPr>
          <p:cNvPr id="22" name="Text 17"/>
          <p:cNvSpPr txBox="1"/>
          <p:nvPr/>
        </p:nvSpPr>
        <p:spPr>
          <a:xfrm>
            <a:off x="4645152" y="2885846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 No. 2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4645152" y="3114446"/>
            <a:ext cx="302026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&gt; Solutions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4645152" y="3476549"/>
            <a:ext cx="2905049" cy="390449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4645152" y="3476549"/>
            <a:ext cx="2905963" cy="391363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 safety, not solutions.</a:t>
            </a:r>
            <a:endParaRPr lang="en-US" sz="13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5"/>
          <a:srcRect l="-10" r="-10"/>
          <a:stretch/>
        </p:blipFill>
        <p:spPr>
          <a:xfrm>
            <a:off x="4645152" y="4176979"/>
            <a:ext cx="2902306" cy="194767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4796942" y="4328770"/>
            <a:ext cx="26773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Hierarchy shift:</a:t>
            </a:r>
            <a:r>
              <a:rPr lang="en-US" sz="10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"Derm Tested" &gt; Active percentages.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4796942" y="4876495"/>
            <a:ext cx="26773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language:</a:t>
            </a:r>
            <a:r>
              <a:rPr lang="en-US" sz="10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Repair animations, not peeling/stripping.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4796942" y="5424221"/>
            <a:ext cx="26773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Tactics:</a:t>
            </a:r>
            <a:r>
              <a:rPr lang="en-US" sz="10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"100% Protected" replaces "10x Younger".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8128102" y="1772107"/>
            <a:ext cx="3457346" cy="4629607"/>
          </a:xfrm>
          <a:prstGeom prst="roundRect">
            <a:avLst>
              <a:gd name="adj" fmla="val 2332"/>
            </a:avLst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8166506" y="1809598"/>
            <a:ext cx="3381451" cy="4552798"/>
          </a:xfrm>
          <a:prstGeom prst="roundRect">
            <a:avLst>
              <a:gd name="adj" fmla="val 213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404250" y="2048256"/>
            <a:ext cx="609905" cy="60990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8613648" y="2180844"/>
            <a:ext cx="2770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200" dirty="0"/>
          </a:p>
        </p:txBody>
      </p:sp>
      <p:sp>
        <p:nvSpPr>
          <p:cNvPr id="34" name="Text 27"/>
          <p:cNvSpPr txBox="1"/>
          <p:nvPr/>
        </p:nvSpPr>
        <p:spPr>
          <a:xfrm>
            <a:off x="10877702" y="2048256"/>
            <a:ext cx="5056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🔄</a:t>
            </a:r>
            <a:endParaRPr lang="en-US" sz="2700" dirty="0"/>
          </a:p>
        </p:txBody>
      </p:sp>
      <p:sp>
        <p:nvSpPr>
          <p:cNvPr id="35" name="Text 28"/>
          <p:cNvSpPr txBox="1"/>
          <p:nvPr/>
        </p:nvSpPr>
        <p:spPr>
          <a:xfrm>
            <a:off x="8404250" y="2885846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 No. 3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8404250" y="3114446"/>
            <a:ext cx="302026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Routine &gt; Results</a:t>
            </a:r>
            <a:endParaRPr lang="en-US" sz="1800" dirty="0"/>
          </a:p>
        </p:txBody>
      </p:sp>
      <p:sp>
        <p:nvSpPr>
          <p:cNvPr id="37" name="Shape 30"/>
          <p:cNvSpPr/>
          <p:nvPr/>
        </p:nvSpPr>
        <p:spPr>
          <a:xfrm>
            <a:off x="8404250" y="3476549"/>
            <a:ext cx="2905049" cy="390449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1"/>
          <p:cNvSpPr/>
          <p:nvPr/>
        </p:nvSpPr>
        <p:spPr>
          <a:xfrm>
            <a:off x="8404250" y="3476549"/>
            <a:ext cx="2905963" cy="391363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routine, not results.</a:t>
            </a:r>
            <a:endParaRPr lang="en-US" sz="1300" dirty="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4"/>
          <a:srcRect l="-13" r="-13"/>
          <a:stretch/>
        </p:blipFill>
        <p:spPr>
          <a:xfrm>
            <a:off x="8404250" y="4176979"/>
            <a:ext cx="2902306" cy="1947672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8556955" y="4328770"/>
            <a:ext cx="26773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 the ritual:</a:t>
            </a:r>
            <a:r>
              <a:rPr lang="en-US" sz="10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mental reset, not just the outcome.</a:t>
            </a:r>
            <a:endParaRPr lang="en-US" sz="1000" dirty="0"/>
          </a:p>
        </p:txBody>
      </p:sp>
      <p:sp>
        <p:nvSpPr>
          <p:cNvPr id="41" name="Text 33"/>
          <p:cNvSpPr txBox="1"/>
          <p:nvPr/>
        </p:nvSpPr>
        <p:spPr>
          <a:xfrm>
            <a:off x="8556955" y="4876495"/>
            <a:ext cx="26773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Retention metric:</a:t>
            </a:r>
            <a:r>
              <a:rPr lang="en-US" sz="10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Reward streaks over one-off trials.</a:t>
            </a:r>
            <a:endParaRPr lang="en-US" sz="1000" dirty="0"/>
          </a:p>
        </p:txBody>
      </p:sp>
      <p:sp>
        <p:nvSpPr>
          <p:cNvPr id="42" name="Text 34"/>
          <p:cNvSpPr txBox="1"/>
          <p:nvPr/>
        </p:nvSpPr>
        <p:spPr>
          <a:xfrm>
            <a:off x="8556955" y="5424221"/>
            <a:ext cx="26773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 tweak:</a:t>
            </a:r>
            <a:r>
              <a:rPr lang="en-US" sz="10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"Your daily peace" instead of "Instant Fix".</a:t>
            </a:r>
            <a:endParaRPr lang="en-US" sz="1000" dirty="0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6"/>
          <a:srcRect t="-450" b="-450"/>
          <a:stretch/>
        </p:blipFill>
        <p:spPr>
          <a:xfrm>
            <a:off x="609905" y="362102"/>
            <a:ext cx="304495" cy="38405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1028700" y="304495"/>
            <a:ext cx="17245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Mandate</a:t>
            </a:r>
            <a:endParaRPr lang="en-US" sz="900" dirty="0"/>
          </a:p>
        </p:txBody>
      </p:sp>
      <p:sp>
        <p:nvSpPr>
          <p:cNvPr id="45" name="Text 36"/>
          <p:cNvSpPr txBox="1"/>
          <p:nvPr/>
        </p:nvSpPr>
        <p:spPr>
          <a:xfrm>
            <a:off x="609905" y="533095"/>
            <a:ext cx="275417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new rules</a:t>
            </a:r>
            <a:endParaRPr lang="en-US" sz="2700" dirty="0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7"/>
          <a:srcRect t="282" b="281"/>
          <a:stretch/>
        </p:blipFill>
        <p:spPr>
          <a:xfrm>
            <a:off x="11184941" y="342900"/>
            <a:ext cx="400507" cy="381305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609905" y="990295"/>
            <a:ext cx="111639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75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Stop selling transformation.</a:t>
            </a:r>
            <a:r>
              <a:rPr lang="en-US" sz="3000" b="1" kern="0" spc="-75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selling safety.</a:t>
            </a:r>
            <a:endParaRPr lang="en-US" sz="3000" dirty="0"/>
          </a:p>
        </p:txBody>
      </p:sp>
      <p:sp>
        <p:nvSpPr>
          <p:cNvPr id="48" name="Shape 38"/>
          <p:cNvSpPr/>
          <p:nvPr/>
        </p:nvSpPr>
        <p:spPr>
          <a:xfrm>
            <a:off x="0" y="6391656"/>
            <a:ext cx="12191695" cy="4663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39"/>
          <p:cNvSpPr/>
          <p:nvPr/>
        </p:nvSpPr>
        <p:spPr>
          <a:xfrm>
            <a:off x="0" y="63916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0" name="Image 8" descr="preencoded.png"/>
          <p:cNvPicPr>
            <a:picLocks noChangeAspect="1"/>
          </p:cNvPicPr>
          <p:nvPr/>
        </p:nvPicPr>
        <p:blipFill>
          <a:blip r:embed="rId8"/>
          <a:srcRect t="-14341" b="-14341"/>
          <a:stretch/>
        </p:blipFill>
        <p:spPr>
          <a:xfrm>
            <a:off x="609905" y="6553505"/>
            <a:ext cx="133502" cy="152705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819302" y="6553505"/>
            <a:ext cx="1924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Action Framework</a:t>
            </a:r>
            <a:endParaRPr lang="en-US" sz="800" dirty="0"/>
          </a:p>
        </p:txBody>
      </p:sp>
      <p:sp>
        <p:nvSpPr>
          <p:cNvPr id="52" name="Text 41"/>
          <p:cNvSpPr txBox="1"/>
          <p:nvPr/>
        </p:nvSpPr>
        <p:spPr>
          <a:xfrm>
            <a:off x="11131906" y="6558077"/>
            <a:ext cx="5340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2026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407701" y="6229807"/>
            <a:ext cx="362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POV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2029" r="-2029"/>
          <a:stretch/>
        </p:blipFill>
        <p:spPr>
          <a:xfrm>
            <a:off x="10837469" y="6301130"/>
            <a:ext cx="304495" cy="91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294669" y="6210605"/>
            <a:ext cx="2194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28446" y="1577340"/>
            <a:ext cx="10534802" cy="2076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800" b="1" kern="0" spc="-12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Beauty innovation isn't moving away from performance.</a:t>
            </a:r>
            <a:endParaRPr lang="en-US" sz="4800" dirty="0"/>
          </a:p>
          <a:p>
            <a:pPr marL="0" indent="0" algn="ctr">
              <a:buNone/>
            </a:pPr>
            <a:r>
              <a:rPr lang="en-US" sz="4800" b="1" kern="0" spc="-12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died.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808683" y="4259275"/>
            <a:ext cx="8585302" cy="141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What replaced it: consistency, predictability, emotional safety.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question isn't </a:t>
            </a:r>
            <a:r>
              <a:rPr lang="en-US" sz="2200" i="1" dirty="0">
                <a:solidFill>
                  <a:srgbClr val="6B7280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"Does it work?"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It's </a:t>
            </a:r>
            <a:r>
              <a:rPr lang="en-US" sz="2200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"Will it hurt me?"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0" y="0"/>
            <a:ext cx="152705" cy="68580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914400" y="700430"/>
            <a:ext cx="457200" cy="91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24305" y="609905"/>
            <a:ext cx="14100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1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Innovatr POV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10162642" y="609905"/>
            <a:ext cx="1276502" cy="381305"/>
          </a:xfrm>
          <a:prstGeom prst="rect">
            <a:avLst/>
          </a:prstGeom>
          <a:noFill/>
          <a:ln w="254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10334549" y="705002"/>
            <a:ext cx="10104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75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INNOVATR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47395" y="5108752"/>
            <a:ext cx="10972800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647395" y="5232196"/>
            <a:ext cx="269473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Innovatr Intelligence | Beauty Q1 2026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9666122" y="5232196"/>
            <a:ext cx="212689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/// Confidential Strategy Deck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609905" y="3014436"/>
            <a:ext cx="109728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5"/>
          <p:cNvSpPr txBox="1"/>
          <p:nvPr/>
        </p:nvSpPr>
        <p:spPr>
          <a:xfrm>
            <a:off x="609905" y="914400"/>
            <a:ext cx="657270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kern="0" spc="-9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isn't retail.</a:t>
            </a:r>
            <a:r>
              <a:rPr lang="en-US" sz="3600" dirty="0"/>
              <a:t> </a:t>
            </a:r>
            <a:r>
              <a:rPr lang="en-US" sz="3600" b="1" kern="0" spc="-90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It's a reckoning.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647395" y="1533448"/>
            <a:ext cx="64776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South Africa saw it first. The rest of the beauty world is just catching up.</a:t>
            </a:r>
            <a:endParaRPr lang="en-US" sz="15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rcRect l="-23" r="-23"/>
          <a:stretch/>
        </p:blipFill>
        <p:spPr>
          <a:xfrm>
            <a:off x="9134924" y="1031444"/>
            <a:ext cx="2556662" cy="852221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296773" y="1229868"/>
            <a:ext cx="457200" cy="4572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9296773" y="1229868"/>
            <a:ext cx="457200" cy="457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9296773" y="1229868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9906678" y="1193292"/>
            <a:ext cx="17053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Signal</a:t>
            </a:r>
            <a:endParaRPr lang="en-US" sz="800" dirty="0"/>
          </a:p>
        </p:txBody>
      </p:sp>
      <p:sp>
        <p:nvSpPr>
          <p:cNvPr id="15" name="Text 10"/>
          <p:cNvSpPr txBox="1"/>
          <p:nvPr/>
        </p:nvSpPr>
        <p:spPr>
          <a:xfrm>
            <a:off x="9906678" y="1356056"/>
            <a:ext cx="169438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Private Label </a:t>
            </a:r>
            <a:r>
              <a:rPr lang="en-US" sz="1000" b="1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+20.5%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outpacing global brands. </a:t>
            </a:r>
            <a:endParaRPr lang="en-US" sz="1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rcRect t="-11" b="-11"/>
          <a:stretch/>
        </p:blipFill>
        <p:spPr>
          <a:xfrm>
            <a:off x="647395" y="2074432"/>
            <a:ext cx="3504895" cy="222199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600907" y="2264627"/>
            <a:ext cx="4764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E5E7EB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700" dirty="0"/>
          </a:p>
        </p:txBody>
      </p:sp>
      <p:sp>
        <p:nvSpPr>
          <p:cNvPr id="18" name="Shape 12"/>
          <p:cNvSpPr/>
          <p:nvPr/>
        </p:nvSpPr>
        <p:spPr>
          <a:xfrm>
            <a:off x="875995" y="2340522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rcRect l="-1282" r="-1282"/>
          <a:stretch/>
        </p:blipFill>
        <p:spPr>
          <a:xfrm>
            <a:off x="994867" y="2474024"/>
            <a:ext cx="219456" cy="19019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75995" y="2950427"/>
            <a:ext cx="31629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4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Redefined</a:t>
            </a:r>
            <a:endParaRPr lang="en-US" sz="16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7"/>
          <a:srcRect l="-2078" r="-2078"/>
          <a:stretch/>
        </p:blipFill>
        <p:spPr>
          <a:xfrm>
            <a:off x="875995" y="3293327"/>
            <a:ext cx="3047695" cy="9144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875995" y="3417685"/>
            <a:ext cx="3124505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definition of "efficacy" has shifted from </a:t>
            </a:r>
            <a:r>
              <a:rPr lang="en-US" sz="11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Transformation</a:t>
            </a:r>
            <a:r>
              <a:rPr lang="en-US" sz="11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</a:t>
            </a:r>
            <a:r>
              <a:rPr lang="en-US" sz="1100" b="1" dirty="0">
                <a:solidFill>
                  <a:srgbClr val="00E5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Restoration</a:t>
            </a:r>
            <a:r>
              <a:rPr lang="en-US" sz="11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Consumers are buying peace, not promises. </a:t>
            </a:r>
            <a:endParaRPr lang="en-US" sz="11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5"/>
          <a:srcRect t="-11" b="-11"/>
          <a:stretch/>
        </p:blipFill>
        <p:spPr>
          <a:xfrm>
            <a:off x="4380890" y="2074432"/>
            <a:ext cx="3504895" cy="2221992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7268565" y="2264627"/>
            <a:ext cx="5431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E5E7EB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700" dirty="0"/>
          </a:p>
        </p:txBody>
      </p:sp>
      <p:sp>
        <p:nvSpPr>
          <p:cNvPr id="25" name="Shape 16"/>
          <p:cNvSpPr/>
          <p:nvPr/>
        </p:nvSpPr>
        <p:spPr>
          <a:xfrm>
            <a:off x="4609490" y="2340522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FEFCE8"/>
          </a:solidFill>
          <a:ln w="12700">
            <a:solidFill>
              <a:srgbClr val="FEF9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742992" y="2474024"/>
            <a:ext cx="190195" cy="190195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4609490" y="2950427"/>
            <a:ext cx="31629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4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is Currency</a:t>
            </a:r>
            <a:endParaRPr lang="en-US" sz="160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7"/>
          <a:srcRect l="-2078" r="-2078"/>
          <a:stretch/>
        </p:blipFill>
        <p:spPr>
          <a:xfrm>
            <a:off x="4609490" y="3293327"/>
            <a:ext cx="3047695" cy="9144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4609490" y="3417685"/>
            <a:ext cx="3124505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Trust is the new premium. Brands that lead with </a:t>
            </a:r>
            <a:r>
              <a:rPr lang="en-US" sz="1100" b="1" dirty="0">
                <a:solidFill>
                  <a:srgbClr val="A1620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Barrier Care</a:t>
            </a:r>
            <a:r>
              <a:rPr lang="en-US" sz="11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simplified routines are winning the loyalty war. </a:t>
            </a:r>
            <a:endParaRPr lang="en-US" sz="1100" dirty="0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5"/>
          <a:srcRect t="-11" b="-11"/>
          <a:stretch/>
        </p:blipFill>
        <p:spPr>
          <a:xfrm>
            <a:off x="8114385" y="2074432"/>
            <a:ext cx="3504895" cy="2221992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10993831" y="2264627"/>
            <a:ext cx="5532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E5E7EB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700" dirty="0"/>
          </a:p>
        </p:txBody>
      </p:sp>
      <p:sp>
        <p:nvSpPr>
          <p:cNvPr id="32" name="Shape 20"/>
          <p:cNvSpPr/>
          <p:nvPr/>
        </p:nvSpPr>
        <p:spPr>
          <a:xfrm>
            <a:off x="8342985" y="2340522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FAF5FF"/>
          </a:solidFill>
          <a:ln w="12700">
            <a:solidFill>
              <a:srgbClr val="F3E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9"/>
          <a:srcRect l="-1282" r="-1282"/>
          <a:stretch/>
        </p:blipFill>
        <p:spPr>
          <a:xfrm>
            <a:off x="8462772" y="2474024"/>
            <a:ext cx="219456" cy="190195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8342985" y="2950427"/>
            <a:ext cx="31629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4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New Mandate</a:t>
            </a:r>
            <a:endParaRPr lang="en-US" sz="1600" dirty="0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7"/>
          <a:srcRect l="-2078" r="-2078"/>
          <a:stretch/>
        </p:blipFill>
        <p:spPr>
          <a:xfrm>
            <a:off x="8342985" y="3293327"/>
            <a:ext cx="3047695" cy="9144"/>
          </a:xfrm>
          <a:prstGeom prst="rect">
            <a:avLst/>
          </a:prstGeom>
        </p:spPr>
      </p:pic>
      <p:sp>
        <p:nvSpPr>
          <p:cNvPr id="36" name="Text 22"/>
          <p:cNvSpPr txBox="1"/>
          <p:nvPr/>
        </p:nvSpPr>
        <p:spPr>
          <a:xfrm>
            <a:off x="8342985" y="3417685"/>
            <a:ext cx="3124505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Stop selling "fixing." Start selling "supporting." The era of </a:t>
            </a:r>
            <a:r>
              <a:rPr lang="en-US" sz="1100" b="1" dirty="0">
                <a:solidFill>
                  <a:srgbClr val="9333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Aggressive Beauty</a:t>
            </a:r>
            <a:r>
              <a:rPr lang="en-US" sz="11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officially over. </a:t>
            </a:r>
            <a:endParaRPr lang="en-US" sz="1100" dirty="0"/>
          </a:p>
        </p:txBody>
      </p:sp>
      <p:sp>
        <p:nvSpPr>
          <p:cNvPr id="37" name="Shape 23"/>
          <p:cNvSpPr/>
          <p:nvPr/>
        </p:nvSpPr>
        <p:spPr>
          <a:xfrm>
            <a:off x="647395" y="4558283"/>
            <a:ext cx="10972800" cy="2038198"/>
          </a:xfrm>
          <a:prstGeom prst="roundRect">
            <a:avLst>
              <a:gd name="adj" fmla="val 2516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10">
            <a:alphaModFix amt="50000"/>
          </a:blip>
          <a:srcRect l="-7" r="-7"/>
          <a:stretch/>
        </p:blipFill>
        <p:spPr>
          <a:xfrm>
            <a:off x="656539" y="4568341"/>
            <a:ext cx="10953598" cy="2018995"/>
          </a:xfrm>
          <a:prstGeom prst="rect">
            <a:avLst/>
          </a:prstGeom>
        </p:spPr>
      </p:pic>
      <p:sp>
        <p:nvSpPr>
          <p:cNvPr id="39" name="Text 24"/>
          <p:cNvSpPr txBox="1"/>
          <p:nvPr/>
        </p:nvSpPr>
        <p:spPr>
          <a:xfrm>
            <a:off x="961034" y="4872837"/>
            <a:ext cx="59920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40" name="Text 25"/>
          <p:cNvSpPr txBox="1"/>
          <p:nvPr/>
        </p:nvSpPr>
        <p:spPr>
          <a:xfrm>
            <a:off x="1289304" y="5139841"/>
            <a:ext cx="623895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It's a vibe shift, not a recession. Spending hasn't stopped; it's just smarter.</a:t>
            </a:r>
            <a:endParaRPr lang="en-US" sz="1200" dirty="0"/>
          </a:p>
        </p:txBody>
      </p:sp>
      <p:sp>
        <p:nvSpPr>
          <p:cNvPr id="41" name="Text 26"/>
          <p:cNvSpPr txBox="1"/>
          <p:nvPr/>
        </p:nvSpPr>
        <p:spPr>
          <a:xfrm>
            <a:off x="1289304" y="5558637"/>
            <a:ext cx="59820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Simplicity &gt; Complexity. 5-step routines are replacing 12-step burdens.</a:t>
            </a:r>
            <a:endParaRPr lang="en-US" sz="1200" dirty="0"/>
          </a:p>
        </p:txBody>
      </p:sp>
      <p:sp>
        <p:nvSpPr>
          <p:cNvPr id="42" name="Text 27"/>
          <p:cNvSpPr txBox="1"/>
          <p:nvPr/>
        </p:nvSpPr>
        <p:spPr>
          <a:xfrm>
            <a:off x="1289304" y="5977432"/>
            <a:ext cx="59628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 consumers demand realness. Hype without proof is dead on arrival.</a:t>
            </a:r>
            <a:endParaRPr lang="en-US" sz="1200" dirty="0"/>
          </a:p>
        </p:txBody>
      </p:sp>
      <p:sp>
        <p:nvSpPr>
          <p:cNvPr id="43" name="Shape 28"/>
          <p:cNvSpPr/>
          <p:nvPr/>
        </p:nvSpPr>
        <p:spPr>
          <a:xfrm>
            <a:off x="8448141" y="5120639"/>
            <a:ext cx="19202" cy="91440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mage 13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771839" y="5120639"/>
            <a:ext cx="381305" cy="381305"/>
          </a:xfrm>
          <a:prstGeom prst="rect">
            <a:avLst/>
          </a:prstGeom>
        </p:spPr>
      </p:pic>
      <p:pic>
        <p:nvPicPr>
          <p:cNvPr id="45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896197" y="5244083"/>
            <a:ext cx="133502" cy="133502"/>
          </a:xfrm>
          <a:prstGeom prst="rect">
            <a:avLst/>
          </a:prstGeom>
        </p:spPr>
      </p:pic>
      <p:sp>
        <p:nvSpPr>
          <p:cNvPr id="46" name="Text 29"/>
          <p:cNvSpPr txBox="1"/>
          <p:nvPr/>
        </p:nvSpPr>
        <p:spPr>
          <a:xfrm>
            <a:off x="9267444" y="5125211"/>
            <a:ext cx="17529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 Intelligence</a:t>
            </a:r>
            <a:endParaRPr lang="en-US" sz="800" dirty="0"/>
          </a:p>
        </p:txBody>
      </p:sp>
      <p:sp>
        <p:nvSpPr>
          <p:cNvPr id="47" name="Text 30"/>
          <p:cNvSpPr txBox="1"/>
          <p:nvPr/>
        </p:nvSpPr>
        <p:spPr>
          <a:xfrm>
            <a:off x="9267444" y="5267857"/>
            <a:ext cx="19952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-30" dirty="0" err="1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Hannah@innovatr.co.za</a:t>
            </a:r>
            <a:endParaRPr lang="en-US" sz="1200" dirty="0"/>
          </a:p>
        </p:txBody>
      </p:sp>
      <p:pic>
        <p:nvPicPr>
          <p:cNvPr id="48" name="Image 15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771839" y="5653734"/>
            <a:ext cx="381305" cy="381305"/>
          </a:xfrm>
          <a:prstGeom prst="rect">
            <a:avLst/>
          </a:prstGeom>
        </p:spPr>
      </p:pic>
      <p:pic>
        <p:nvPicPr>
          <p:cNvPr id="49" name="Image 16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896197" y="5777178"/>
            <a:ext cx="133502" cy="133502"/>
          </a:xfrm>
          <a:prstGeom prst="rect">
            <a:avLst/>
          </a:prstGeom>
        </p:spPr>
      </p:pic>
      <p:sp>
        <p:nvSpPr>
          <p:cNvPr id="50" name="Text 31"/>
          <p:cNvSpPr txBox="1"/>
          <p:nvPr/>
        </p:nvSpPr>
        <p:spPr>
          <a:xfrm>
            <a:off x="9267444" y="5658306"/>
            <a:ext cx="15151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Website</a:t>
            </a:r>
            <a:endParaRPr lang="en-US" sz="800" dirty="0"/>
          </a:p>
        </p:txBody>
      </p:sp>
      <p:sp>
        <p:nvSpPr>
          <p:cNvPr id="51" name="Text 32"/>
          <p:cNvSpPr txBox="1"/>
          <p:nvPr/>
        </p:nvSpPr>
        <p:spPr>
          <a:xfrm>
            <a:off x="9267444" y="5800953"/>
            <a:ext cx="16943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-3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www.innovatr.co.za</a:t>
            </a:r>
            <a:endParaRPr lang="en-US" sz="1200" dirty="0"/>
          </a:p>
        </p:txBody>
      </p:sp>
      <p:pic>
        <p:nvPicPr>
          <p:cNvPr id="52" name="Image 17" descr="preencoded.png"/>
          <p:cNvPicPr>
            <a:picLocks noChangeAspect="1"/>
          </p:cNvPicPr>
          <p:nvPr/>
        </p:nvPicPr>
        <p:blipFill>
          <a:blip r:embed="rId15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53" name="Shape 33"/>
          <p:cNvSpPr/>
          <p:nvPr/>
        </p:nvSpPr>
        <p:spPr>
          <a:xfrm>
            <a:off x="609905" y="381305"/>
            <a:ext cx="75895" cy="304495"/>
          </a:xfrm>
          <a:prstGeom prst="rect">
            <a:avLst/>
          </a:prstGeom>
          <a:solidFill>
            <a:srgbClr val="FF52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34"/>
          <p:cNvSpPr txBox="1"/>
          <p:nvPr/>
        </p:nvSpPr>
        <p:spPr>
          <a:xfrm>
            <a:off x="800100" y="457200"/>
            <a:ext cx="17629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</a:t>
            </a:r>
            <a:endParaRPr lang="en-US" sz="900" dirty="0"/>
          </a:p>
        </p:txBody>
      </p:sp>
      <p:pic>
        <p:nvPicPr>
          <p:cNvPr id="55" name="Image 18" descr="preencoded.png"/>
          <p:cNvPicPr>
            <a:picLocks noChangeAspect="1"/>
          </p:cNvPicPr>
          <p:nvPr/>
        </p:nvPicPr>
        <p:blipFill>
          <a:blip r:embed="rId16"/>
          <a:srcRect t="876" b="876"/>
          <a:stretch/>
        </p:blipFill>
        <p:spPr>
          <a:xfrm>
            <a:off x="11264494" y="381305"/>
            <a:ext cx="323698" cy="30449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rcRect t="282" b="281"/>
          <a:stretch/>
        </p:blipFill>
        <p:spPr>
          <a:xfrm>
            <a:off x="11336731" y="457200"/>
            <a:ext cx="400507" cy="38130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1392631"/>
            <a:ext cx="8706002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11827"/>
                </a:solidFill>
                <a:latin typeface="DM Serif Display" pitchFamily="2" charset="0"/>
                <a:ea typeface="Playfair Display" pitchFamily="34" charset="-122"/>
                <a:cs typeface="Playfair Display" pitchFamily="34" charset="-120"/>
              </a:rPr>
              <a:t>The detail sits</a:t>
            </a:r>
            <a:endParaRPr lang="en-US" sz="4500" dirty="0">
              <a:latin typeface="DM Serif Display" pitchFamily="2" charset="0"/>
            </a:endParaRPr>
          </a:p>
          <a:p>
            <a:pPr marL="0" indent="0" algn="l">
              <a:buNone/>
            </a:pPr>
            <a:r>
              <a:rPr lang="en-US" sz="4500" b="1" dirty="0">
                <a:solidFill>
                  <a:srgbClr val="4169E1"/>
                </a:solidFill>
                <a:latin typeface="DM Serif Display" pitchFamily="2" charset="0"/>
                <a:ea typeface="Playfair Display" pitchFamily="34" charset="-122"/>
                <a:cs typeface="Playfair Display" pitchFamily="34" charset="-120"/>
              </a:rPr>
              <a:t>behind the data.</a:t>
            </a:r>
            <a:endParaRPr lang="en-US" sz="4500" dirty="0">
              <a:latin typeface="DM Serif Display" pitchFamily="2" charset="0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914400" y="3126334"/>
            <a:ext cx="6477610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This deck represents directional insight, not the full diagnostic. Innovatr members have access to the complete report, including deeper data cuts, category-specific formatting, and ongoing behavioral tracking.</a:t>
            </a: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914400" y="4283964"/>
            <a:ext cx="761695" cy="384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4855464"/>
            <a:ext cx="8649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access the full report: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914400" y="5293462"/>
            <a:ext cx="75895" cy="758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1104595" y="5198364"/>
            <a:ext cx="138348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innovatr.co.za</a:t>
            </a:r>
            <a:endParaRPr lang="en-US" sz="13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2567635" y="5293462"/>
            <a:ext cx="75895" cy="758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2758745" y="5198364"/>
            <a:ext cx="22384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hannah@innovatr.co.za</a:t>
            </a:r>
            <a:endParaRPr lang="en-US" sz="13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892</TotalTime>
  <Words>2318</Words>
  <Application>Microsoft Macintosh PowerPoint</Application>
  <PresentationFormat>Widescreen</PresentationFormat>
  <Paragraphs>363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DM Serif Display</vt:lpstr>
      <vt:lpstr>Inter</vt:lpstr>
      <vt:lpstr>Roboto</vt:lpstr>
      <vt:lpstr>ui-monospace</vt:lpstr>
      <vt:lpstr>ui-serif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Hannah Steven</cp:lastModifiedBy>
  <cp:revision>3</cp:revision>
  <dcterms:created xsi:type="dcterms:W3CDTF">2026-02-05T15:27:12Z</dcterms:created>
  <dcterms:modified xsi:type="dcterms:W3CDTF">2026-02-06T07:18:09Z</dcterms:modified>
</cp:coreProperties>
</file>