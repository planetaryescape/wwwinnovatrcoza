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860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9887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3.png"/><Relationship Id="rId7" Type="http://schemas.openxmlformats.org/officeDocument/2006/relationships/image" Target="../media/image28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1.png"/><Relationship Id="rId5" Type="http://schemas.openxmlformats.org/officeDocument/2006/relationships/image" Target="../media/image26.png"/><Relationship Id="rId10" Type="http://schemas.openxmlformats.org/officeDocument/2006/relationships/image" Target="../media/image30.png"/><Relationship Id="rId4" Type="http://schemas.openxmlformats.org/officeDocument/2006/relationships/image" Target="../media/image25.png"/><Relationship Id="rId9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3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.png"/><Relationship Id="rId9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3" Type="http://schemas.openxmlformats.org/officeDocument/2006/relationships/image" Target="../media/image3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3" Type="http://schemas.openxmlformats.org/officeDocument/2006/relationships/image" Target="../media/image3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6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5" Type="http://schemas.openxmlformats.org/officeDocument/2006/relationships/image" Target="../media/image6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Relationship Id="rId14" Type="http://schemas.openxmlformats.org/officeDocument/2006/relationships/image" Target="../media/image6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3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0" Type="http://schemas.openxmlformats.org/officeDocument/2006/relationships/image" Target="../media/image73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3.png"/><Relationship Id="rId7" Type="http://schemas.openxmlformats.org/officeDocument/2006/relationships/image" Target="../media/image8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10" Type="http://schemas.openxmlformats.org/officeDocument/2006/relationships/image" Target="../media/image90.png"/><Relationship Id="rId4" Type="http://schemas.openxmlformats.org/officeDocument/2006/relationships/image" Target="../media/image84.png"/><Relationship Id="rId9" Type="http://schemas.openxmlformats.org/officeDocument/2006/relationships/image" Target="../media/image8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13" Type="http://schemas.openxmlformats.org/officeDocument/2006/relationships/image" Target="../media/image103.png"/><Relationship Id="rId3" Type="http://schemas.openxmlformats.org/officeDocument/2006/relationships/image" Target="../media/image3.png"/><Relationship Id="rId7" Type="http://schemas.openxmlformats.org/officeDocument/2006/relationships/image" Target="../media/image97.png"/><Relationship Id="rId12" Type="http://schemas.openxmlformats.org/officeDocument/2006/relationships/image" Target="../media/image10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6.png"/><Relationship Id="rId11" Type="http://schemas.openxmlformats.org/officeDocument/2006/relationships/image" Target="../media/image101.png"/><Relationship Id="rId5" Type="http://schemas.openxmlformats.org/officeDocument/2006/relationships/image" Target="../media/image95.png"/><Relationship Id="rId10" Type="http://schemas.openxmlformats.org/officeDocument/2006/relationships/image" Target="../media/image100.png"/><Relationship Id="rId4" Type="http://schemas.openxmlformats.org/officeDocument/2006/relationships/image" Target="../media/image94.png"/><Relationship Id="rId9" Type="http://schemas.openxmlformats.org/officeDocument/2006/relationships/image" Target="../media/image99.png"/><Relationship Id="rId14" Type="http://schemas.openxmlformats.org/officeDocument/2006/relationships/image" Target="../media/image10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image" Target="../media/image3.png"/><Relationship Id="rId7" Type="http://schemas.openxmlformats.org/officeDocument/2006/relationships/image" Target="../media/image10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10" Type="http://schemas.openxmlformats.org/officeDocument/2006/relationships/image" Target="../media/image111.png"/><Relationship Id="rId4" Type="http://schemas.openxmlformats.org/officeDocument/2006/relationships/image" Target="../media/image105.png"/><Relationship Id="rId9" Type="http://schemas.openxmlformats.org/officeDocument/2006/relationships/image" Target="../media/image1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1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3" Type="http://schemas.openxmlformats.org/officeDocument/2006/relationships/image" Target="../media/image125.png"/><Relationship Id="rId3" Type="http://schemas.openxmlformats.org/officeDocument/2006/relationships/image" Target="../media/image115.png"/><Relationship Id="rId7" Type="http://schemas.openxmlformats.org/officeDocument/2006/relationships/image" Target="../media/image119.png"/><Relationship Id="rId12" Type="http://schemas.openxmlformats.org/officeDocument/2006/relationships/image" Target="../media/image1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8.png"/><Relationship Id="rId11" Type="http://schemas.openxmlformats.org/officeDocument/2006/relationships/image" Target="../media/image123.png"/><Relationship Id="rId5" Type="http://schemas.openxmlformats.org/officeDocument/2006/relationships/image" Target="../media/image117.png"/><Relationship Id="rId10" Type="http://schemas.openxmlformats.org/officeDocument/2006/relationships/image" Target="../media/image122.png"/><Relationship Id="rId4" Type="http://schemas.openxmlformats.org/officeDocument/2006/relationships/image" Target="../media/image116.png"/><Relationship Id="rId9" Type="http://schemas.openxmlformats.org/officeDocument/2006/relationships/image" Target="../media/image121.png"/><Relationship Id="rId1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l="262" r="262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-1"/>
            <a:ext cx="7701641" cy="4063251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 txBox="1"/>
          <p:nvPr/>
        </p:nvSpPr>
        <p:spPr>
          <a:xfrm>
            <a:off x="408483" y="307680"/>
            <a:ext cx="7461887" cy="2391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600" kern="0" spc="-198" dirty="0">
                <a:solidFill>
                  <a:srgbClr val="1F293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Dis-Chem didn’t make</a:t>
            </a:r>
            <a:r>
              <a:rPr lang="en-US" sz="6600" dirty="0"/>
              <a:t> </a:t>
            </a:r>
            <a:r>
              <a:rPr lang="en-US" sz="6600" kern="0" spc="-198" dirty="0">
                <a:solidFill>
                  <a:srgbClr val="1F293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health better.</a:t>
            </a:r>
            <a:endParaRPr lang="en-US" sz="6600" dirty="0"/>
          </a:p>
          <a:p>
            <a:pPr marL="0" indent="0" algn="l">
              <a:buNone/>
            </a:pPr>
            <a:r>
              <a:rPr lang="en-US" sz="6600" kern="0" spc="-198" dirty="0">
                <a:solidFill>
                  <a:srgbClr val="4860FA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It made it usable.</a:t>
            </a:r>
            <a:endParaRPr lang="en-US" sz="6600" dirty="0">
              <a:solidFill>
                <a:srgbClr val="4860FA"/>
              </a:solidFill>
            </a:endParaRPr>
          </a:p>
        </p:txBody>
      </p:sp>
      <p:sp>
        <p:nvSpPr>
          <p:cNvPr id="8" name="Text 4"/>
          <p:cNvSpPr txBox="1"/>
          <p:nvPr/>
        </p:nvSpPr>
        <p:spPr>
          <a:xfrm>
            <a:off x="408484" y="3310700"/>
            <a:ext cx="7461887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dirty="0">
                <a:latin typeface="Roboto" pitchFamily="34" charset="0"/>
                <a:ea typeface="Roboto" pitchFamily="34" charset="-122"/>
                <a:cs typeface="Roboto" pitchFamily="34" charset="-120"/>
              </a:rPr>
              <a:t>How South Africans are managing wellness—and what it means for health brands.</a:t>
            </a:r>
            <a:endParaRPr lang="en-US" sz="2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rcRect l="2128" r="2128"/>
          <a:stretch/>
        </p:blipFill>
        <p:spPr>
          <a:xfrm>
            <a:off x="10972800" y="57150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rcRect t="282" b="281"/>
          <a:stretch/>
        </p:blipFill>
        <p:spPr>
          <a:xfrm>
            <a:off x="11032236" y="529460"/>
            <a:ext cx="400507" cy="3813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61695" y="169178"/>
            <a:ext cx="1085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kern="0" spc="-9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Why This Matters Now</a:t>
            </a:r>
            <a:endParaRPr lang="en-US" sz="3600" dirty="0"/>
          </a:p>
        </p:txBody>
      </p:sp>
      <p:sp>
        <p:nvSpPr>
          <p:cNvPr id="8" name="Text 4"/>
          <p:cNvSpPr txBox="1"/>
          <p:nvPr/>
        </p:nvSpPr>
        <p:spPr>
          <a:xfrm>
            <a:off x="761695" y="854978"/>
            <a:ext cx="86493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latin typeface="Roboto" pitchFamily="34" charset="0"/>
                <a:ea typeface="Roboto" pitchFamily="34" charset="-122"/>
                <a:cs typeface="Roboto" pitchFamily="34" charset="-120"/>
              </a:rPr>
              <a:t>South African health decisions are driven by </a:t>
            </a:r>
            <a:r>
              <a:rPr lang="en-US" sz="1500" b="1" dirty="0">
                <a:solidFill>
                  <a:srgbClr val="4F46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survival</a:t>
            </a:r>
            <a:r>
              <a:rPr lang="en-US" sz="1500" dirty="0">
                <a:latin typeface="Roboto" pitchFamily="34" charset="0"/>
                <a:ea typeface="Roboto" pitchFamily="34" charset="-122"/>
                <a:cs typeface="Roboto" pitchFamily="34" charset="-120"/>
              </a:rPr>
              <a:t>, not </a:t>
            </a:r>
            <a:r>
              <a:rPr lang="en-US" sz="1500" b="1" dirty="0">
                <a:solidFill>
                  <a:srgbClr val="4F46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optimisation</a:t>
            </a:r>
            <a:r>
              <a:rPr lang="en-US" sz="15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761695" y="1426478"/>
            <a:ext cx="5952744" cy="1057046"/>
          </a:xfrm>
          <a:prstGeom prst="roundRect">
            <a:avLst>
              <a:gd name="adj" fmla="val 935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761695" y="1522490"/>
            <a:ext cx="418795" cy="418795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 txBox="1"/>
          <p:nvPr/>
        </p:nvSpPr>
        <p:spPr>
          <a:xfrm>
            <a:off x="1371600" y="1522490"/>
            <a:ext cx="5229454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Cost pressure is still the defining reality. </a:t>
            </a:r>
            <a:r>
              <a:rPr lang="en-US" sz="13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Almost half of households (49%) report they only have income for basics. Health spend must be fiercely justified.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61695" y="2707553"/>
            <a:ext cx="5952744" cy="1057046"/>
          </a:xfrm>
          <a:prstGeom prst="roundRect">
            <a:avLst>
              <a:gd name="adj" fmla="val 935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761695" y="2803565"/>
            <a:ext cx="418795" cy="418795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1371600" y="2803565"/>
            <a:ext cx="5229454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Energy is scarce (physical and mental). </a:t>
            </a:r>
            <a:r>
              <a:rPr lang="en-US" sz="13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Load shedding hangover, long workdays, and commuting fatigue leave zero capacity for complex new routines.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761695" y="3988627"/>
            <a:ext cx="5952744" cy="1057046"/>
          </a:xfrm>
          <a:prstGeom prst="roundRect">
            <a:avLst>
              <a:gd name="adj" fmla="val 935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61695" y="4084639"/>
            <a:ext cx="418795" cy="41879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 txBox="1"/>
          <p:nvPr/>
        </p:nvSpPr>
        <p:spPr>
          <a:xfrm>
            <a:off x="1371600" y="4084639"/>
            <a:ext cx="5229454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"Value-Hacking" mindset rules. </a:t>
            </a:r>
            <a:r>
              <a:rPr lang="en-US" sz="13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Consumers are stacking deals and sticking to what works. Risky switches to unproven health trends are down.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761695" y="5269701"/>
            <a:ext cx="5952744" cy="1057046"/>
          </a:xfrm>
          <a:prstGeom prst="roundRect">
            <a:avLst>
              <a:gd name="adj" fmla="val 935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761695" y="5365713"/>
            <a:ext cx="418795" cy="41879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 txBox="1"/>
          <p:nvPr/>
        </p:nvSpPr>
        <p:spPr>
          <a:xfrm>
            <a:off x="1371600" y="5365713"/>
            <a:ext cx="5229454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Decision fatigue has peaked.</a:t>
            </a:r>
            <a:r>
              <a:rPr lang="en-US" sz="13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 tolerance for lifestyle overhauls. If it's hard to figure out, it's ignored.</a:t>
            </a:r>
            <a:endParaRPr lang="en-US" sz="13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rcRect t="-5" b="-5"/>
          <a:stretch/>
        </p:blipFill>
        <p:spPr>
          <a:xfrm>
            <a:off x="7324344" y="1503288"/>
            <a:ext cx="4105656" cy="2214677"/>
          </a:xfrm>
          <a:prstGeom prst="rect">
            <a:avLst/>
          </a:prstGeom>
        </p:spPr>
      </p:pic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rcRect t="-5" b="-5"/>
          <a:stretch/>
        </p:blipFill>
        <p:spPr>
          <a:xfrm>
            <a:off x="7324344" y="3929186"/>
            <a:ext cx="4105656" cy="184983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562088" y="1741032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270" dirty="0">
                <a:solidFill>
                  <a:srgbClr val="FF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49%</a:t>
            </a:r>
            <a:endParaRPr lang="en-US" sz="5400" dirty="0"/>
          </a:p>
        </p:txBody>
      </p:sp>
      <p:sp>
        <p:nvSpPr>
          <p:cNvPr id="24" name="Text 18"/>
          <p:cNvSpPr txBox="1"/>
          <p:nvPr/>
        </p:nvSpPr>
        <p:spPr>
          <a:xfrm>
            <a:off x="8829446" y="2122337"/>
            <a:ext cx="12701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 consumers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7562088" y="2502727"/>
            <a:ext cx="3715207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Report having income 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only for absolute basics. 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7562088" y="3127262"/>
            <a:ext cx="3638398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7562088" y="3250706"/>
            <a:ext cx="228600" cy="228600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6"/>
          <a:srcRect l="-17200" r="-17200"/>
          <a:stretch/>
        </p:blipFill>
        <p:spPr>
          <a:xfrm>
            <a:off x="7667244" y="3308313"/>
            <a:ext cx="19202" cy="1143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867498" y="3289111"/>
            <a:ext cx="14502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" dirty="0">
                <a:solidFill>
                  <a:srgbClr val="EF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Critical Constraint</a:t>
            </a:r>
            <a:endParaRPr lang="en-US" sz="90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562088" y="4167844"/>
            <a:ext cx="381305" cy="381305"/>
          </a:xfrm>
          <a:prstGeom prst="rect">
            <a:avLst/>
          </a:prstGeom>
        </p:spPr>
      </p:pic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8"/>
          <a:srcRect t="-100" b="-100"/>
          <a:stretch/>
        </p:blipFill>
        <p:spPr>
          <a:xfrm>
            <a:off x="7695590" y="4282144"/>
            <a:ext cx="114300" cy="152705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8057693" y="4224537"/>
            <a:ext cx="177485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The Consequence</a:t>
            </a:r>
            <a:endParaRPr lang="en-US" sz="1500" dirty="0"/>
          </a:p>
        </p:txBody>
      </p:sp>
      <p:sp>
        <p:nvSpPr>
          <p:cNvPr id="33" name="Text 24"/>
          <p:cNvSpPr txBox="1"/>
          <p:nvPr/>
        </p:nvSpPr>
        <p:spPr>
          <a:xfrm>
            <a:off x="7562088" y="4662534"/>
            <a:ext cx="3715207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Health isn't about "getting ahead" anymore. It's about stability. </a:t>
            </a:r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2563E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Usability is now a premium feature.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876495" cy="6858000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867351" y="0"/>
            <a:ext cx="9144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71500" y="571500"/>
            <a:ext cx="1419149" cy="304495"/>
          </a:xfrm>
          <a:prstGeom prst="roundRect">
            <a:avLst>
              <a:gd name="adj" fmla="val 187688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3349" y="685800"/>
            <a:ext cx="75895" cy="75895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86054" y="638251"/>
            <a:ext cx="102778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EF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OLD MODEL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71500" y="1181405"/>
            <a:ext cx="387339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kern="0" spc="-9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 The Old Model</a:t>
            </a:r>
            <a:endParaRPr lang="en-US" sz="3600" dirty="0"/>
          </a:p>
          <a:p>
            <a:pPr marL="0" indent="0" algn="l">
              <a:buNone/>
            </a:pPr>
            <a:r>
              <a:rPr lang="en-US" sz="3600" kern="0" spc="-9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 of Health</a:t>
            </a:r>
            <a:endParaRPr lang="en-US" sz="3600" dirty="0"/>
          </a:p>
          <a:p>
            <a:pPr marL="0" indent="0" algn="l">
              <a:buNone/>
            </a:pPr>
            <a:r>
              <a:rPr lang="en-US" sz="3600" kern="0" spc="-9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 Innovation 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571500" y="3200400"/>
            <a:ext cx="3801161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years, brands built strategies on the assumption that consumers wanted to be transformed.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71500" y="6133795"/>
            <a:ext cx="38386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Dominant logic until ~2024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76495" y="0"/>
            <a:ext cx="73152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rcRect l="2128" r="2128"/>
          <a:stretch/>
        </p:blipFill>
        <p:spPr>
          <a:xfrm>
            <a:off x="11239805" y="571500"/>
            <a:ext cx="381305" cy="381305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257800" y="1721815"/>
            <a:ext cx="3086100" cy="1638605"/>
          </a:xfrm>
          <a:prstGeom prst="roundRect">
            <a:avLst>
              <a:gd name="adj" fmla="val 519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458054" y="1922069"/>
            <a:ext cx="381305" cy="381305"/>
          </a:xfrm>
          <a:prstGeom prst="roundRect">
            <a:avLst>
              <a:gd name="adj" fmla="val 59952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572354" y="2036369"/>
            <a:ext cx="152705" cy="152705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458054" y="2436876"/>
            <a:ext cx="279349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-14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Transformation Promises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5458054" y="2794406"/>
            <a:ext cx="276240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Marketing focused on "new you" narratives and radical lifestyle overhauls.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8534095" y="1721815"/>
            <a:ext cx="3086100" cy="1638605"/>
          </a:xfrm>
          <a:prstGeom prst="roundRect">
            <a:avLst>
              <a:gd name="adj" fmla="val 519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8734349" y="1922069"/>
            <a:ext cx="381305" cy="381305"/>
          </a:xfrm>
          <a:prstGeom prst="roundRect">
            <a:avLst>
              <a:gd name="adj" fmla="val 59952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rcRect t="-43" b="-43"/>
          <a:stretch/>
        </p:blipFill>
        <p:spPr>
          <a:xfrm>
            <a:off x="8858707" y="2036369"/>
            <a:ext cx="133502" cy="152705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8734349" y="2436876"/>
            <a:ext cx="279349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-14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Discipline-Led Routines</a:t>
            </a:r>
            <a:endParaRPr lang="en-US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8734349" y="2794406"/>
            <a:ext cx="276240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Success required strict adherence, complex regimens, and high effort.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5257800" y="3547872"/>
            <a:ext cx="3086100" cy="1638605"/>
          </a:xfrm>
          <a:prstGeom prst="roundRect">
            <a:avLst>
              <a:gd name="adj" fmla="val 519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7" name="Shape 22"/>
          <p:cNvSpPr/>
          <p:nvPr/>
        </p:nvSpPr>
        <p:spPr>
          <a:xfrm>
            <a:off x="5458054" y="3748126"/>
            <a:ext cx="381305" cy="381305"/>
          </a:xfrm>
          <a:prstGeom prst="roundRect">
            <a:avLst>
              <a:gd name="adj" fmla="val 59952"/>
            </a:avLst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rcRect l="-33" r="-33"/>
          <a:stretch/>
        </p:blipFill>
        <p:spPr>
          <a:xfrm>
            <a:off x="5562295" y="3862426"/>
            <a:ext cx="171907" cy="152705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5458054" y="4262018"/>
            <a:ext cx="279349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-14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Long-Term Aspiration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5458054" y="4620463"/>
            <a:ext cx="276240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Benefits were framed as distant rewards rather than immediate relief.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8534095" y="3547872"/>
            <a:ext cx="3086100" cy="1638605"/>
          </a:xfrm>
          <a:prstGeom prst="roundRect">
            <a:avLst>
              <a:gd name="adj" fmla="val 519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2" name="Shape 26"/>
          <p:cNvSpPr/>
          <p:nvPr/>
        </p:nvSpPr>
        <p:spPr>
          <a:xfrm>
            <a:off x="8734349" y="3748126"/>
            <a:ext cx="381305" cy="381305"/>
          </a:xfrm>
          <a:prstGeom prst="roundRect">
            <a:avLst>
              <a:gd name="adj" fmla="val 59952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rcRect l="-33" r="-33"/>
          <a:stretch/>
        </p:blipFill>
        <p:spPr>
          <a:xfrm>
            <a:off x="8839505" y="3862426"/>
            <a:ext cx="171907" cy="152705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8734349" y="4262018"/>
            <a:ext cx="279349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-14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“Become Better” Framing</a:t>
            </a:r>
            <a:endParaRPr lang="en-US" sz="1600" dirty="0"/>
          </a:p>
        </p:txBody>
      </p:sp>
      <p:sp>
        <p:nvSpPr>
          <p:cNvPr id="35" name="Text 28"/>
          <p:cNvSpPr txBox="1"/>
          <p:nvPr/>
        </p:nvSpPr>
        <p:spPr>
          <a:xfrm>
            <a:off x="8734349" y="4620463"/>
            <a:ext cx="276240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Health was positioned as a project of self-optimization and constant growth.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5257800" y="5820156"/>
            <a:ext cx="63623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0"/>
          <p:cNvSpPr/>
          <p:nvPr/>
        </p:nvSpPr>
        <p:spPr>
          <a:xfrm>
            <a:off x="5257800" y="6143854"/>
            <a:ext cx="57607" cy="57607"/>
          </a:xfrm>
          <a:prstGeom prst="ellipse">
            <a:avLst/>
          </a:prstGeom>
          <a:solidFill>
            <a:srgbClr val="D1D5D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1"/>
          <p:cNvSpPr txBox="1"/>
          <p:nvPr/>
        </p:nvSpPr>
        <p:spPr>
          <a:xfrm>
            <a:off x="5391302" y="6057900"/>
            <a:ext cx="17766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3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Historical Context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2128" r="2128"/>
          <a:stretch/>
        </p:blipFill>
        <p:spPr>
          <a:xfrm>
            <a:off x="11144707" y="476402"/>
            <a:ext cx="381305" cy="3813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191" y="928116"/>
            <a:ext cx="35433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dirty="0">
                <a:solidFill>
                  <a:srgbClr val="2563EB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The Reality of</a:t>
            </a:r>
            <a:endParaRPr lang="en-US" sz="4800" dirty="0"/>
          </a:p>
          <a:p>
            <a:pPr marL="0" indent="0" algn="l">
              <a:buNone/>
            </a:pPr>
            <a:r>
              <a:rPr lang="en-US" sz="4800" dirty="0">
                <a:solidFill>
                  <a:srgbClr val="2563EB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Daily Health</a:t>
            </a:r>
            <a:endParaRPr lang="en-US" sz="4800" dirty="0"/>
          </a:p>
          <a:p>
            <a:pPr marL="0" indent="0" algn="l">
              <a:buNone/>
            </a:pPr>
            <a:r>
              <a:rPr lang="en-US" sz="48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Behaviour</a:t>
            </a:r>
            <a:endParaRPr lang="en-US" sz="48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l="-226" r="-226"/>
          <a:stretch/>
        </p:blipFill>
        <p:spPr>
          <a:xfrm>
            <a:off x="666598" y="4023360"/>
            <a:ext cx="609905" cy="7589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352398" y="4023360"/>
            <a:ext cx="152705" cy="75895"/>
          </a:xfrm>
          <a:prstGeom prst="roundRect">
            <a:avLst>
              <a:gd name="adj" fmla="val 1204822"/>
            </a:avLst>
          </a:prstGeom>
          <a:solidFill>
            <a:srgbClr val="FBBF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1580998" y="4023360"/>
            <a:ext cx="152705" cy="75895"/>
          </a:xfrm>
          <a:prstGeom prst="roundRect">
            <a:avLst>
              <a:gd name="adj" fmla="val 1204822"/>
            </a:avLst>
          </a:prstGeom>
          <a:solidFill>
            <a:srgbClr val="FF6B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 txBox="1"/>
          <p:nvPr/>
        </p:nvSpPr>
        <p:spPr>
          <a:xfrm>
            <a:off x="666598" y="4327855"/>
            <a:ext cx="3543300" cy="1438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South Africans aren't failing at health because they lack ambition. They are failing because the "ideal" version of health requires </a:t>
            </a:r>
            <a:r>
              <a:rPr lang="en-US" sz="1300" b="1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resources—time, energy, certainty</a:t>
            </a:r>
            <a:r>
              <a:rPr lang="en-US" sz="13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—that they simply don't have right now. </a:t>
            </a:r>
            <a:endParaRPr lang="en-US" sz="13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66598" y="6248095"/>
            <a:ext cx="114300" cy="1143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57707" y="6229807"/>
            <a:ext cx="137434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Behavioural Signal</a:t>
            </a:r>
            <a:endParaRPr lang="en-US" sz="9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 l="-6" r="-6"/>
          <a:stretch/>
        </p:blipFill>
        <p:spPr>
          <a:xfrm>
            <a:off x="4591202" y="1478585"/>
            <a:ext cx="3390595" cy="1964131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591202" y="1478585"/>
            <a:ext cx="3372307" cy="57607"/>
          </a:xfrm>
          <a:prstGeom prst="rect">
            <a:avLst/>
          </a:prstGeom>
          <a:solidFill>
            <a:srgbClr val="FF6B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2"/>
          <p:cNvSpPr/>
          <p:nvPr/>
        </p:nvSpPr>
        <p:spPr>
          <a:xfrm>
            <a:off x="4791456" y="167883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F1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 l="-1282" r="-1282"/>
          <a:stretch/>
        </p:blipFill>
        <p:spPr>
          <a:xfrm>
            <a:off x="4910328" y="1812341"/>
            <a:ext cx="219456" cy="19019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4791456" y="2250338"/>
            <a:ext cx="31053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People are stretched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4791456" y="2593238"/>
            <a:ext cx="306781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Between load shedding, commuting, and cost pressure, mental bandwidth is at zero. Health "admin" is the first thing to get cut.</a:t>
            </a:r>
            <a:endParaRPr lang="en-US" sz="10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6"/>
          <a:srcRect l="-6" r="-6"/>
          <a:stretch/>
        </p:blipFill>
        <p:spPr>
          <a:xfrm>
            <a:off x="8134502" y="1478585"/>
            <a:ext cx="3390595" cy="1964131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8134502" y="1478585"/>
            <a:ext cx="3372307" cy="57607"/>
          </a:xfrm>
          <a:prstGeom prst="rect">
            <a:avLst/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6"/>
          <p:cNvSpPr/>
          <p:nvPr/>
        </p:nvSpPr>
        <p:spPr>
          <a:xfrm>
            <a:off x="8334756" y="167883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CF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8"/>
          <a:srcRect l="-1282" r="-1282"/>
          <a:stretch/>
        </p:blipFill>
        <p:spPr>
          <a:xfrm>
            <a:off x="8453628" y="1812341"/>
            <a:ext cx="219456" cy="190195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8334756" y="2250338"/>
            <a:ext cx="31053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Consistency is fragile</a:t>
            </a:r>
            <a:endParaRPr lang="en-US" sz="1500" dirty="0"/>
          </a:p>
        </p:txBody>
      </p:sp>
      <p:sp>
        <p:nvSpPr>
          <p:cNvPr id="27" name="Text 18"/>
          <p:cNvSpPr txBox="1"/>
          <p:nvPr/>
        </p:nvSpPr>
        <p:spPr>
          <a:xfrm>
            <a:off x="8334756" y="2593238"/>
            <a:ext cx="306781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Routines are easily broken by external shocks. A plan that requires 100% adherence fails at the first interruption.</a:t>
            </a:r>
            <a:endParaRPr lang="en-US" sz="100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6"/>
          <a:srcRect l="-6" r="-6"/>
          <a:stretch/>
        </p:blipFill>
        <p:spPr>
          <a:xfrm>
            <a:off x="4591202" y="3595421"/>
            <a:ext cx="3390595" cy="1964131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4591202" y="3595421"/>
            <a:ext cx="3372307" cy="57607"/>
          </a:xfrm>
          <a:prstGeom prst="rect">
            <a:avLst/>
          </a:prstGeom>
          <a:solidFill>
            <a:srgbClr val="FBBF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0"/>
          <p:cNvSpPr/>
          <p:nvPr/>
        </p:nvSpPr>
        <p:spPr>
          <a:xfrm>
            <a:off x="4791456" y="379567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9"/>
          <a:srcRect l="-1282" r="-1282"/>
          <a:stretch/>
        </p:blipFill>
        <p:spPr>
          <a:xfrm>
            <a:off x="4910328" y="3929177"/>
            <a:ext cx="219456" cy="190195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4791456" y="4367174"/>
            <a:ext cx="31053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Complexity drives drop-off</a:t>
            </a:r>
            <a:endParaRPr lang="en-US" sz="1500" dirty="0"/>
          </a:p>
        </p:txBody>
      </p:sp>
      <p:sp>
        <p:nvSpPr>
          <p:cNvPr id="33" name="Text 22"/>
          <p:cNvSpPr txBox="1"/>
          <p:nvPr/>
        </p:nvSpPr>
        <p:spPr>
          <a:xfrm>
            <a:off x="4791456" y="4710074"/>
            <a:ext cx="306781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Decision fatigue is high. If a product requires education, a new routine, or complex instructions, it stays on the shelf.</a:t>
            </a:r>
            <a:endParaRPr lang="en-US" sz="1000" dirty="0"/>
          </a:p>
        </p:txBody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6"/>
          <a:srcRect l="-6" r="-6"/>
          <a:stretch/>
        </p:blipFill>
        <p:spPr>
          <a:xfrm>
            <a:off x="8134502" y="3595421"/>
            <a:ext cx="3390595" cy="1964131"/>
          </a:xfrm>
          <a:prstGeom prst="rect">
            <a:avLst/>
          </a:prstGeom>
        </p:spPr>
      </p:pic>
      <p:sp>
        <p:nvSpPr>
          <p:cNvPr id="35" name="Shape 23"/>
          <p:cNvSpPr/>
          <p:nvPr/>
        </p:nvSpPr>
        <p:spPr>
          <a:xfrm>
            <a:off x="8134502" y="3595421"/>
            <a:ext cx="3372307" cy="57607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24"/>
          <p:cNvSpPr/>
          <p:nvPr/>
        </p:nvSpPr>
        <p:spPr>
          <a:xfrm>
            <a:off x="8334756" y="379567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 r:embed="rId10"/>
          <a:srcRect l="-1282" r="-1282"/>
          <a:stretch/>
        </p:blipFill>
        <p:spPr>
          <a:xfrm>
            <a:off x="8453628" y="3929177"/>
            <a:ext cx="219456" cy="190195"/>
          </a:xfrm>
          <a:prstGeom prst="rect">
            <a:avLst/>
          </a:prstGeom>
        </p:spPr>
      </p:pic>
      <p:sp>
        <p:nvSpPr>
          <p:cNvPr id="38" name="Text 25"/>
          <p:cNvSpPr txBox="1"/>
          <p:nvPr/>
        </p:nvSpPr>
        <p:spPr>
          <a:xfrm>
            <a:off x="8334756" y="4367174"/>
            <a:ext cx="31053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Function beats ideals</a:t>
            </a:r>
            <a:endParaRPr lang="en-US" sz="1500" dirty="0"/>
          </a:p>
        </p:txBody>
      </p:sp>
      <p:sp>
        <p:nvSpPr>
          <p:cNvPr id="39" name="Text 26"/>
          <p:cNvSpPr txBox="1"/>
          <p:nvPr/>
        </p:nvSpPr>
        <p:spPr>
          <a:xfrm>
            <a:off x="8334756" y="4710074"/>
            <a:ext cx="306781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"Will this get me through the day?" is a more powerful purchase driver than "Will this extend my life?"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761695" y="6336792"/>
            <a:ext cx="75895" cy="75895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6298387"/>
            <a:ext cx="118506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Strategic Pivot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61695" y="647395"/>
            <a:ext cx="1200607" cy="228600"/>
          </a:xfrm>
          <a:prstGeom prst="roundRect">
            <a:avLst>
              <a:gd name="adj" fmla="val 40000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3349" y="647395"/>
            <a:ext cx="12573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5" dirty="0">
                <a:solidFill>
                  <a:srgbClr val="2563E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Core Shift</a:t>
            </a:r>
            <a:endParaRPr lang="en-US" sz="9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t="-2187" b="-2187"/>
          <a:stretch/>
        </p:blipFill>
        <p:spPr>
          <a:xfrm>
            <a:off x="2105863" y="685800"/>
            <a:ext cx="9144" cy="15270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2267712" y="685800"/>
            <a:ext cx="18662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Health Innovation 2026</a:t>
            </a:r>
            <a:endParaRPr lang="en-US" sz="9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l="2128" r="2128"/>
          <a:stretch/>
        </p:blipFill>
        <p:spPr>
          <a:xfrm>
            <a:off x="11048695" y="571500"/>
            <a:ext cx="381305" cy="38130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61695" y="3467405"/>
            <a:ext cx="3409798" cy="2447849"/>
          </a:xfrm>
          <a:prstGeom prst="roundRect">
            <a:avLst>
              <a:gd name="adj" fmla="val 2907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 txBox="1"/>
          <p:nvPr/>
        </p:nvSpPr>
        <p:spPr>
          <a:xfrm>
            <a:off x="990295" y="4381805"/>
            <a:ext cx="303855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Fewer goals,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clearer needs.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990295" y="5029200"/>
            <a:ext cx="3029407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Consumers are trading broad wellness aspirations for specific, functional necessities that get them through the day.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394606" y="3467405"/>
            <a:ext cx="3409798" cy="2447849"/>
          </a:xfrm>
          <a:prstGeom prst="roundRect">
            <a:avLst>
              <a:gd name="adj" fmla="val 2907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4623206" y="4381805"/>
            <a:ext cx="303855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Support over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self-improvement.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4623206" y="5029200"/>
            <a:ext cx="3029407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mindset has shifted from "fix me" to "help me." Products are hired to support survival, not demand transformation.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8026603" y="3467405"/>
            <a:ext cx="3409798" cy="2447849"/>
          </a:xfrm>
          <a:prstGeom prst="roundRect">
            <a:avLst>
              <a:gd name="adj" fmla="val 2907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 txBox="1"/>
          <p:nvPr/>
        </p:nvSpPr>
        <p:spPr>
          <a:xfrm>
            <a:off x="8255203" y="4381805"/>
            <a:ext cx="303855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Health as usable help,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not a new identity.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8255203" y="5029200"/>
            <a:ext cx="3029407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Integration wins. If it requires a new lifestyle to work, it gets rejected. If it fits the existing chaos, it stays.</a:t>
            </a:r>
            <a:endParaRPr lang="en-US" sz="10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 l="-9" r="-9"/>
          <a:stretch/>
        </p:blipFill>
        <p:spPr>
          <a:xfrm>
            <a:off x="761695" y="1257300"/>
            <a:ext cx="10668305" cy="1904695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990295" y="3696005"/>
            <a:ext cx="533095" cy="53309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43000" y="3847795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14907" y="3676802"/>
            <a:ext cx="267005" cy="191110"/>
          </a:xfrm>
          <a:prstGeom prst="rect">
            <a:avLst/>
          </a:prstGeom>
          <a:solidFill>
            <a:srgbClr val="1F2937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800" dirty="0"/>
          </a:p>
        </p:txBody>
      </p:sp>
      <p:sp>
        <p:nvSpPr>
          <p:cNvPr id="25" name="Shape 19"/>
          <p:cNvSpPr/>
          <p:nvPr/>
        </p:nvSpPr>
        <p:spPr>
          <a:xfrm>
            <a:off x="4623206" y="3696005"/>
            <a:ext cx="533095" cy="533095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rcRect t="-45" b="-45"/>
          <a:stretch/>
        </p:blipFill>
        <p:spPr>
          <a:xfrm>
            <a:off x="4761281" y="3847795"/>
            <a:ext cx="256946" cy="2286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946904" y="3676802"/>
            <a:ext cx="267005" cy="191110"/>
          </a:xfrm>
          <a:prstGeom prst="rect">
            <a:avLst/>
          </a:prstGeom>
          <a:solidFill>
            <a:srgbClr val="1F2937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800" dirty="0"/>
          </a:p>
        </p:txBody>
      </p:sp>
      <p:sp>
        <p:nvSpPr>
          <p:cNvPr id="28" name="Shape 21"/>
          <p:cNvSpPr/>
          <p:nvPr/>
        </p:nvSpPr>
        <p:spPr>
          <a:xfrm>
            <a:off x="8255203" y="3696005"/>
            <a:ext cx="533095" cy="533095"/>
          </a:xfrm>
          <a:prstGeom prst="ellipse">
            <a:avLst/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406994" y="3847795"/>
            <a:ext cx="228600" cy="22860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8578901" y="3676802"/>
            <a:ext cx="267005" cy="191110"/>
          </a:xfrm>
          <a:prstGeom prst="rect">
            <a:avLst/>
          </a:prstGeom>
          <a:solidFill>
            <a:srgbClr val="1F2937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800" dirty="0"/>
          </a:p>
        </p:txBody>
      </p:sp>
      <p:sp>
        <p:nvSpPr>
          <p:cNvPr id="31" name="Text 23"/>
          <p:cNvSpPr txBox="1"/>
          <p:nvPr/>
        </p:nvSpPr>
        <p:spPr>
          <a:xfrm>
            <a:off x="1295705" y="1638605"/>
            <a:ext cx="977310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kern="0" spc="-90" dirty="0">
                <a:solidFill>
                  <a:srgbClr val="FFFFF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Health hasn’t become less ambitious.</a:t>
            </a:r>
            <a:endParaRPr lang="en-US" sz="3600" dirty="0"/>
          </a:p>
          <a:p>
            <a:pPr marL="0" indent="0" algn="l">
              <a:buNone/>
            </a:pPr>
            <a:r>
              <a:rPr lang="en-US" sz="3600" kern="0" spc="-90" dirty="0">
                <a:solidFill>
                  <a:srgbClr val="FFFFF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It’s become more realistic.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571500" y="666598"/>
            <a:ext cx="147858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Launch Spotlight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2128" r="2128"/>
          <a:stretch/>
        </p:blipFill>
        <p:spPr>
          <a:xfrm>
            <a:off x="11239805" y="571500"/>
            <a:ext cx="381305" cy="3813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71500" y="1714500"/>
            <a:ext cx="452445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What Dis-Chem</a:t>
            </a:r>
            <a:endParaRPr lang="en-US" sz="3600" dirty="0"/>
          </a:p>
          <a:p>
            <a:pPr marL="0" indent="0" algn="l">
              <a:buNone/>
            </a:pPr>
            <a:r>
              <a:rPr lang="en-US" sz="3600" dirty="0">
                <a:solidFill>
                  <a:srgbClr val="3B82F6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Actually Did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571500" y="3086100"/>
            <a:ext cx="4429354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They stopped selling "wellness" as a destination and started selling it as </a:t>
            </a:r>
            <a:r>
              <a:rPr lang="en-US" sz="1500" b="1" dirty="0">
                <a:solidFill>
                  <a:srgbClr val="FF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fuel for the journey</a:t>
            </a:r>
            <a:r>
              <a:rPr lang="en-US" sz="15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5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l="-8" r="-8"/>
          <a:stretch/>
        </p:blipFill>
        <p:spPr>
          <a:xfrm>
            <a:off x="571500" y="4640580"/>
            <a:ext cx="4349801" cy="162671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09244" y="4878324"/>
            <a:ext cx="39913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Core Focus Areas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809244" y="5183734"/>
            <a:ext cx="895198" cy="352044"/>
          </a:xfrm>
          <a:prstGeom prst="roundRect">
            <a:avLst>
              <a:gd name="adj" fmla="val 259740"/>
            </a:avLst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1152144" y="5183734"/>
            <a:ext cx="609905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453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Energy </a:t>
            </a:r>
            <a:endParaRPr lang="en-US" sz="10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961949" y="5289804"/>
            <a:ext cx="114300" cy="13350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1779422" y="5183734"/>
            <a:ext cx="809244" cy="352044"/>
          </a:xfrm>
          <a:prstGeom prst="roundRect">
            <a:avLst>
              <a:gd name="adj" fmla="val 259740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2103120" y="5183734"/>
            <a:ext cx="543154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338C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Sleep </a:t>
            </a:r>
            <a:endParaRPr lang="en-US" sz="10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t="-2644" b="-2644"/>
          <a:stretch/>
        </p:blipFill>
        <p:spPr>
          <a:xfrm>
            <a:off x="1932127" y="5289804"/>
            <a:ext cx="95098" cy="13350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657246" y="5183734"/>
            <a:ext cx="886054" cy="352044"/>
          </a:xfrm>
          <a:prstGeom prst="roundRect">
            <a:avLst>
              <a:gd name="adj" fmla="val 259740"/>
            </a:avLst>
          </a:prstGeom>
          <a:solidFill>
            <a:srgbClr val="FCE7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/>
          <p:cNvSpPr/>
          <p:nvPr/>
        </p:nvSpPr>
        <p:spPr>
          <a:xfrm>
            <a:off x="3019349" y="5183734"/>
            <a:ext cx="581558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E185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Stress </a:t>
            </a:r>
            <a:endParaRPr lang="en-US" sz="10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809037" y="5289804"/>
            <a:ext cx="133502" cy="133502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809244" y="5606186"/>
            <a:ext cx="1067105" cy="352044"/>
          </a:xfrm>
          <a:prstGeom prst="roundRect">
            <a:avLst>
              <a:gd name="adj" fmla="val 259740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3"/>
          <p:cNvSpPr/>
          <p:nvPr/>
        </p:nvSpPr>
        <p:spPr>
          <a:xfrm>
            <a:off x="1171346" y="5606186"/>
            <a:ext cx="762610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4785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Immunity </a:t>
            </a:r>
            <a:endParaRPr lang="en-US" sz="10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61949" y="5713171"/>
            <a:ext cx="133502" cy="133502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571500" y="1276502"/>
            <a:ext cx="1962302" cy="209398"/>
          </a:xfrm>
          <a:prstGeom prst="roundRect">
            <a:avLst>
              <a:gd name="adj" fmla="val 436680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5"/>
          <p:cNvSpPr/>
          <p:nvPr/>
        </p:nvSpPr>
        <p:spPr>
          <a:xfrm>
            <a:off x="533095" y="1276502"/>
            <a:ext cx="2039112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5" dirty="0">
                <a:solidFill>
                  <a:srgbClr val="1D4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Strategy Deconstruction</a:t>
            </a:r>
            <a:endParaRPr lang="en-US" sz="900" dirty="0"/>
          </a:p>
        </p:txBody>
      </p:sp>
      <p:sp>
        <p:nvSpPr>
          <p:cNvPr id="24" name="Shape 16"/>
          <p:cNvSpPr/>
          <p:nvPr/>
        </p:nvSpPr>
        <p:spPr>
          <a:xfrm>
            <a:off x="5531206" y="1257300"/>
            <a:ext cx="609905" cy="609905"/>
          </a:xfrm>
          <a:prstGeom prst="roundRect">
            <a:avLst>
              <a:gd name="adj" fmla="val 46852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721401" y="1447495"/>
            <a:ext cx="228600" cy="228600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6368796" y="1257300"/>
            <a:ext cx="5257800" cy="1104595"/>
          </a:xfrm>
          <a:prstGeom prst="roundRect">
            <a:avLst>
              <a:gd name="adj" fmla="val 11418"/>
            </a:avLst>
          </a:prstGeom>
          <a:solidFill>
            <a:srgbClr val="FFFFFF"/>
          </a:solidFill>
          <a:ln w="12700">
            <a:solidFill>
              <a:srgbClr val="E5E7E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18"/>
          <p:cNvSpPr txBox="1"/>
          <p:nvPr/>
        </p:nvSpPr>
        <p:spPr>
          <a:xfrm>
            <a:off x="6569050" y="1419149"/>
            <a:ext cx="49725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Focused on immediate deficits</a:t>
            </a:r>
            <a:endParaRPr lang="en-US" sz="1800" dirty="0"/>
          </a:p>
        </p:txBody>
      </p:sp>
      <p:sp>
        <p:nvSpPr>
          <p:cNvPr id="28" name="Text 19"/>
          <p:cNvSpPr txBox="1"/>
          <p:nvPr/>
        </p:nvSpPr>
        <p:spPr>
          <a:xfrm>
            <a:off x="6569050" y="1762049"/>
            <a:ext cx="49341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Shifted assortment prominence to solve for exhaustion and burnout—problems people feel </a:t>
            </a:r>
            <a:r>
              <a:rPr lang="en-US" sz="1000" i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right now</a:t>
            </a: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000" dirty="0"/>
          </a:p>
        </p:txBody>
      </p:sp>
      <p:sp>
        <p:nvSpPr>
          <p:cNvPr id="29" name="Shape 20"/>
          <p:cNvSpPr/>
          <p:nvPr/>
        </p:nvSpPr>
        <p:spPr>
          <a:xfrm>
            <a:off x="5531206" y="2585923"/>
            <a:ext cx="609905" cy="609905"/>
          </a:xfrm>
          <a:prstGeom prst="roundRect">
            <a:avLst>
              <a:gd name="adj" fmla="val 46852"/>
            </a:avLst>
          </a:prstGeom>
          <a:solidFill>
            <a:srgbClr val="FF6B6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10"/>
          <a:srcRect l="-57" r="-57"/>
          <a:stretch/>
        </p:blipFill>
        <p:spPr>
          <a:xfrm>
            <a:off x="5736031" y="2776118"/>
            <a:ext cx="200254" cy="228600"/>
          </a:xfrm>
          <a:prstGeom prst="rect">
            <a:avLst/>
          </a:prstGeom>
        </p:spPr>
      </p:pic>
      <p:sp>
        <p:nvSpPr>
          <p:cNvPr id="31" name="Shape 21"/>
          <p:cNvSpPr/>
          <p:nvPr/>
        </p:nvSpPr>
        <p:spPr>
          <a:xfrm>
            <a:off x="6368796" y="2585923"/>
            <a:ext cx="5257800" cy="1104595"/>
          </a:xfrm>
          <a:prstGeom prst="roundRect">
            <a:avLst>
              <a:gd name="adj" fmla="val 11418"/>
            </a:avLst>
          </a:prstGeom>
          <a:solidFill>
            <a:srgbClr val="FFFFFF"/>
          </a:solidFill>
          <a:ln w="12700">
            <a:solidFill>
              <a:srgbClr val="E5E7E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2"/>
          <p:cNvSpPr txBox="1"/>
          <p:nvPr/>
        </p:nvSpPr>
        <p:spPr>
          <a:xfrm>
            <a:off x="6569050" y="2747772"/>
            <a:ext cx="49725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Everyday-use framing</a:t>
            </a:r>
            <a:endParaRPr lang="en-US" sz="1800" dirty="0"/>
          </a:p>
        </p:txBody>
      </p:sp>
      <p:sp>
        <p:nvSpPr>
          <p:cNvPr id="33" name="Text 23"/>
          <p:cNvSpPr txBox="1"/>
          <p:nvPr/>
        </p:nvSpPr>
        <p:spPr>
          <a:xfrm>
            <a:off x="6569050" y="3090672"/>
            <a:ext cx="49341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Moved language from "program" to "daily support." Positioned products alongside coffee as routine essentials.</a:t>
            </a:r>
            <a:endParaRPr lang="en-US" sz="1000" dirty="0"/>
          </a:p>
        </p:txBody>
      </p:sp>
      <p:sp>
        <p:nvSpPr>
          <p:cNvPr id="34" name="Shape 24"/>
          <p:cNvSpPr/>
          <p:nvPr/>
        </p:nvSpPr>
        <p:spPr>
          <a:xfrm>
            <a:off x="5531206" y="3914546"/>
            <a:ext cx="609905" cy="609905"/>
          </a:xfrm>
          <a:prstGeom prst="roundRect">
            <a:avLst>
              <a:gd name="adj" fmla="val 46852"/>
            </a:avLst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721401" y="4105656"/>
            <a:ext cx="228600" cy="228600"/>
          </a:xfrm>
          <a:prstGeom prst="rect">
            <a:avLst/>
          </a:prstGeom>
        </p:spPr>
      </p:pic>
      <p:sp>
        <p:nvSpPr>
          <p:cNvPr id="36" name="Shape 25"/>
          <p:cNvSpPr/>
          <p:nvPr/>
        </p:nvSpPr>
        <p:spPr>
          <a:xfrm>
            <a:off x="6368796" y="3914546"/>
            <a:ext cx="5257800" cy="1104595"/>
          </a:xfrm>
          <a:prstGeom prst="roundRect">
            <a:avLst>
              <a:gd name="adj" fmla="val 11418"/>
            </a:avLst>
          </a:prstGeom>
          <a:solidFill>
            <a:srgbClr val="FFFFFF"/>
          </a:solidFill>
          <a:ln w="12700">
            <a:solidFill>
              <a:srgbClr val="E5E7E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26"/>
          <p:cNvSpPr txBox="1"/>
          <p:nvPr/>
        </p:nvSpPr>
        <p:spPr>
          <a:xfrm>
            <a:off x="6569050" y="4076395"/>
            <a:ext cx="49725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Minimal behaviour change</a:t>
            </a:r>
            <a:endParaRPr lang="en-US" sz="1800" dirty="0"/>
          </a:p>
        </p:txBody>
      </p:sp>
      <p:sp>
        <p:nvSpPr>
          <p:cNvPr id="38" name="Text 27"/>
          <p:cNvSpPr txBox="1"/>
          <p:nvPr/>
        </p:nvSpPr>
        <p:spPr>
          <a:xfrm>
            <a:off x="6569050" y="4419295"/>
            <a:ext cx="49341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Products don't ask users to wake up earlier or meditate. They simply ask to be taken. Lowers the "effort tax."</a:t>
            </a:r>
            <a:endParaRPr lang="en-US" sz="1000" dirty="0"/>
          </a:p>
        </p:txBody>
      </p:sp>
      <p:sp>
        <p:nvSpPr>
          <p:cNvPr id="39" name="Shape 28"/>
          <p:cNvSpPr/>
          <p:nvPr/>
        </p:nvSpPr>
        <p:spPr>
          <a:xfrm>
            <a:off x="5531206" y="5243170"/>
            <a:ext cx="609905" cy="609905"/>
          </a:xfrm>
          <a:prstGeom prst="roundRect">
            <a:avLst>
              <a:gd name="adj" fmla="val 46852"/>
            </a:avLst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5721401" y="5434279"/>
            <a:ext cx="228600" cy="228600"/>
          </a:xfrm>
          <a:prstGeom prst="rect">
            <a:avLst/>
          </a:prstGeom>
        </p:spPr>
      </p:pic>
      <p:sp>
        <p:nvSpPr>
          <p:cNvPr id="41" name="Shape 29"/>
          <p:cNvSpPr/>
          <p:nvPr/>
        </p:nvSpPr>
        <p:spPr>
          <a:xfrm>
            <a:off x="6368796" y="5243170"/>
            <a:ext cx="5257800" cy="1104595"/>
          </a:xfrm>
          <a:prstGeom prst="roundRect">
            <a:avLst>
              <a:gd name="adj" fmla="val 11418"/>
            </a:avLst>
          </a:prstGeom>
          <a:solidFill>
            <a:srgbClr val="FFFFFF"/>
          </a:solidFill>
          <a:ln w="12700">
            <a:solidFill>
              <a:srgbClr val="E5E7E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0"/>
          <p:cNvSpPr txBox="1"/>
          <p:nvPr/>
        </p:nvSpPr>
        <p:spPr>
          <a:xfrm>
            <a:off x="6569050" y="5405018"/>
            <a:ext cx="49725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Integration into pressure points</a:t>
            </a:r>
            <a:endParaRPr lang="en-US" sz="1800" dirty="0"/>
          </a:p>
        </p:txBody>
      </p:sp>
      <p:sp>
        <p:nvSpPr>
          <p:cNvPr id="43" name="Text 31"/>
          <p:cNvSpPr txBox="1"/>
          <p:nvPr/>
        </p:nvSpPr>
        <p:spPr>
          <a:xfrm>
            <a:off x="6569050" y="5747918"/>
            <a:ext cx="49341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Targeted specific high-stress moments: the Monday drag, Sunday anxiety, and the mid-week slump.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450" b="-450"/>
          <a:stretch/>
        </p:blipFill>
        <p:spPr>
          <a:xfrm>
            <a:off x="761695" y="461508"/>
            <a:ext cx="304495" cy="5760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413959"/>
            <a:ext cx="134416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2563E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Strategic Insight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l="2128" r="2128"/>
          <a:stretch/>
        </p:blipFill>
        <p:spPr>
          <a:xfrm>
            <a:off x="11048695" y="571500"/>
            <a:ext cx="381305" cy="38130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61695" y="794349"/>
            <a:ext cx="10858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kern="0" spc="-9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Why Usability Matters</a:t>
            </a:r>
            <a:endParaRPr lang="en-US" sz="3600" dirty="0"/>
          </a:p>
        </p:txBody>
      </p:sp>
      <p:sp>
        <p:nvSpPr>
          <p:cNvPr id="9" name="Text 5"/>
          <p:cNvSpPr txBox="1"/>
          <p:nvPr/>
        </p:nvSpPr>
        <p:spPr>
          <a:xfrm>
            <a:off x="761695" y="1365849"/>
            <a:ext cx="111255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a context of fatigue and financial pressure, ease of use isn't just a feature—it's a psychological safety mechanism.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761695" y="1796134"/>
            <a:ext cx="5219395" cy="2066544"/>
          </a:xfrm>
          <a:prstGeom prst="roundRect">
            <a:avLst>
              <a:gd name="adj" fmla="val 4894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1028700" y="2063139"/>
            <a:ext cx="533095" cy="533095"/>
          </a:xfrm>
          <a:prstGeom prst="roundRect">
            <a:avLst>
              <a:gd name="adj" fmla="val 49008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81405" y="2214929"/>
            <a:ext cx="228600" cy="228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28700" y="2748939"/>
            <a:ext cx="48006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kern="0" spc="18" dirty="0">
                <a:solidFill>
                  <a:srgbClr val="FFFFF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Reduces Failure Anxiety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028700" y="3137559"/>
            <a:ext cx="47631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9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Consumers fear investing in routines they can't sustain. Usability removes the risk of "another failed attempt" before they even buy.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210605" y="1796134"/>
            <a:ext cx="5219395" cy="2066544"/>
          </a:xfrm>
          <a:prstGeom prst="roundRect">
            <a:avLst>
              <a:gd name="adj" fmla="val 4894"/>
            </a:avLst>
          </a:prstGeom>
          <a:solidFill>
            <a:srgbClr val="F43F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6476695" y="2063139"/>
            <a:ext cx="533095" cy="533095"/>
          </a:xfrm>
          <a:prstGeom prst="roundRect">
            <a:avLst>
              <a:gd name="adj" fmla="val 49008"/>
            </a:avLst>
          </a:prstGeom>
          <a:solidFill>
            <a:srgbClr val="FFF1F2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629400" y="2214929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476695" y="2748939"/>
            <a:ext cx="48006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kern="0" spc="18" dirty="0">
                <a:solidFill>
                  <a:srgbClr val="FFFFF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Encourages Repeat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6476695" y="3137559"/>
            <a:ext cx="47631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9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Adoption is easy; retention is hard. Products that feel achievable on a bad day are the ones that get purchased again on a good day.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761695" y="4089449"/>
            <a:ext cx="5219395" cy="2066544"/>
          </a:xfrm>
          <a:prstGeom prst="roundRect">
            <a:avLst>
              <a:gd name="adj" fmla="val 4894"/>
            </a:avLst>
          </a:prstGeom>
          <a:solidFill>
            <a:srgbClr val="FBBF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1028700" y="4356454"/>
            <a:ext cx="533095" cy="533095"/>
          </a:xfrm>
          <a:prstGeom prst="roundRect">
            <a:avLst>
              <a:gd name="adj" fmla="val 49008"/>
            </a:avLst>
          </a:prstGeom>
          <a:solidFill>
            <a:srgbClr val="FFFBE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181405" y="4509159"/>
            <a:ext cx="228600" cy="22860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028700" y="5042254"/>
            <a:ext cx="48006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kern="0" spc="18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Lowers Mental Resistance</a:t>
            </a:r>
            <a:endParaRPr lang="en-US" sz="1800" dirty="0"/>
          </a:p>
        </p:txBody>
      </p:sp>
      <p:sp>
        <p:nvSpPr>
          <p:cNvPr id="24" name="Text 17"/>
          <p:cNvSpPr txBox="1"/>
          <p:nvPr/>
        </p:nvSpPr>
        <p:spPr>
          <a:xfrm>
            <a:off x="1028700" y="5430874"/>
            <a:ext cx="47631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>
                    <a:alpha val="8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decision fatigue is high, the brain rejects friction. Low-effort formats bypass the mental "too hard" filter at the shelf and at home.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6210605" y="4089449"/>
            <a:ext cx="5219395" cy="2066544"/>
          </a:xfrm>
          <a:prstGeom prst="roundRect">
            <a:avLst>
              <a:gd name="adj" fmla="val 4894"/>
            </a:avLst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19"/>
          <p:cNvSpPr/>
          <p:nvPr/>
        </p:nvSpPr>
        <p:spPr>
          <a:xfrm>
            <a:off x="6476695" y="4356454"/>
            <a:ext cx="533095" cy="533095"/>
          </a:xfrm>
          <a:prstGeom prst="roundRect">
            <a:avLst>
              <a:gd name="adj" fmla="val 49008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629400" y="4509159"/>
            <a:ext cx="228600" cy="22860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6476695" y="5042254"/>
            <a:ext cx="48006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kern="0" spc="18" dirty="0">
                <a:solidFill>
                  <a:srgbClr val="FFFFF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Builds Confidence</a:t>
            </a:r>
            <a:endParaRPr lang="en-US" sz="1800" dirty="0"/>
          </a:p>
        </p:txBody>
      </p:sp>
      <p:sp>
        <p:nvSpPr>
          <p:cNvPr id="29" name="Text 21"/>
          <p:cNvSpPr txBox="1"/>
          <p:nvPr/>
        </p:nvSpPr>
        <p:spPr>
          <a:xfrm>
            <a:off x="6476695" y="5430874"/>
            <a:ext cx="47631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9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Clarity is a proxy for trust. Simple, usable propositions signal that the brand understands reality, making the consumer feel secure.</a:t>
            </a:r>
            <a:endParaRPr lang="en-US" sz="12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61695" y="6440372"/>
            <a:ext cx="114300" cy="114300"/>
          </a:xfrm>
          <a:prstGeom prst="rect">
            <a:avLst/>
          </a:prstGeom>
        </p:spPr>
      </p:pic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00100" y="6440372"/>
            <a:ext cx="114300" cy="114300"/>
          </a:xfrm>
          <a:prstGeom prst="rect">
            <a:avLst/>
          </a:prstGeom>
        </p:spPr>
      </p:pic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38505" y="6440372"/>
            <a:ext cx="114300" cy="114300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1104595" y="6421169"/>
            <a:ext cx="144749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Driver Analysis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2128" r="2128"/>
          <a:stretch/>
        </p:blipFill>
        <p:spPr>
          <a:xfrm>
            <a:off x="11048695" y="571500"/>
            <a:ext cx="381305" cy="38130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l="-8" r="-8"/>
          <a:stretch/>
        </p:blipFill>
        <p:spPr>
          <a:xfrm>
            <a:off x="761695" y="1812466"/>
            <a:ext cx="10668305" cy="1490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71754" y="1821610"/>
            <a:ext cx="4390949" cy="1476756"/>
          </a:xfrm>
          <a:prstGeom prst="roundRect">
            <a:avLst>
              <a:gd name="adj" fmla="val 9588"/>
            </a:avLst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5153558" y="1821610"/>
            <a:ext cx="9144" cy="1476756"/>
          </a:xfrm>
          <a:prstGeom prst="roundRect">
            <a:avLst>
              <a:gd name="adj" fmla="val 1548387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 l="-133" r="-133"/>
          <a:stretch/>
        </p:blipFill>
        <p:spPr>
          <a:xfrm>
            <a:off x="1912010" y="2443402"/>
            <a:ext cx="171907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235708" y="2290697"/>
            <a:ext cx="1852574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 products that 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demand life changes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761695" y="6351548"/>
            <a:ext cx="114300" cy="1143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 txBox="1"/>
          <p:nvPr/>
        </p:nvSpPr>
        <p:spPr>
          <a:xfrm>
            <a:off x="952805" y="6332345"/>
            <a:ext cx="14484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Strategic Principle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761695" y="590702"/>
            <a:ext cx="847649" cy="209398"/>
          </a:xfrm>
          <a:prstGeom prst="roundRect">
            <a:avLst>
              <a:gd name="adj" fmla="val 436680"/>
            </a:avLst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733349" y="590702"/>
            <a:ext cx="905256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5" dirty="0">
                <a:solidFill>
                  <a:srgbClr val="92400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Strategy</a:t>
            </a:r>
            <a:endParaRPr lang="en-US" sz="900" dirty="0"/>
          </a:p>
        </p:txBody>
      </p:sp>
      <p:sp>
        <p:nvSpPr>
          <p:cNvPr id="17" name="Text 12"/>
          <p:cNvSpPr txBox="1"/>
          <p:nvPr/>
        </p:nvSpPr>
        <p:spPr>
          <a:xfrm>
            <a:off x="761695" y="936471"/>
            <a:ext cx="1085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kern="0" spc="-9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Integration as </a:t>
            </a:r>
            <a:r>
              <a:rPr lang="en-US" sz="3600" kern="0" spc="-90" dirty="0">
                <a:solidFill>
                  <a:srgbClr val="2563EB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Strategy</a:t>
            </a:r>
            <a:endParaRPr lang="en-US" sz="3600" dirty="0"/>
          </a:p>
        </p:txBody>
      </p:sp>
      <p:sp>
        <p:nvSpPr>
          <p:cNvPr id="18" name="Shape 13"/>
          <p:cNvSpPr/>
          <p:nvPr/>
        </p:nvSpPr>
        <p:spPr>
          <a:xfrm>
            <a:off x="5159045" y="1821610"/>
            <a:ext cx="6267298" cy="1476756"/>
          </a:xfrm>
          <a:prstGeom prst="roundRect">
            <a:avLst>
              <a:gd name="adj" fmla="val 9588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10849356" y="1631415"/>
            <a:ext cx="761695" cy="761695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761695" y="3684243"/>
            <a:ext cx="3409798" cy="2333549"/>
          </a:xfrm>
          <a:prstGeom prst="roundRect">
            <a:avLst>
              <a:gd name="adj" fmla="val 3199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rcRect t="-405" b="-405"/>
          <a:stretch/>
        </p:blipFill>
        <p:spPr>
          <a:xfrm>
            <a:off x="771754" y="3693387"/>
            <a:ext cx="3384194" cy="57607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1000354" y="3921987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rcRect l="-1282" r="-1282"/>
          <a:stretch/>
        </p:blipFill>
        <p:spPr>
          <a:xfrm>
            <a:off x="1119226" y="4055489"/>
            <a:ext cx="219456" cy="19019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000354" y="4531892"/>
            <a:ext cx="3048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Background Support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1000354" y="4913196"/>
            <a:ext cx="3010205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Health isn't the main event; it’s the backstage crew. In a busy week, products must support daily function without becoming another task to manage.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4394606" y="3684243"/>
            <a:ext cx="3409798" cy="2333549"/>
          </a:xfrm>
          <a:prstGeom prst="roundRect">
            <a:avLst>
              <a:gd name="adj" fmla="val 3199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rcRect t="-405" b="-405"/>
          <a:stretch/>
        </p:blipFill>
        <p:spPr>
          <a:xfrm>
            <a:off x="4403750" y="3693387"/>
            <a:ext cx="3384194" cy="57607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632350" y="3921987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765853" y="4055489"/>
            <a:ext cx="190195" cy="190195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4632350" y="4531892"/>
            <a:ext cx="3048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Obvious Moments</a:t>
            </a:r>
            <a:endParaRPr lang="en-US" sz="1500" dirty="0"/>
          </a:p>
        </p:txBody>
      </p:sp>
      <p:sp>
        <p:nvSpPr>
          <p:cNvPr id="31" name="Text 22"/>
          <p:cNvSpPr txBox="1"/>
          <p:nvPr/>
        </p:nvSpPr>
        <p:spPr>
          <a:xfrm>
            <a:off x="4632350" y="4913196"/>
            <a:ext cx="3010205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Usage occasions must be self-evident. "Take when tired" wins over complex timing protocols. Clarity reduces cognitive load.</a:t>
            </a:r>
            <a:endParaRPr lang="en-US" sz="1000" dirty="0"/>
          </a:p>
        </p:txBody>
      </p:sp>
      <p:sp>
        <p:nvSpPr>
          <p:cNvPr id="32" name="Shape 23"/>
          <p:cNvSpPr/>
          <p:nvPr/>
        </p:nvSpPr>
        <p:spPr>
          <a:xfrm>
            <a:off x="8026603" y="3684243"/>
            <a:ext cx="3409798" cy="2333549"/>
          </a:xfrm>
          <a:prstGeom prst="roundRect">
            <a:avLst>
              <a:gd name="adj" fmla="val 3199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0"/>
          <a:srcRect t="-407" b="-407"/>
          <a:stretch/>
        </p:blipFill>
        <p:spPr>
          <a:xfrm>
            <a:off x="8035747" y="3693387"/>
            <a:ext cx="3384194" cy="57607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8264347" y="3921987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397850" y="4055489"/>
            <a:ext cx="190195" cy="190195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8264347" y="4531892"/>
            <a:ext cx="3048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Familiar Formats</a:t>
            </a:r>
            <a:endParaRPr lang="en-US" sz="1500" dirty="0"/>
          </a:p>
        </p:txBody>
      </p:sp>
      <p:sp>
        <p:nvSpPr>
          <p:cNvPr id="37" name="Text 26"/>
          <p:cNvSpPr txBox="1"/>
          <p:nvPr/>
        </p:nvSpPr>
        <p:spPr>
          <a:xfrm>
            <a:off x="8264347" y="4913196"/>
            <a:ext cx="3010205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Innovation lies in the benefit, not the format. Using known vehicles (gummies, shots, simple pills) lowers the barrier to trial.</a:t>
            </a:r>
            <a:endParaRPr lang="en-US" sz="1000" dirty="0"/>
          </a:p>
        </p:txBody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7090258" y="2329102"/>
            <a:ext cx="457200" cy="457200"/>
          </a:xfrm>
          <a:prstGeom prst="rect">
            <a:avLst/>
          </a:prstGeom>
        </p:spPr>
      </p:pic>
      <p:pic>
        <p:nvPicPr>
          <p:cNvPr id="39" name="Image 10" descr="preencoded.png"/>
          <p:cNvPicPr>
            <a:picLocks noChangeAspect="1"/>
          </p:cNvPicPr>
          <p:nvPr/>
        </p:nvPicPr>
        <p:blipFill>
          <a:blip r:embed="rId13"/>
          <a:srcRect l="-1648" r="-1648"/>
          <a:stretch/>
        </p:blipFill>
        <p:spPr>
          <a:xfrm>
            <a:off x="7232904" y="2462604"/>
            <a:ext cx="171907" cy="190195"/>
          </a:xfrm>
          <a:prstGeom prst="rect">
            <a:avLst/>
          </a:prstGeom>
        </p:spPr>
      </p:pic>
      <p:sp>
        <p:nvSpPr>
          <p:cNvPr id="40" name="Text 27"/>
          <p:cNvSpPr txBox="1"/>
          <p:nvPr/>
        </p:nvSpPr>
        <p:spPr>
          <a:xfrm>
            <a:off x="7776058" y="2127020"/>
            <a:ext cx="1783080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FFFFF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 Products that 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fit into life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761695" y="647395"/>
            <a:ext cx="1200607" cy="228600"/>
          </a:xfrm>
          <a:prstGeom prst="roundRect">
            <a:avLst>
              <a:gd name="adj" fmla="val 400000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3349" y="647395"/>
            <a:ext cx="12573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5" dirty="0">
                <a:solidFill>
                  <a:srgbClr val="1D4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 Context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2069287" y="685800"/>
            <a:ext cx="9528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South Africa</a:t>
            </a:r>
            <a:endParaRPr lang="en-US" sz="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2128" r="2128"/>
          <a:stretch/>
        </p:blipFill>
        <p:spPr>
          <a:xfrm>
            <a:off x="11048695" y="571500"/>
            <a:ext cx="381305" cy="3813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61695" y="1444752"/>
            <a:ext cx="3487522" cy="2143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Local </a:t>
            </a:r>
            <a:r>
              <a:rPr lang="en-US" sz="4500" dirty="0">
                <a:solidFill>
                  <a:srgbClr val="4860FA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Pressure</a:t>
            </a:r>
            <a:endParaRPr lang="en-US" sz="4500" dirty="0">
              <a:solidFill>
                <a:srgbClr val="4860FA"/>
              </a:solidFill>
            </a:endParaRPr>
          </a:p>
          <a:p>
            <a:pPr marL="0" indent="0" algn="l">
              <a:buNone/>
            </a:pPr>
            <a:r>
              <a:rPr lang="en-US" sz="45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Context </a:t>
            </a:r>
            <a:endParaRPr lang="en-US" sz="45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l="-181" r="-181"/>
          <a:stretch/>
        </p:blipFill>
        <p:spPr>
          <a:xfrm>
            <a:off x="761695" y="3816706"/>
            <a:ext cx="761695" cy="7589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61695" y="4198010"/>
            <a:ext cx="3429000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South African consumer environment is unique. Innovation cannot just be "good"—it must survive the specific frictions of local daily life.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761695" y="5798210"/>
            <a:ext cx="75895" cy="7589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914400" y="5740603"/>
            <a:ext cx="276331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6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Stressors shaping behaviour</a:t>
            </a:r>
            <a:endParaRPr lang="en-US" sz="10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l="-11" r="-11"/>
          <a:stretch/>
        </p:blipFill>
        <p:spPr>
          <a:xfrm>
            <a:off x="4724705" y="1257300"/>
            <a:ext cx="3258007" cy="2335378"/>
          </a:xfrm>
          <a:prstGeom prst="rect">
            <a:avLst/>
          </a:prstGeom>
        </p:spPr>
      </p:pic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>
            <a:alphaModFix amt="10000"/>
          </a:blip>
          <a:srcRect l="-2662" r="-2662"/>
          <a:stretch/>
        </p:blipFill>
        <p:spPr>
          <a:xfrm>
            <a:off x="6829654" y="2326234"/>
            <a:ext cx="1343254" cy="1457554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4953305" y="1485900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5095951" y="1619402"/>
            <a:ext cx="171907" cy="190195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6509614" y="1485900"/>
            <a:ext cx="1248156" cy="247802"/>
          </a:xfrm>
          <a:prstGeom prst="roundRect">
            <a:avLst>
              <a:gd name="adj" fmla="val 170310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1"/>
          <p:cNvSpPr txBox="1"/>
          <p:nvPr/>
        </p:nvSpPr>
        <p:spPr>
          <a:xfrm>
            <a:off x="6509614" y="1485900"/>
            <a:ext cx="1305763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Infrastructure</a:t>
            </a:r>
            <a:endParaRPr lang="en-US" sz="900" dirty="0"/>
          </a:p>
        </p:txBody>
      </p:sp>
      <p:sp>
        <p:nvSpPr>
          <p:cNvPr id="19" name="Text 12"/>
          <p:cNvSpPr txBox="1"/>
          <p:nvPr/>
        </p:nvSpPr>
        <p:spPr>
          <a:xfrm>
            <a:off x="4953305" y="2095805"/>
            <a:ext cx="2886761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Load Shedding &amp; Unpredictability</a:t>
            </a:r>
            <a:endParaRPr lang="en-US" sz="1800" dirty="0"/>
          </a:p>
        </p:txBody>
      </p:sp>
      <p:sp>
        <p:nvSpPr>
          <p:cNvPr id="20" name="Text 13"/>
          <p:cNvSpPr txBox="1"/>
          <p:nvPr/>
        </p:nvSpPr>
        <p:spPr>
          <a:xfrm>
            <a:off x="4953305" y="2713025"/>
            <a:ext cx="287670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>
                    <a:alpha val="9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Routines are constantly disrupted. Products requiring timing or electricity face high barriers to use.</a:t>
            </a:r>
            <a:endParaRPr lang="en-US" sz="11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rcRect l="-11" r="-11"/>
          <a:stretch/>
        </p:blipFill>
        <p:spPr>
          <a:xfrm>
            <a:off x="8172907" y="1257300"/>
            <a:ext cx="3258007" cy="2335378"/>
          </a:xfrm>
          <a:prstGeom prst="rect">
            <a:avLst/>
          </a:prstGeom>
        </p:spPr>
      </p:pic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>
            <a:alphaModFix amt="10000"/>
          </a:blip>
          <a:srcRect/>
          <a:stretch/>
        </p:blipFill>
        <p:spPr>
          <a:xfrm>
            <a:off x="10125151" y="2287829"/>
            <a:ext cx="1495044" cy="1495044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8401507" y="1485900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557870" y="1619402"/>
            <a:ext cx="142646" cy="190195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10142525" y="1485900"/>
            <a:ext cx="1067105" cy="247802"/>
          </a:xfrm>
          <a:prstGeom prst="roundRect">
            <a:avLst>
              <a:gd name="adj" fmla="val 170310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6"/>
          <p:cNvSpPr txBox="1"/>
          <p:nvPr/>
        </p:nvSpPr>
        <p:spPr>
          <a:xfrm>
            <a:off x="10142525" y="1485900"/>
            <a:ext cx="1124712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Time Poverty</a:t>
            </a:r>
            <a:endParaRPr lang="en-US" sz="900" dirty="0"/>
          </a:p>
        </p:txBody>
      </p:sp>
      <p:sp>
        <p:nvSpPr>
          <p:cNvPr id="27" name="Text 17"/>
          <p:cNvSpPr txBox="1"/>
          <p:nvPr/>
        </p:nvSpPr>
        <p:spPr>
          <a:xfrm>
            <a:off x="8401507" y="2095805"/>
            <a:ext cx="2886761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Long Workdays &amp; Commutes</a:t>
            </a:r>
            <a:endParaRPr lang="en-US" sz="1800" dirty="0"/>
          </a:p>
        </p:txBody>
      </p:sp>
      <p:sp>
        <p:nvSpPr>
          <p:cNvPr id="28" name="Text 18"/>
          <p:cNvSpPr txBox="1"/>
          <p:nvPr/>
        </p:nvSpPr>
        <p:spPr>
          <a:xfrm>
            <a:off x="8401507" y="2713025"/>
            <a:ext cx="287670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>
                    <a:alpha val="9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With extensive travel, energy is depleted early. Solutions must work in the exhausted "5-9" window.</a:t>
            </a:r>
            <a:endParaRPr lang="en-US" sz="11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11"/>
          <a:srcRect l="-11" r="-11"/>
          <a:stretch/>
        </p:blipFill>
        <p:spPr>
          <a:xfrm>
            <a:off x="4724705" y="3783787"/>
            <a:ext cx="3258007" cy="2335378"/>
          </a:xfrm>
          <a:prstGeom prst="rect">
            <a:avLst/>
          </a:prstGeom>
        </p:spPr>
      </p:pic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12">
            <a:alphaModFix amt="10000"/>
          </a:blip>
          <a:srcRect t="-4871" b="-4871"/>
          <a:stretch/>
        </p:blipFill>
        <p:spPr>
          <a:xfrm>
            <a:off x="6381598" y="4737506"/>
            <a:ext cx="1790395" cy="1571854"/>
          </a:xfrm>
          <a:prstGeom prst="rect">
            <a:avLst/>
          </a:prstGeom>
        </p:spPr>
      </p:pic>
      <p:sp>
        <p:nvSpPr>
          <p:cNvPr id="31" name="Shape 19"/>
          <p:cNvSpPr/>
          <p:nvPr/>
        </p:nvSpPr>
        <p:spPr>
          <a:xfrm>
            <a:off x="4953305" y="4012387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5062118" y="4144975"/>
            <a:ext cx="237744" cy="190195"/>
          </a:xfrm>
          <a:prstGeom prst="rect">
            <a:avLst/>
          </a:prstGeom>
        </p:spPr>
      </p:pic>
      <p:sp>
        <p:nvSpPr>
          <p:cNvPr id="33" name="Shape 20"/>
          <p:cNvSpPr/>
          <p:nvPr/>
        </p:nvSpPr>
        <p:spPr>
          <a:xfrm>
            <a:off x="6787591" y="4012387"/>
            <a:ext cx="972007" cy="247802"/>
          </a:xfrm>
          <a:prstGeom prst="roundRect">
            <a:avLst>
              <a:gd name="adj" fmla="val 170310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1"/>
          <p:cNvSpPr txBox="1"/>
          <p:nvPr/>
        </p:nvSpPr>
        <p:spPr>
          <a:xfrm>
            <a:off x="6787591" y="4012387"/>
            <a:ext cx="1028700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Social Load</a:t>
            </a:r>
            <a:endParaRPr lang="en-US" sz="900" dirty="0"/>
          </a:p>
        </p:txBody>
      </p:sp>
      <p:sp>
        <p:nvSpPr>
          <p:cNvPr id="35" name="Text 22"/>
          <p:cNvSpPr txBox="1"/>
          <p:nvPr/>
        </p:nvSpPr>
        <p:spPr>
          <a:xfrm>
            <a:off x="4953305" y="4872838"/>
            <a:ext cx="291236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Multi-Role Stress</a:t>
            </a:r>
            <a:endParaRPr lang="en-US" sz="1800" dirty="0"/>
          </a:p>
        </p:txBody>
      </p:sp>
      <p:sp>
        <p:nvSpPr>
          <p:cNvPr id="36" name="Text 23"/>
          <p:cNvSpPr txBox="1"/>
          <p:nvPr/>
        </p:nvSpPr>
        <p:spPr>
          <a:xfrm>
            <a:off x="4953305" y="5238598"/>
            <a:ext cx="287670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>
                    <a:alpha val="9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Managing careers, households, and extended family simultaneously. Support is a necessity, not a luxury.</a:t>
            </a:r>
            <a:endParaRPr lang="en-US" sz="1100" dirty="0"/>
          </a:p>
        </p:txBody>
      </p:sp>
      <p:pic>
        <p:nvPicPr>
          <p:cNvPr id="37" name="Image 11" descr="preencoded.png"/>
          <p:cNvPicPr>
            <a:picLocks noChangeAspect="1"/>
          </p:cNvPicPr>
          <p:nvPr/>
        </p:nvPicPr>
        <p:blipFill>
          <a:blip r:embed="rId14"/>
          <a:srcRect l="-11" r="-11"/>
          <a:stretch/>
        </p:blipFill>
        <p:spPr>
          <a:xfrm>
            <a:off x="8172907" y="3783787"/>
            <a:ext cx="3258007" cy="2335378"/>
          </a:xfrm>
          <a:prstGeom prst="rect">
            <a:avLst/>
          </a:prstGeom>
        </p:spPr>
      </p:pic>
      <p:pic>
        <p:nvPicPr>
          <p:cNvPr id="38" name="Image 12" descr="preencoded.png"/>
          <p:cNvPicPr>
            <a:picLocks noChangeAspect="1"/>
          </p:cNvPicPr>
          <p:nvPr/>
        </p:nvPicPr>
        <p:blipFill>
          <a:blip r:embed="rId15">
            <a:alphaModFix amt="5000"/>
          </a:blip>
          <a:srcRect/>
          <a:stretch/>
        </p:blipFill>
        <p:spPr>
          <a:xfrm>
            <a:off x="10125151" y="4814316"/>
            <a:ext cx="1495044" cy="1495044"/>
          </a:xfrm>
          <a:prstGeom prst="rect">
            <a:avLst/>
          </a:prstGeom>
        </p:spPr>
      </p:pic>
      <p:sp>
        <p:nvSpPr>
          <p:cNvPr id="39" name="Shape 24"/>
          <p:cNvSpPr/>
          <p:nvPr/>
        </p:nvSpPr>
        <p:spPr>
          <a:xfrm>
            <a:off x="8401507" y="4012387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13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534095" y="4144975"/>
            <a:ext cx="190195" cy="190195"/>
          </a:xfrm>
          <a:prstGeom prst="rect">
            <a:avLst/>
          </a:prstGeom>
        </p:spPr>
      </p:pic>
      <p:sp>
        <p:nvSpPr>
          <p:cNvPr id="41" name="Shape 25"/>
          <p:cNvSpPr/>
          <p:nvPr/>
        </p:nvSpPr>
        <p:spPr>
          <a:xfrm>
            <a:off x="10379354" y="4012387"/>
            <a:ext cx="828446" cy="247802"/>
          </a:xfrm>
          <a:prstGeom prst="roundRect">
            <a:avLst>
              <a:gd name="adj" fmla="val 170310"/>
            </a:avLst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26"/>
          <p:cNvSpPr txBox="1"/>
          <p:nvPr/>
        </p:nvSpPr>
        <p:spPr>
          <a:xfrm>
            <a:off x="10379354" y="4012387"/>
            <a:ext cx="886054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Economic</a:t>
            </a:r>
            <a:endParaRPr lang="en-US" sz="900" dirty="0"/>
          </a:p>
        </p:txBody>
      </p:sp>
      <p:sp>
        <p:nvSpPr>
          <p:cNvPr id="43" name="Text 27"/>
          <p:cNvSpPr txBox="1"/>
          <p:nvPr/>
        </p:nvSpPr>
        <p:spPr>
          <a:xfrm>
            <a:off x="8401507" y="4621378"/>
            <a:ext cx="2886761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Tight Budgets &amp; Value Checks</a:t>
            </a:r>
            <a:endParaRPr lang="en-US" sz="1800" dirty="0"/>
          </a:p>
        </p:txBody>
      </p:sp>
      <p:sp>
        <p:nvSpPr>
          <p:cNvPr id="44" name="Text 28"/>
          <p:cNvSpPr txBox="1"/>
          <p:nvPr/>
        </p:nvSpPr>
        <p:spPr>
          <a:xfrm>
            <a:off x="8401507" y="5238598"/>
            <a:ext cx="287670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>
                    <a:alpha val="9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"Value-hacking" prevails. Consumers scrutinize every purchase to see if it earns its keep or gets cut.</a:t>
            </a:r>
            <a:endParaRPr lang="en-US" sz="1100" dirty="0"/>
          </a:p>
        </p:txBody>
      </p:sp>
      <p:sp>
        <p:nvSpPr>
          <p:cNvPr id="45" name="Shape 29"/>
          <p:cNvSpPr/>
          <p:nvPr/>
        </p:nvSpPr>
        <p:spPr>
          <a:xfrm>
            <a:off x="761695" y="6404458"/>
            <a:ext cx="75895" cy="75895"/>
          </a:xfrm>
          <a:prstGeom prst="ellipse">
            <a:avLst/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30"/>
          <p:cNvSpPr txBox="1"/>
          <p:nvPr/>
        </p:nvSpPr>
        <p:spPr>
          <a:xfrm>
            <a:off x="914400" y="6347765"/>
            <a:ext cx="10323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Market Reality</a:t>
            </a:r>
            <a:endParaRPr lang="en-US" sz="1000" dirty="0"/>
          </a:p>
        </p:txBody>
      </p:sp>
      <p:sp>
        <p:nvSpPr>
          <p:cNvPr id="47" name="Text 31"/>
          <p:cNvSpPr txBox="1"/>
          <p:nvPr/>
        </p:nvSpPr>
        <p:spPr>
          <a:xfrm>
            <a:off x="2000707" y="6347765"/>
            <a:ext cx="224485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Source: Innovatr 2026 Research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761695" y="1009498"/>
            <a:ext cx="10858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kern="0" spc="9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 This Is Not </a:t>
            </a:r>
            <a:r>
              <a:rPr lang="en-US" sz="3600" kern="0" spc="90" dirty="0">
                <a:solidFill>
                  <a:srgbClr val="4860FA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Anti-Health.</a:t>
            </a:r>
            <a:endParaRPr lang="en-US" sz="3600" dirty="0">
              <a:solidFill>
                <a:srgbClr val="4860FA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761695" y="1772107"/>
            <a:ext cx="5181905" cy="4259933"/>
          </a:xfrm>
          <a:prstGeom prst="roundRect">
            <a:avLst>
              <a:gd name="adj" fmla="val 1025"/>
            </a:avLst>
          </a:prstGeom>
          <a:solidFill>
            <a:srgbClr val="FFF1F2"/>
          </a:solidFill>
          <a:ln w="25400">
            <a:solidFill>
              <a:srgbClr val="FECD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86307" y="2971800"/>
            <a:ext cx="4533595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086307" y="2190902"/>
            <a:ext cx="12481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45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Clarifier</a:t>
            </a:r>
            <a:endParaRPr lang="en-US" sz="10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086307" y="2381098"/>
            <a:ext cx="2440664" cy="381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93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IT IS NOT</a:t>
            </a:r>
            <a:endParaRPr lang="en-US" sz="28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86307" y="3276295"/>
            <a:ext cx="114300" cy="114300"/>
          </a:xfrm>
          <a:prstGeom prst="roundRect">
            <a:avLst>
              <a:gd name="adj" fmla="val 266667"/>
            </a:avLst>
          </a:prstGeom>
          <a:solidFill>
            <a:srgbClr val="F43F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8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352398" y="3219602"/>
            <a:ext cx="41440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F293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Anti-Goals or Anti-Prevention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1352398" y="3524098"/>
            <a:ext cx="47155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It doesn't mean giving up on better outcomes or lowering standards.</a:t>
            </a:r>
            <a:endParaRPr lang="en-US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86307" y="4027018"/>
            <a:ext cx="114300" cy="114300"/>
          </a:xfrm>
          <a:prstGeom prst="roundRect">
            <a:avLst>
              <a:gd name="adj" fmla="val 266667"/>
            </a:avLst>
          </a:prstGeom>
          <a:solidFill>
            <a:srgbClr val="F43F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8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352398" y="3969410"/>
            <a:ext cx="43818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F293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 "Giving Up" Signal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352398" y="4273906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It isn't a rejection of health, but a rejection of the impossible effort often required to achieve it.</a:t>
            </a:r>
            <a:endParaRPr lang="en-US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Shape 13"/>
          <p:cNvSpPr/>
          <p:nvPr/>
        </p:nvSpPr>
        <p:spPr>
          <a:xfrm rot="21420000">
            <a:off x="5086807" y="2095805"/>
            <a:ext cx="533095" cy="533095"/>
          </a:xfrm>
          <a:prstGeom prst="roundRect">
            <a:avLst>
              <a:gd name="adj" fmla="val 49008"/>
            </a:avLst>
          </a:prstGeom>
          <a:solidFill>
            <a:srgbClr val="F43F5E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 sz="24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rcRect l="-3875" r="-3875"/>
          <a:stretch/>
        </p:blipFill>
        <p:spPr>
          <a:xfrm>
            <a:off x="5256886" y="2238451"/>
            <a:ext cx="200254" cy="247802"/>
          </a:xfrm>
          <a:prstGeom prst="rect">
            <a:avLst/>
          </a:prstGeom>
        </p:spPr>
      </p:pic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 l="-2" r="-2"/>
          <a:stretch/>
        </p:blipFill>
        <p:spPr>
          <a:xfrm>
            <a:off x="6196889" y="1726387"/>
            <a:ext cx="5285232" cy="434447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526987" y="2951683"/>
            <a:ext cx="4629607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4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9" name="Text 15"/>
          <p:cNvSpPr txBox="1"/>
          <p:nvPr/>
        </p:nvSpPr>
        <p:spPr>
          <a:xfrm>
            <a:off x="6526987" y="2154326"/>
            <a:ext cx="7909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45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Core Shift</a:t>
            </a:r>
            <a:endParaRPr lang="en-US" sz="10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0" name="Text 16"/>
          <p:cNvSpPr txBox="1"/>
          <p:nvPr/>
        </p:nvSpPr>
        <p:spPr>
          <a:xfrm>
            <a:off x="6526987" y="2348179"/>
            <a:ext cx="85039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93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IT IS</a:t>
            </a:r>
            <a:endParaRPr lang="en-US" sz="28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6526987" y="3261665"/>
            <a:ext cx="123444" cy="12344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8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Text 18"/>
          <p:cNvSpPr txBox="1"/>
          <p:nvPr/>
        </p:nvSpPr>
        <p:spPr>
          <a:xfrm>
            <a:off x="6798564" y="3203143"/>
            <a:ext cx="44677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F293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Pro-Function &amp; Sustainability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Text 19"/>
          <p:cNvSpPr txBox="1"/>
          <p:nvPr/>
        </p:nvSpPr>
        <p:spPr>
          <a:xfrm>
            <a:off x="6798564" y="3514039"/>
            <a:ext cx="442935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Prioritizing routines that people can sustain creates better long-term health than broken ambitious plans.</a:t>
            </a:r>
            <a:endParaRPr lang="en-US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4" name="Shape 20"/>
          <p:cNvSpPr/>
          <p:nvPr/>
        </p:nvSpPr>
        <p:spPr>
          <a:xfrm>
            <a:off x="6526987" y="4247388"/>
            <a:ext cx="123444" cy="12344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8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5" name="Text 21"/>
          <p:cNvSpPr txBox="1"/>
          <p:nvPr/>
        </p:nvSpPr>
        <p:spPr>
          <a:xfrm>
            <a:off x="6798564" y="4189781"/>
            <a:ext cx="44677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F293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Coexistence of Relief &amp; Care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6" name="Text 22"/>
          <p:cNvSpPr txBox="1"/>
          <p:nvPr/>
        </p:nvSpPr>
        <p:spPr>
          <a:xfrm>
            <a:off x="6798564" y="4500677"/>
            <a:ext cx="442935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Immediate relief (energy, sleep) acts as the gateway to long-term prevention.</a:t>
            </a:r>
            <a:endParaRPr lang="en-US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7" name="Shape 23"/>
          <p:cNvSpPr/>
          <p:nvPr/>
        </p:nvSpPr>
        <p:spPr>
          <a:xfrm>
            <a:off x="6526987" y="5234026"/>
            <a:ext cx="123444" cy="12344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8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8" name="Text 24"/>
          <p:cNvSpPr txBox="1"/>
          <p:nvPr/>
        </p:nvSpPr>
        <p:spPr>
          <a:xfrm>
            <a:off x="6798564" y="5175504"/>
            <a:ext cx="37536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F293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Clarity as Confidence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9" name="Text 25"/>
          <p:cNvSpPr txBox="1"/>
          <p:nvPr/>
        </p:nvSpPr>
        <p:spPr>
          <a:xfrm>
            <a:off x="6798564" y="5486400"/>
            <a:ext cx="42995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 this market, clarity signals competence. Hype signals risk.</a:t>
            </a:r>
            <a:endParaRPr lang="en-US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0" name="Shape 26"/>
          <p:cNvSpPr/>
          <p:nvPr/>
        </p:nvSpPr>
        <p:spPr>
          <a:xfrm rot="180000">
            <a:off x="10607040" y="2056486"/>
            <a:ext cx="552298" cy="552298"/>
          </a:xfrm>
          <a:prstGeom prst="roundRect">
            <a:avLst>
              <a:gd name="adj" fmla="val 45672"/>
            </a:avLst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 sz="24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rcRect l="-881" r="-881"/>
          <a:stretch/>
        </p:blipFill>
        <p:spPr>
          <a:xfrm>
            <a:off x="10761574" y="2197303"/>
            <a:ext cx="237744" cy="267005"/>
          </a:xfrm>
          <a:prstGeom prst="rect">
            <a:avLst/>
          </a:prstGeom>
        </p:spPr>
      </p:pic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rcRect l="2128" r="2128"/>
          <a:stretch/>
        </p:blipFill>
        <p:spPr>
          <a:xfrm>
            <a:off x="11277295" y="381305"/>
            <a:ext cx="381305" cy="3813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1695" y="571500"/>
            <a:ext cx="1505102" cy="228600"/>
          </a:xfrm>
          <a:prstGeom prst="roundRect">
            <a:avLst>
              <a:gd name="adj" fmla="val 400000"/>
            </a:avLst>
          </a:prstGeom>
          <a:solidFill>
            <a:srgbClr val="1118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571500"/>
            <a:ext cx="1565453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Research Patterns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2128" r="2128"/>
          <a:stretch/>
        </p:blipFill>
        <p:spPr>
          <a:xfrm>
            <a:off x="11048695" y="571500"/>
            <a:ext cx="381305" cy="3813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61695" y="985457"/>
            <a:ext cx="3462833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 What Innovatr Health Research </a:t>
            </a:r>
            <a:endParaRPr lang="en-US" sz="2700" dirty="0"/>
          </a:p>
          <a:p>
            <a:pPr marL="0" indent="0" algn="l">
              <a:buNone/>
            </a:pPr>
            <a:r>
              <a:rPr lang="en-US" sz="2700" dirty="0">
                <a:solidFill>
                  <a:srgbClr val="2563EB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Consistently Shows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761695" y="2575598"/>
            <a:ext cx="3410712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Across functional beverages, wellness, and supplements, we see the same behavioral signature.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61695" y="3690252"/>
            <a:ext cx="341071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consumer isn't rejecting health; they are editing it for feasibility.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61695" y="5499850"/>
            <a:ext cx="3333902" cy="705002"/>
          </a:xfrm>
          <a:prstGeom prst="roundRect">
            <a:avLst>
              <a:gd name="adj" fmla="val 21033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923544" y="5661698"/>
            <a:ext cx="381305" cy="381305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t="-43" b="-43"/>
          <a:stretch/>
        </p:blipFill>
        <p:spPr>
          <a:xfrm>
            <a:off x="1047902" y="5775998"/>
            <a:ext cx="133502" cy="15270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19149" y="5680901"/>
            <a:ext cx="16578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1419149" y="5833606"/>
            <a:ext cx="18818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Innovatr Q1 2026 Analysis</a:t>
            </a:r>
            <a:endParaRPr lang="en-US" sz="10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 l="-3" r="-3"/>
          <a:stretch/>
        </p:blipFill>
        <p:spPr>
          <a:xfrm>
            <a:off x="4625035" y="985457"/>
            <a:ext cx="3288182" cy="249539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862779" y="1223201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996282" y="1356703"/>
            <a:ext cx="190195" cy="190195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388913" y="1223201"/>
            <a:ext cx="1295705" cy="237744"/>
          </a:xfrm>
          <a:prstGeom prst="roundRect">
            <a:avLst>
              <a:gd name="adj" fmla="val 307692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3"/>
          <p:cNvSpPr/>
          <p:nvPr/>
        </p:nvSpPr>
        <p:spPr>
          <a:xfrm>
            <a:off x="6359652" y="1223201"/>
            <a:ext cx="1353312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42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Preference Shift</a:t>
            </a:r>
            <a:endParaRPr lang="en-US" sz="800" dirty="0"/>
          </a:p>
        </p:txBody>
      </p:sp>
      <p:sp>
        <p:nvSpPr>
          <p:cNvPr id="20" name="Text 14"/>
          <p:cNvSpPr txBox="1"/>
          <p:nvPr/>
        </p:nvSpPr>
        <p:spPr>
          <a:xfrm>
            <a:off x="4862779" y="1984896"/>
            <a:ext cx="297088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Function &gt; Transformation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4862779" y="2327796"/>
            <a:ext cx="2895905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Specific, single-minded benefits (energy, gut health) outperform broad "holistic wellness" claims. Ambiguity creates hesitation; clarity drives choice.</a:t>
            </a:r>
            <a:endParaRPr lang="en-US" sz="10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rcRect l="-3" r="-3"/>
          <a:stretch/>
        </p:blipFill>
        <p:spPr>
          <a:xfrm>
            <a:off x="8141818" y="985457"/>
            <a:ext cx="3288182" cy="2495398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8379562" y="1223201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rcRect l="-1648" r="-1648"/>
          <a:stretch/>
        </p:blipFill>
        <p:spPr>
          <a:xfrm>
            <a:off x="8523122" y="1356703"/>
            <a:ext cx="171907" cy="190195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9939528" y="1223201"/>
            <a:ext cx="1257300" cy="237744"/>
          </a:xfrm>
          <a:prstGeom prst="roundRect">
            <a:avLst>
              <a:gd name="adj" fmla="val 307692"/>
            </a:avLst>
          </a:prstGeom>
          <a:solidFill>
            <a:srgbClr val="FF6B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8"/>
          <p:cNvSpPr/>
          <p:nvPr/>
        </p:nvSpPr>
        <p:spPr>
          <a:xfrm>
            <a:off x="9911182" y="1223201"/>
            <a:ext cx="1314907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42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Purchase Driver</a:t>
            </a:r>
            <a:endParaRPr lang="en-US" sz="800" dirty="0"/>
          </a:p>
        </p:txBody>
      </p:sp>
      <p:sp>
        <p:nvSpPr>
          <p:cNvPr id="27" name="Text 19"/>
          <p:cNvSpPr txBox="1"/>
          <p:nvPr/>
        </p:nvSpPr>
        <p:spPr>
          <a:xfrm>
            <a:off x="8379562" y="2093710"/>
            <a:ext cx="293248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Immediate Needs Rule</a:t>
            </a:r>
            <a:endParaRPr lang="en-US" sz="1500" dirty="0"/>
          </a:p>
        </p:txBody>
      </p:sp>
      <p:sp>
        <p:nvSpPr>
          <p:cNvPr id="28" name="Text 20"/>
          <p:cNvSpPr txBox="1"/>
          <p:nvPr/>
        </p:nvSpPr>
        <p:spPr>
          <a:xfrm>
            <a:off x="8379562" y="2544509"/>
            <a:ext cx="2895905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Energy, sleep, and stress relief—problems felt </a:t>
            </a:r>
            <a:r>
              <a:rPr lang="en-US" sz="1000" i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today</a:t>
            </a: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—consistently outrank long-term preventative goals in purchase hierarchy.</a:t>
            </a:r>
            <a:endParaRPr lang="en-US" sz="100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rcRect l="-3" r="-3"/>
          <a:stretch/>
        </p:blipFill>
        <p:spPr>
          <a:xfrm>
            <a:off x="4625035" y="3709454"/>
            <a:ext cx="3288182" cy="2495398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>
            <a:off x="4862779" y="3947198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FFFB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10"/>
          <a:srcRect l="-1282" r="-1282"/>
          <a:stretch/>
        </p:blipFill>
        <p:spPr>
          <a:xfrm>
            <a:off x="4982566" y="4080701"/>
            <a:ext cx="219456" cy="190195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6605626" y="3947198"/>
            <a:ext cx="1076249" cy="237744"/>
          </a:xfrm>
          <a:prstGeom prst="roundRect">
            <a:avLst>
              <a:gd name="adj" fmla="val 307692"/>
            </a:avLst>
          </a:prstGeom>
          <a:solidFill>
            <a:srgbClr val="FBBF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3"/>
          <p:cNvSpPr/>
          <p:nvPr/>
        </p:nvSpPr>
        <p:spPr>
          <a:xfrm>
            <a:off x="6577279" y="3947198"/>
            <a:ext cx="1133856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42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Drop-off Risk</a:t>
            </a:r>
            <a:endParaRPr lang="en-US" sz="800" dirty="0"/>
          </a:p>
        </p:txBody>
      </p:sp>
      <p:sp>
        <p:nvSpPr>
          <p:cNvPr id="34" name="Text 24"/>
          <p:cNvSpPr txBox="1"/>
          <p:nvPr/>
        </p:nvSpPr>
        <p:spPr>
          <a:xfrm>
            <a:off x="4862779" y="4817707"/>
            <a:ext cx="319948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Complexity Kills Conversion</a:t>
            </a:r>
            <a:endParaRPr lang="en-US" sz="1500" dirty="0"/>
          </a:p>
        </p:txBody>
      </p:sp>
      <p:sp>
        <p:nvSpPr>
          <p:cNvPr id="35" name="Text 25"/>
          <p:cNvSpPr txBox="1"/>
          <p:nvPr/>
        </p:nvSpPr>
        <p:spPr>
          <a:xfrm>
            <a:off x="4862779" y="5269421"/>
            <a:ext cx="2895905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Drop-off rates spike when products require a routine overhaul (&gt;2 steps). Simplicity is currently the strongest retention metric.</a:t>
            </a:r>
            <a:endParaRPr lang="en-US" sz="1000" dirty="0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rcRect l="-3" r="-3"/>
          <a:stretch/>
        </p:blipFill>
        <p:spPr>
          <a:xfrm>
            <a:off x="8141818" y="3709454"/>
            <a:ext cx="3288182" cy="2495398"/>
          </a:xfrm>
          <a:prstGeom prst="rect">
            <a:avLst/>
          </a:prstGeom>
        </p:spPr>
      </p:pic>
      <p:sp>
        <p:nvSpPr>
          <p:cNvPr id="37" name="Shape 26"/>
          <p:cNvSpPr/>
          <p:nvPr/>
        </p:nvSpPr>
        <p:spPr>
          <a:xfrm>
            <a:off x="8379562" y="3947198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12"/>
          <a:srcRect l="-1923" r="-1923"/>
          <a:stretch/>
        </p:blipFill>
        <p:spPr>
          <a:xfrm>
            <a:off x="8546897" y="4080701"/>
            <a:ext cx="123444" cy="190195"/>
          </a:xfrm>
          <a:prstGeom prst="rect">
            <a:avLst/>
          </a:prstGeom>
        </p:spPr>
      </p:pic>
      <p:sp>
        <p:nvSpPr>
          <p:cNvPr id="39" name="Shape 27"/>
          <p:cNvSpPr/>
          <p:nvPr/>
        </p:nvSpPr>
        <p:spPr>
          <a:xfrm>
            <a:off x="10006279" y="3947198"/>
            <a:ext cx="1190549" cy="237744"/>
          </a:xfrm>
          <a:prstGeom prst="roundRect">
            <a:avLst>
              <a:gd name="adj" fmla="val 307692"/>
            </a:avLst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28"/>
          <p:cNvSpPr/>
          <p:nvPr/>
        </p:nvSpPr>
        <p:spPr>
          <a:xfrm>
            <a:off x="9977018" y="3947198"/>
            <a:ext cx="1248156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42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Behavioral Gap</a:t>
            </a:r>
            <a:endParaRPr lang="en-US" sz="800" dirty="0"/>
          </a:p>
        </p:txBody>
      </p:sp>
      <p:sp>
        <p:nvSpPr>
          <p:cNvPr id="41" name="Text 29"/>
          <p:cNvSpPr txBox="1"/>
          <p:nvPr/>
        </p:nvSpPr>
        <p:spPr>
          <a:xfrm>
            <a:off x="8379562" y="4709808"/>
            <a:ext cx="293248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Interest ≠ Action</a:t>
            </a:r>
            <a:endParaRPr lang="en-US" sz="1500" dirty="0"/>
          </a:p>
        </p:txBody>
      </p:sp>
      <p:sp>
        <p:nvSpPr>
          <p:cNvPr id="42" name="Text 30"/>
          <p:cNvSpPr txBox="1"/>
          <p:nvPr/>
        </p:nvSpPr>
        <p:spPr>
          <a:xfrm>
            <a:off x="8379562" y="5052708"/>
            <a:ext cx="2895905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Decision fatigue explains the gap between high interest and low sales. Consumers engage with many ideas but only buy the one that feels effortless.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71500" y="173854"/>
            <a:ext cx="1580998" cy="228600"/>
          </a:xfrm>
          <a:prstGeom prst="roundRect">
            <a:avLst>
              <a:gd name="adj" fmla="val 40000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9496" y="173854"/>
            <a:ext cx="1645006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5" dirty="0">
                <a:solidFill>
                  <a:srgbClr val="2563E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Consumer Filter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2128" r="2128"/>
          <a:stretch/>
        </p:blipFill>
        <p:spPr>
          <a:xfrm>
            <a:off x="11239805" y="571500"/>
            <a:ext cx="381305" cy="3813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71500" y="495591"/>
            <a:ext cx="112398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kern="0" spc="-9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Functional Permission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571500" y="1218881"/>
            <a:ext cx="11048695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Before any health purchase is made, it must pass through two critical filters. </a:t>
            </a:r>
            <a:r>
              <a:rPr lang="en-US" sz="1500" b="1" dirty="0">
                <a:solidFill>
                  <a:srgbClr val="FF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If the answer is vague, the wallet stays closed.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71500" y="1674639"/>
            <a:ext cx="5372100" cy="3181198"/>
          </a:xfrm>
          <a:prstGeom prst="roundRect">
            <a:avLst>
              <a:gd name="adj" fmla="val 2065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952805" y="2055944"/>
            <a:ext cx="4610405" cy="314554"/>
          </a:xfrm>
          <a:prstGeom prst="roundRect">
            <a:avLst>
              <a:gd name="adj" fmla="val 290697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14400" y="2055944"/>
            <a:ext cx="4686300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Immediacy Filter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952805" y="3050811"/>
            <a:ext cx="473933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dirty="0">
                <a:solidFill>
                  <a:srgbClr val="FFFFF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"Will this help me get through today?"</a:t>
            </a:r>
            <a:endParaRPr lang="en-US" sz="2700" dirty="0"/>
          </a:p>
        </p:txBody>
      </p:sp>
      <p:sp>
        <p:nvSpPr>
          <p:cNvPr id="13" name="Text 10"/>
          <p:cNvSpPr txBox="1"/>
          <p:nvPr/>
        </p:nvSpPr>
        <p:spPr>
          <a:xfrm>
            <a:off x="952805" y="3956981"/>
            <a:ext cx="46863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>
                    <a:alpha val="9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Consumers are solving for present-tense survival (energy, stress), not just future-tense prevention.</a:t>
            </a:r>
            <a:endParaRPr lang="en-US" sz="13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>
            <a:alphaModFix amt="30000"/>
          </a:blip>
          <a:srcRect l="-640921" r="-640921"/>
          <a:stretch/>
        </p:blipFill>
        <p:spPr>
          <a:xfrm>
            <a:off x="952805" y="2479311"/>
            <a:ext cx="4610405" cy="381305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248095" y="1674639"/>
            <a:ext cx="5372100" cy="3181198"/>
          </a:xfrm>
          <a:prstGeom prst="roundRect">
            <a:avLst>
              <a:gd name="adj" fmla="val 2065"/>
            </a:avLst>
          </a:prstGeom>
          <a:solidFill>
            <a:srgbClr val="FF6B6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629400" y="2116294"/>
            <a:ext cx="4610405" cy="314554"/>
          </a:xfrm>
          <a:prstGeom prst="roundRect">
            <a:avLst>
              <a:gd name="adj" fmla="val 290697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6590995" y="2116294"/>
            <a:ext cx="4686300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Reality Filter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6629400" y="3110247"/>
            <a:ext cx="63633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dirty="0">
                <a:solidFill>
                  <a:srgbClr val="FFFFF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"Can I actually keep this up?"</a:t>
            </a:r>
            <a:endParaRPr lang="en-US" sz="2700" dirty="0"/>
          </a:p>
        </p:txBody>
      </p:sp>
      <p:sp>
        <p:nvSpPr>
          <p:cNvPr id="19" name="Text 15"/>
          <p:cNvSpPr txBox="1"/>
          <p:nvPr/>
        </p:nvSpPr>
        <p:spPr>
          <a:xfrm>
            <a:off x="6629400" y="3639685"/>
            <a:ext cx="468630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>
                    <a:alpha val="9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If the routine requires high discipline or effort, it is rejected as a "future failure." Usability creates the belief that consistency is possible.</a:t>
            </a:r>
            <a:endParaRPr lang="en-US" sz="13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>
            <a:alphaModFix amt="30000"/>
          </a:blip>
          <a:srcRect l="-554556" r="-554556"/>
          <a:stretch/>
        </p:blipFill>
        <p:spPr>
          <a:xfrm>
            <a:off x="6629400" y="2538747"/>
            <a:ext cx="4610405" cy="381305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571500" y="5080779"/>
            <a:ext cx="11048695" cy="838505"/>
          </a:xfrm>
          <a:prstGeom prst="roundRect">
            <a:avLst>
              <a:gd name="adj" fmla="val 14871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571500" y="5080779"/>
            <a:ext cx="57607" cy="838505"/>
          </a:xfrm>
          <a:prstGeom prst="roundRect">
            <a:avLst>
              <a:gd name="adj" fmla="val 216451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895198" y="527188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1037844" y="5405391"/>
            <a:ext cx="171907" cy="19019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543507" y="5382531"/>
            <a:ext cx="825886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Usability and plain language are not just "user experience"—they create </a:t>
            </a:r>
            <a:r>
              <a:rPr lang="en-US" sz="1300" b="1" dirty="0">
                <a:solidFill>
                  <a:srgbClr val="2563E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trust</a:t>
            </a:r>
            <a:r>
              <a:rPr lang="en-US" sz="13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under budget scrutiny. 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571500" y="6271328"/>
            <a:ext cx="114300" cy="1143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 txBox="1"/>
          <p:nvPr/>
        </p:nvSpPr>
        <p:spPr>
          <a:xfrm>
            <a:off x="761695" y="6233837"/>
            <a:ext cx="105430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Decision Logic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1867205" y="6233837"/>
            <a:ext cx="296997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Source: Innovatr 2026 Qualitative Insights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71500" y="571500"/>
            <a:ext cx="790956" cy="228600"/>
          </a:xfrm>
          <a:prstGeom prst="roundRect">
            <a:avLst>
              <a:gd name="adj" fmla="val 400000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3154" y="571500"/>
            <a:ext cx="848563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5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Reframe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1104595"/>
            <a:ext cx="87252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kern="0" spc="-9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Coping Beats </a:t>
            </a:r>
            <a:r>
              <a:rPr lang="en-US" sz="3600" u="sng" kern="0" spc="-90" dirty="0">
                <a:solidFill>
                  <a:srgbClr val="FF6B6B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Optimising</a:t>
            </a:r>
            <a:r>
              <a:rPr lang="en-US" sz="3600" kern="0" spc="-9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. 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1828800"/>
            <a:ext cx="7392010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Right now, health is not about becoming a "better version" of yourself. It is about supporting the version of yourself that is trying to survive the week.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23951" y="2929734"/>
            <a:ext cx="24963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5" dirty="0">
                <a:solidFill>
                  <a:srgbClr val="FF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OLD MINDSET</a:t>
            </a:r>
            <a:endParaRPr lang="en-US" sz="9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61004" y="3166563"/>
            <a:ext cx="286207" cy="28620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187952" y="2948936"/>
            <a:ext cx="24963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5" dirty="0">
                <a:solidFill>
                  <a:srgbClr val="06B6D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NEW REALITY</a:t>
            </a:r>
            <a:endParaRPr lang="en-US" sz="9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61004" y="4019698"/>
            <a:ext cx="286207" cy="286207"/>
          </a:xfrm>
          <a:prstGeom prst="rect">
            <a:avLst/>
          </a:prstGeom>
        </p:spPr>
      </p:pic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61004" y="4777736"/>
            <a:ext cx="286207" cy="286207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rcRect t="-328" b="-328"/>
          <a:stretch/>
        </p:blipFill>
        <p:spPr>
          <a:xfrm>
            <a:off x="571500" y="3120843"/>
            <a:ext cx="2400300" cy="5715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33095" y="3120843"/>
            <a:ext cx="24771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6B">
                    <a:alpha val="6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Improvement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rcRect t="-327" b="-327"/>
          <a:stretch/>
        </p:blipFill>
        <p:spPr>
          <a:xfrm>
            <a:off x="4235501" y="3139131"/>
            <a:ext cx="2400300" cy="53309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198010" y="3139131"/>
            <a:ext cx="24771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Maintenance</a:t>
            </a:r>
            <a:endParaRPr lang="en-US" sz="13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rcRect t="-328" b="-328"/>
          <a:stretch/>
        </p:blipFill>
        <p:spPr>
          <a:xfrm>
            <a:off x="571500" y="3878881"/>
            <a:ext cx="2400300" cy="5715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33095" y="3878881"/>
            <a:ext cx="24771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6B">
                    <a:alpha val="6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Ambition</a:t>
            </a:r>
            <a:endParaRPr lang="en-US" sz="13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5"/>
          <a:srcRect t="-327" b="-327"/>
          <a:stretch/>
        </p:blipFill>
        <p:spPr>
          <a:xfrm>
            <a:off x="4235501" y="3898083"/>
            <a:ext cx="2400300" cy="533095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4198010" y="3898083"/>
            <a:ext cx="24771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Relief</a:t>
            </a:r>
            <a:endParaRPr lang="en-US" sz="130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4"/>
          <a:srcRect t="-328" b="-328"/>
          <a:stretch/>
        </p:blipFill>
        <p:spPr>
          <a:xfrm>
            <a:off x="571500" y="4636918"/>
            <a:ext cx="2400300" cy="57150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33095" y="4636918"/>
            <a:ext cx="24771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6B">
                    <a:alpha val="6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Transformation</a:t>
            </a:r>
            <a:endParaRPr lang="en-US" sz="13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5"/>
          <a:srcRect t="-327" b="-327"/>
          <a:stretch/>
        </p:blipFill>
        <p:spPr>
          <a:xfrm>
            <a:off x="4235501" y="4656121"/>
            <a:ext cx="2400300" cy="533095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4198010" y="4656121"/>
            <a:ext cx="24771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</a:t>
            </a:r>
            <a:endParaRPr lang="en-US" sz="1300" dirty="0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6"/>
          <a:srcRect l="-3" r="-3"/>
          <a:stretch/>
        </p:blipFill>
        <p:spPr>
          <a:xfrm>
            <a:off x="7017106" y="2409440"/>
            <a:ext cx="4604004" cy="3314700"/>
          </a:xfrm>
          <a:prstGeom prst="rect">
            <a:avLst/>
          </a:prstGeom>
        </p:spPr>
      </p:pic>
      <p:sp>
        <p:nvSpPr>
          <p:cNvPr id="26" name="Shape 14"/>
          <p:cNvSpPr/>
          <p:nvPr/>
        </p:nvSpPr>
        <p:spPr>
          <a:xfrm>
            <a:off x="7017106" y="2409440"/>
            <a:ext cx="75895" cy="3276295"/>
          </a:xfrm>
          <a:prstGeom prst="rect">
            <a:avLst/>
          </a:prstGeom>
          <a:solidFill>
            <a:srgbClr val="FBBF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15"/>
          <p:cNvSpPr/>
          <p:nvPr/>
        </p:nvSpPr>
        <p:spPr>
          <a:xfrm>
            <a:off x="10916107" y="2657242"/>
            <a:ext cx="457200" cy="457200"/>
          </a:xfrm>
          <a:prstGeom prst="ellipse">
            <a:avLst/>
          </a:prstGeom>
          <a:solidFill>
            <a:srgbClr val="FBBF2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7">
            <a:alphaModFix amt="20000"/>
          </a:blip>
          <a:srcRect/>
          <a:stretch/>
        </p:blipFill>
        <p:spPr>
          <a:xfrm>
            <a:off x="11072470" y="2790745"/>
            <a:ext cx="142646" cy="190195"/>
          </a:xfrm>
          <a:prstGeom prst="rect">
            <a:avLst/>
          </a:prstGeom>
        </p:spPr>
      </p:pic>
      <p:sp>
        <p:nvSpPr>
          <p:cNvPr id="29" name="Shape 16"/>
          <p:cNvSpPr/>
          <p:nvPr/>
        </p:nvSpPr>
        <p:spPr>
          <a:xfrm>
            <a:off x="7340803" y="2734052"/>
            <a:ext cx="1324051" cy="228600"/>
          </a:xfrm>
          <a:prstGeom prst="roundRect">
            <a:avLst>
              <a:gd name="adj" fmla="val 400000"/>
            </a:avLst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17"/>
          <p:cNvSpPr/>
          <p:nvPr/>
        </p:nvSpPr>
        <p:spPr>
          <a:xfrm>
            <a:off x="7312457" y="2734052"/>
            <a:ext cx="1381658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2" dirty="0">
                <a:solidFill>
                  <a:srgbClr val="B453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Connected Trend</a:t>
            </a:r>
            <a:endParaRPr lang="en-US" sz="900" dirty="0"/>
          </a:p>
        </p:txBody>
      </p:sp>
      <p:sp>
        <p:nvSpPr>
          <p:cNvPr id="31" name="Text 18"/>
          <p:cNvSpPr txBox="1"/>
          <p:nvPr/>
        </p:nvSpPr>
        <p:spPr>
          <a:xfrm>
            <a:off x="7340803" y="3191252"/>
            <a:ext cx="40773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Indulgence Without Guilt</a:t>
            </a:r>
            <a:endParaRPr lang="en-US" sz="1800" dirty="0"/>
          </a:p>
        </p:txBody>
      </p:sp>
      <p:sp>
        <p:nvSpPr>
          <p:cNvPr id="32" name="Text 19"/>
          <p:cNvSpPr txBox="1"/>
          <p:nvPr/>
        </p:nvSpPr>
        <p:spPr>
          <a:xfrm>
            <a:off x="7340803" y="3648452"/>
            <a:ext cx="4038905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We see the exact same logic in snacking behaviour. Consumers are seeking </a:t>
            </a:r>
            <a:r>
              <a:rPr lang="en-US" sz="12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small, sustaining wins</a:t>
            </a: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they can justify and repeat. </a:t>
            </a:r>
            <a:endParaRPr lang="en-US" sz="1200" dirty="0"/>
          </a:p>
        </p:txBody>
      </p:sp>
      <p:sp>
        <p:nvSpPr>
          <p:cNvPr id="33" name="Shape 20"/>
          <p:cNvSpPr/>
          <p:nvPr/>
        </p:nvSpPr>
        <p:spPr>
          <a:xfrm>
            <a:off x="7340803" y="4543650"/>
            <a:ext cx="3962095" cy="857707"/>
          </a:xfrm>
          <a:prstGeom prst="roundRect">
            <a:avLst>
              <a:gd name="adj" fmla="val 14215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1"/>
          <p:cNvSpPr txBox="1"/>
          <p:nvPr/>
        </p:nvSpPr>
        <p:spPr>
          <a:xfrm>
            <a:off x="7502652" y="4705498"/>
            <a:ext cx="37536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Emotional Job-to-be-Done:</a:t>
            </a:r>
            <a:endParaRPr lang="en-US" sz="1000" dirty="0"/>
          </a:p>
        </p:txBody>
      </p:sp>
      <p:sp>
        <p:nvSpPr>
          <p:cNvPr id="35" name="Text 22"/>
          <p:cNvSpPr txBox="1"/>
          <p:nvPr/>
        </p:nvSpPr>
        <p:spPr>
          <a:xfrm>
            <a:off x="7502652" y="4972503"/>
            <a:ext cx="37536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"Help me keep going."</a:t>
            </a:r>
            <a:endParaRPr lang="en-US" sz="1300" dirty="0"/>
          </a:p>
        </p:txBody>
      </p:sp>
      <p:sp>
        <p:nvSpPr>
          <p:cNvPr id="37" name="Shape 24"/>
          <p:cNvSpPr/>
          <p:nvPr/>
        </p:nvSpPr>
        <p:spPr>
          <a:xfrm>
            <a:off x="571500" y="6077098"/>
            <a:ext cx="114300" cy="1143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25"/>
          <p:cNvSpPr txBox="1"/>
          <p:nvPr/>
        </p:nvSpPr>
        <p:spPr>
          <a:xfrm>
            <a:off x="761695" y="6038694"/>
            <a:ext cx="18370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Innovatr Launch Spotlight</a:t>
            </a:r>
            <a:endParaRPr lang="en-US" sz="1000" dirty="0"/>
          </a:p>
        </p:txBody>
      </p:sp>
      <p:sp>
        <p:nvSpPr>
          <p:cNvPr id="39" name="Text 26"/>
          <p:cNvSpPr txBox="1"/>
          <p:nvPr/>
        </p:nvSpPr>
        <p:spPr>
          <a:xfrm>
            <a:off x="2526487" y="6038694"/>
            <a:ext cx="31738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Source: Innovatr Health &amp; Snacking Research</a:t>
            </a:r>
            <a:endParaRPr lang="en-US" sz="1000" dirty="0"/>
          </a:p>
        </p:txBody>
      </p:sp>
      <p:pic>
        <p:nvPicPr>
          <p:cNvPr id="40" name="Image 11" descr="preencoded.png"/>
          <p:cNvPicPr>
            <a:picLocks noChangeAspect="1"/>
          </p:cNvPicPr>
          <p:nvPr/>
        </p:nvPicPr>
        <p:blipFill>
          <a:blip r:embed="rId8"/>
          <a:srcRect l="2128" r="2128"/>
          <a:stretch/>
        </p:blipFill>
        <p:spPr>
          <a:xfrm>
            <a:off x="11354105" y="457200"/>
            <a:ext cx="381305" cy="3813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761695" y="609905"/>
            <a:ext cx="14383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EF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Friction Analysis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61695" y="838505"/>
            <a:ext cx="52395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Where Health Innovation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5A5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Loses People</a:t>
            </a:r>
            <a:endParaRPr lang="en-US" sz="3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2128" r="2128"/>
          <a:stretch/>
        </p:blipFill>
        <p:spPr>
          <a:xfrm>
            <a:off x="11048695" y="609905"/>
            <a:ext cx="381305" cy="3813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086600" y="1218895"/>
            <a:ext cx="4343400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Drop-off isn't apathy.</a:t>
            </a:r>
            <a:endParaRPr lang="en-US" sz="1300" dirty="0"/>
          </a:p>
          <a:p>
            <a:pPr marL="0" indent="0" algn="r">
              <a:buNone/>
            </a:pPr>
            <a:r>
              <a:rPr lang="en-US" sz="13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It's a reaction to the </a:t>
            </a:r>
            <a:r>
              <a:rPr lang="en-US" sz="1300" b="1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price of engagement</a:t>
            </a:r>
            <a:r>
              <a:rPr lang="en-US" sz="13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being too high. 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1695" y="2283257"/>
            <a:ext cx="2553005" cy="232531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61949" y="3207715"/>
            <a:ext cx="223936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Lifestyle Promises</a:t>
            </a:r>
            <a:endParaRPr lang="en-US" dirty="0"/>
          </a:p>
        </p:txBody>
      </p:sp>
      <p:sp>
        <p:nvSpPr>
          <p:cNvPr id="10" name="Text 6"/>
          <p:cNvSpPr txBox="1"/>
          <p:nvPr/>
        </p:nvSpPr>
        <p:spPr>
          <a:xfrm>
            <a:off x="961949" y="3587585"/>
            <a:ext cx="2229307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Transformational promises like "New You" feel heavy and unattainable, creating a psychological gap consumers fear they can't cross.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961949" y="2521915"/>
            <a:ext cx="533095" cy="533095"/>
          </a:xfrm>
          <a:prstGeom prst="roundRect">
            <a:avLst>
              <a:gd name="adj" fmla="val 49008"/>
            </a:avLst>
          </a:prstGeom>
          <a:solidFill>
            <a:srgbClr val="FFF1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33856" y="2692908"/>
            <a:ext cx="190195" cy="190195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343254" y="2483510"/>
            <a:ext cx="190195" cy="190195"/>
          </a:xfrm>
          <a:prstGeom prst="rect">
            <a:avLst/>
          </a:prstGeom>
        </p:spPr>
      </p:pic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rcRect l="-3205" r="-3205"/>
          <a:stretch/>
        </p:blipFill>
        <p:spPr>
          <a:xfrm>
            <a:off x="1399946" y="2531059"/>
            <a:ext cx="75895" cy="95098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467405" y="2283257"/>
            <a:ext cx="2553005" cy="2325319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3666744" y="3207715"/>
            <a:ext cx="223936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Behavioral Demands</a:t>
            </a:r>
            <a:endParaRPr lang="en-US" dirty="0"/>
          </a:p>
        </p:txBody>
      </p:sp>
      <p:sp>
        <p:nvSpPr>
          <p:cNvPr id="17" name="Text 9"/>
          <p:cNvSpPr txBox="1"/>
          <p:nvPr/>
        </p:nvSpPr>
        <p:spPr>
          <a:xfrm>
            <a:off x="3666744" y="3587585"/>
            <a:ext cx="2229307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Strict routines break the moment life gets busy. High-maintenance protocols are the first thing sacrificed during stress.</a:t>
            </a:r>
            <a:endParaRPr lang="en-US" sz="1100" dirty="0"/>
          </a:p>
        </p:txBody>
      </p:sp>
      <p:sp>
        <p:nvSpPr>
          <p:cNvPr id="18" name="Shape 10"/>
          <p:cNvSpPr/>
          <p:nvPr/>
        </p:nvSpPr>
        <p:spPr>
          <a:xfrm>
            <a:off x="3666744" y="2521915"/>
            <a:ext cx="533095" cy="533095"/>
          </a:xfrm>
          <a:prstGeom prst="roundRect">
            <a:avLst>
              <a:gd name="adj" fmla="val 49008"/>
            </a:avLst>
          </a:prstGeom>
          <a:solidFill>
            <a:srgbClr val="FFF1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8"/>
          <a:srcRect l="-1648" r="-1648"/>
          <a:stretch/>
        </p:blipFill>
        <p:spPr>
          <a:xfrm>
            <a:off x="3847795" y="2692908"/>
            <a:ext cx="171907" cy="190195"/>
          </a:xfrm>
          <a:prstGeom prst="rect">
            <a:avLst/>
          </a:prstGeom>
        </p:spPr>
      </p:pic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048049" y="2483510"/>
            <a:ext cx="190195" cy="190195"/>
          </a:xfrm>
          <a:prstGeom prst="rect">
            <a:avLst/>
          </a:prstGeom>
        </p:spPr>
      </p:pic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7"/>
          <a:srcRect l="-3205" r="-3205"/>
          <a:stretch/>
        </p:blipFill>
        <p:spPr>
          <a:xfrm>
            <a:off x="4105656" y="2531059"/>
            <a:ext cx="75895" cy="95098"/>
          </a:xfrm>
          <a:prstGeom prst="rect">
            <a:avLst/>
          </a:prstGeom>
        </p:spPr>
      </p:pic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72200" y="2283257"/>
            <a:ext cx="2553005" cy="2325319"/>
          </a:xfrm>
          <a:prstGeom prst="rect">
            <a:avLst/>
          </a:prstGeom>
        </p:spPr>
      </p:pic>
      <p:sp>
        <p:nvSpPr>
          <p:cNvPr id="23" name="Text 11"/>
          <p:cNvSpPr txBox="1"/>
          <p:nvPr/>
        </p:nvSpPr>
        <p:spPr>
          <a:xfrm>
            <a:off x="6372454" y="3207715"/>
            <a:ext cx="223936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Over-Education</a:t>
            </a:r>
            <a:endParaRPr lang="en-US" dirty="0"/>
          </a:p>
        </p:txBody>
      </p:sp>
      <p:sp>
        <p:nvSpPr>
          <p:cNvPr id="24" name="Text 12"/>
          <p:cNvSpPr txBox="1"/>
          <p:nvPr/>
        </p:nvSpPr>
        <p:spPr>
          <a:xfrm>
            <a:off x="6372454" y="3587585"/>
            <a:ext cx="2229307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Science lessons confuse rather than clarify. If consumers have to "study" to understand the benefit, decision fatigue sets in instantly.</a:t>
            </a:r>
            <a:endParaRPr lang="en-US" sz="1100" dirty="0"/>
          </a:p>
        </p:txBody>
      </p:sp>
      <p:sp>
        <p:nvSpPr>
          <p:cNvPr id="25" name="Shape 13"/>
          <p:cNvSpPr/>
          <p:nvPr/>
        </p:nvSpPr>
        <p:spPr>
          <a:xfrm>
            <a:off x="6372454" y="2521915"/>
            <a:ext cx="533095" cy="533095"/>
          </a:xfrm>
          <a:prstGeom prst="roundRect">
            <a:avLst>
              <a:gd name="adj" fmla="val 49008"/>
            </a:avLst>
          </a:prstGeom>
          <a:solidFill>
            <a:srgbClr val="FFF1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9"/>
          <a:srcRect l="-1282" r="-1282"/>
          <a:stretch/>
        </p:blipFill>
        <p:spPr>
          <a:xfrm>
            <a:off x="6529730" y="2692908"/>
            <a:ext cx="219456" cy="190195"/>
          </a:xfrm>
          <a:prstGeom prst="rect">
            <a:avLst/>
          </a:prstGeom>
        </p:spPr>
      </p:pic>
      <p:pic>
        <p:nvPicPr>
          <p:cNvPr id="27" name="Image 11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752844" y="2483510"/>
            <a:ext cx="190195" cy="190195"/>
          </a:xfrm>
          <a:prstGeom prst="rect">
            <a:avLst/>
          </a:prstGeom>
        </p:spPr>
      </p:pic>
      <p:pic>
        <p:nvPicPr>
          <p:cNvPr id="28" name="Image 12" descr="preencoded.png"/>
          <p:cNvPicPr>
            <a:picLocks noChangeAspect="1"/>
          </p:cNvPicPr>
          <p:nvPr/>
        </p:nvPicPr>
        <p:blipFill>
          <a:blip r:embed="rId7"/>
          <a:srcRect l="-3205" r="-3205"/>
          <a:stretch/>
        </p:blipFill>
        <p:spPr>
          <a:xfrm>
            <a:off x="6810451" y="2531059"/>
            <a:ext cx="75895" cy="95098"/>
          </a:xfrm>
          <a:prstGeom prst="rect">
            <a:avLst/>
          </a:prstGeom>
        </p:spPr>
      </p:pic>
      <p:pic>
        <p:nvPicPr>
          <p:cNvPr id="29" name="Image 1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876995" y="2283257"/>
            <a:ext cx="2553005" cy="2325319"/>
          </a:xfrm>
          <a:prstGeom prst="rect">
            <a:avLst/>
          </a:prstGeom>
        </p:spPr>
      </p:pic>
      <p:sp>
        <p:nvSpPr>
          <p:cNvPr id="30" name="Text 14"/>
          <p:cNvSpPr txBox="1"/>
          <p:nvPr/>
        </p:nvSpPr>
        <p:spPr>
          <a:xfrm>
            <a:off x="9077249" y="3207715"/>
            <a:ext cx="225856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Guilt-Based Framing</a:t>
            </a:r>
            <a:endParaRPr lang="en-US" dirty="0"/>
          </a:p>
        </p:txBody>
      </p:sp>
      <p:sp>
        <p:nvSpPr>
          <p:cNvPr id="31" name="Text 15"/>
          <p:cNvSpPr txBox="1"/>
          <p:nvPr/>
        </p:nvSpPr>
        <p:spPr>
          <a:xfrm>
            <a:off x="9077249" y="3587585"/>
            <a:ext cx="2229307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Messaging that implies failure. In a high-pressure context, guilt is not a motivator—it is a valid reason to disengage entirely.</a:t>
            </a:r>
            <a:endParaRPr lang="en-US" sz="1100" dirty="0"/>
          </a:p>
        </p:txBody>
      </p:sp>
      <p:sp>
        <p:nvSpPr>
          <p:cNvPr id="32" name="Shape 16"/>
          <p:cNvSpPr/>
          <p:nvPr/>
        </p:nvSpPr>
        <p:spPr>
          <a:xfrm>
            <a:off x="9077249" y="2521915"/>
            <a:ext cx="533095" cy="533095"/>
          </a:xfrm>
          <a:prstGeom prst="roundRect">
            <a:avLst>
              <a:gd name="adj" fmla="val 49008"/>
            </a:avLst>
          </a:prstGeom>
          <a:solidFill>
            <a:srgbClr val="FFF1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14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249156" y="2692908"/>
            <a:ext cx="190195" cy="190195"/>
          </a:xfrm>
          <a:prstGeom prst="rect">
            <a:avLst/>
          </a:prstGeom>
        </p:spPr>
      </p:pic>
      <p:pic>
        <p:nvPicPr>
          <p:cNvPr id="34" name="Image 1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458554" y="2483510"/>
            <a:ext cx="190195" cy="190195"/>
          </a:xfrm>
          <a:prstGeom prst="rect">
            <a:avLst/>
          </a:prstGeom>
        </p:spPr>
      </p:pic>
      <p:pic>
        <p:nvPicPr>
          <p:cNvPr id="35" name="Image 16" descr="preencoded.png"/>
          <p:cNvPicPr>
            <a:picLocks noChangeAspect="1"/>
          </p:cNvPicPr>
          <p:nvPr/>
        </p:nvPicPr>
        <p:blipFill>
          <a:blip r:embed="rId7"/>
          <a:srcRect l="-3205" r="-3205"/>
          <a:stretch/>
        </p:blipFill>
        <p:spPr>
          <a:xfrm>
            <a:off x="9515246" y="2531059"/>
            <a:ext cx="75895" cy="95098"/>
          </a:xfrm>
          <a:prstGeom prst="rect">
            <a:avLst/>
          </a:prstGeom>
        </p:spPr>
      </p:pic>
      <p:sp>
        <p:nvSpPr>
          <p:cNvPr id="37" name="Shape 18"/>
          <p:cNvSpPr/>
          <p:nvPr/>
        </p:nvSpPr>
        <p:spPr>
          <a:xfrm>
            <a:off x="761695" y="6133795"/>
            <a:ext cx="75895" cy="75895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19"/>
          <p:cNvSpPr txBox="1"/>
          <p:nvPr/>
        </p:nvSpPr>
        <p:spPr>
          <a:xfrm>
            <a:off x="914400" y="6096305"/>
            <a:ext cx="152796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Innovatr Diagnostics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1695" y="609905"/>
            <a:ext cx="1343254" cy="228600"/>
          </a:xfrm>
          <a:prstGeom prst="roundRect">
            <a:avLst>
              <a:gd name="adj" fmla="val 400000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3349" y="609905"/>
            <a:ext cx="1400861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5" dirty="0">
                <a:solidFill>
                  <a:srgbClr val="04785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Success Factors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2128" r="2128"/>
          <a:stretch/>
        </p:blipFill>
        <p:spPr>
          <a:xfrm>
            <a:off x="11048695" y="571500"/>
            <a:ext cx="381305" cy="3813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61695" y="1257300"/>
            <a:ext cx="437906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kern="0" spc="-9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Where Health</a:t>
            </a:r>
            <a:endParaRPr lang="en-US" sz="3600" dirty="0"/>
          </a:p>
          <a:p>
            <a:pPr marL="0" indent="0" algn="l">
              <a:buNone/>
            </a:pPr>
            <a:r>
              <a:rPr lang="en-US" sz="3600" kern="0" spc="-90" dirty="0">
                <a:solidFill>
                  <a:srgbClr val="10B981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Innovation Wins</a:t>
            </a:r>
            <a:endParaRPr lang="en-US" sz="36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l="-181" r="-181"/>
          <a:stretch/>
        </p:blipFill>
        <p:spPr>
          <a:xfrm>
            <a:off x="761695" y="2553005"/>
            <a:ext cx="761695" cy="758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61695" y="2857500"/>
            <a:ext cx="4286707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a constrained market, winning propositions don't ask for more effort—they offer immediate relief.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733349" y="3896911"/>
            <a:ext cx="4209898" cy="1285646"/>
          </a:xfrm>
          <a:prstGeom prst="roundRect">
            <a:avLst>
              <a:gd name="adj" fmla="val 10537"/>
            </a:avLst>
          </a:prstGeom>
          <a:solidFill>
            <a:srgbClr val="FFFBEB"/>
          </a:solidFill>
          <a:ln w="254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100" b="-100"/>
          <a:stretch/>
        </p:blipFill>
        <p:spPr>
          <a:xfrm>
            <a:off x="981152" y="4143799"/>
            <a:ext cx="114300" cy="15270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72261" y="4143799"/>
            <a:ext cx="1270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B453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Golden Rule</a:t>
            </a:r>
            <a:endParaRPr lang="en-US" sz="900" dirty="0"/>
          </a:p>
        </p:txBody>
      </p:sp>
      <p:sp>
        <p:nvSpPr>
          <p:cNvPr id="13" name="Text 8"/>
          <p:cNvSpPr txBox="1"/>
          <p:nvPr/>
        </p:nvSpPr>
        <p:spPr>
          <a:xfrm>
            <a:off x="981152" y="4410804"/>
            <a:ext cx="3791102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"If I have to read the instructions twice, I'm not buying it."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5540350" y="1257300"/>
            <a:ext cx="5896051" cy="961949"/>
          </a:xfrm>
          <a:prstGeom prst="roundRect">
            <a:avLst>
              <a:gd name="adj" fmla="val 150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5778094" y="1506931"/>
            <a:ext cx="457200" cy="457200"/>
          </a:xfrm>
          <a:prstGeom prst="ellipse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5921654" y="1640434"/>
            <a:ext cx="171907" cy="19019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426403" y="1399946"/>
            <a:ext cx="48865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Clear Role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6426403" y="1705356"/>
            <a:ext cx="4849063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Specific jobs-to-be-done: Energy, Sleep, Stress, Immunity. No vague "wellness" claims.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5540350" y="2328977"/>
            <a:ext cx="5896051" cy="961949"/>
          </a:xfrm>
          <a:prstGeom prst="roundRect">
            <a:avLst>
              <a:gd name="adj" fmla="val 150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4"/>
          <p:cNvSpPr/>
          <p:nvPr/>
        </p:nvSpPr>
        <p:spPr>
          <a:xfrm>
            <a:off x="5778094" y="2578608"/>
            <a:ext cx="457200" cy="457200"/>
          </a:xfrm>
          <a:prstGeom prst="ellipse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5921654" y="2712110"/>
            <a:ext cx="171907" cy="19019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426403" y="2471623"/>
            <a:ext cx="48865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Easy Integration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6426403" y="2776118"/>
            <a:ext cx="4849063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Fits into existing daily rhythms. Doesn't demand a new morning ritual or lifestyle overhaul.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5540350" y="3400654"/>
            <a:ext cx="5896051" cy="961949"/>
          </a:xfrm>
          <a:prstGeom prst="roundRect">
            <a:avLst>
              <a:gd name="adj" fmla="val 150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8"/>
          <p:cNvSpPr/>
          <p:nvPr/>
        </p:nvSpPr>
        <p:spPr>
          <a:xfrm>
            <a:off x="5778094" y="3650285"/>
            <a:ext cx="457200" cy="457200"/>
          </a:xfrm>
          <a:prstGeom prst="ellipse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5921654" y="3783787"/>
            <a:ext cx="171907" cy="190195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426403" y="3543300"/>
            <a:ext cx="48865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Immediate Relevance</a:t>
            </a:r>
            <a:endParaRPr lang="en-US" sz="1300" dirty="0"/>
          </a:p>
        </p:txBody>
      </p:sp>
      <p:sp>
        <p:nvSpPr>
          <p:cNvPr id="28" name="Text 20"/>
          <p:cNvSpPr txBox="1"/>
          <p:nvPr/>
        </p:nvSpPr>
        <p:spPr>
          <a:xfrm>
            <a:off x="6426403" y="3847795"/>
            <a:ext cx="4849063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Solves a problem felt </a:t>
            </a:r>
            <a:r>
              <a:rPr lang="en-US" sz="1000" i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today</a:t>
            </a: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Immediate relief beats long-term theoretical prevention.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5540350" y="4472330"/>
            <a:ext cx="5896051" cy="780898"/>
          </a:xfrm>
          <a:prstGeom prst="roundRect">
            <a:avLst>
              <a:gd name="adj" fmla="val 228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2"/>
          <p:cNvSpPr/>
          <p:nvPr/>
        </p:nvSpPr>
        <p:spPr>
          <a:xfrm>
            <a:off x="5778094" y="4630522"/>
            <a:ext cx="457200" cy="457200"/>
          </a:xfrm>
          <a:prstGeom prst="ellipse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5921654" y="4764024"/>
            <a:ext cx="171907" cy="190195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6426403" y="4614977"/>
            <a:ext cx="48865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 Effort &amp; Risk</a:t>
            </a:r>
            <a:endParaRPr lang="en-US" sz="1300" dirty="0"/>
          </a:p>
        </p:txBody>
      </p:sp>
      <p:sp>
        <p:nvSpPr>
          <p:cNvPr id="33" name="Text 24"/>
          <p:cNvSpPr txBox="1"/>
          <p:nvPr/>
        </p:nvSpPr>
        <p:spPr>
          <a:xfrm>
            <a:off x="6426403" y="4919472"/>
            <a:ext cx="54580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 cognitive load to understand, low price barrier to try. Reversible choices.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5540350" y="5360213"/>
            <a:ext cx="5896051" cy="961949"/>
          </a:xfrm>
          <a:prstGeom prst="roundRect">
            <a:avLst>
              <a:gd name="adj" fmla="val 150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6"/>
          <p:cNvSpPr/>
          <p:nvPr/>
        </p:nvSpPr>
        <p:spPr>
          <a:xfrm>
            <a:off x="5778094" y="5609844"/>
            <a:ext cx="457200" cy="457200"/>
          </a:xfrm>
          <a:prstGeom prst="ellipse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5921654" y="5743346"/>
            <a:ext cx="171907" cy="190195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6426403" y="5502859"/>
            <a:ext cx="48865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Familiar Formats</a:t>
            </a:r>
            <a:endParaRPr lang="en-US" sz="1300" dirty="0"/>
          </a:p>
        </p:txBody>
      </p:sp>
      <p:sp>
        <p:nvSpPr>
          <p:cNvPr id="38" name="Text 28"/>
          <p:cNvSpPr txBox="1"/>
          <p:nvPr/>
        </p:nvSpPr>
        <p:spPr>
          <a:xfrm>
            <a:off x="6426403" y="5808269"/>
            <a:ext cx="4849063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Gummies, shots, simple pills. Formats that feel like treats or basics, not interventions.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733349" y="5277655"/>
            <a:ext cx="114300" cy="1143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0"/>
          <p:cNvSpPr txBox="1"/>
          <p:nvPr/>
        </p:nvSpPr>
        <p:spPr>
          <a:xfrm>
            <a:off x="924459" y="5258453"/>
            <a:ext cx="14484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Innovation Criteria</a:t>
            </a:r>
            <a:endParaRPr lang="en-US" sz="900" dirty="0"/>
          </a:p>
        </p:txBody>
      </p:sp>
      <p:sp>
        <p:nvSpPr>
          <p:cNvPr id="41" name="Text 31"/>
          <p:cNvSpPr txBox="1"/>
          <p:nvPr/>
        </p:nvSpPr>
        <p:spPr>
          <a:xfrm>
            <a:off x="2405787" y="5258453"/>
            <a:ext cx="187086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Source: Innovatr 2026 Analysis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71500" y="457200"/>
            <a:ext cx="1514246" cy="228600"/>
          </a:xfrm>
          <a:prstGeom prst="roundRect">
            <a:avLst>
              <a:gd name="adj" fmla="val 400000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1325" y="457200"/>
            <a:ext cx="1575511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5" dirty="0">
                <a:solidFill>
                  <a:srgbClr val="1D4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Commercial Impact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2128" r="2128"/>
          <a:stretch/>
        </p:blipFill>
        <p:spPr>
          <a:xfrm>
            <a:off x="11239805" y="381305"/>
            <a:ext cx="381305" cy="3813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71500" y="1777594"/>
            <a:ext cx="45436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The Advantage of</a:t>
            </a:r>
            <a:endParaRPr lang="en-US" sz="3600" dirty="0"/>
          </a:p>
          <a:p>
            <a:pPr marL="0" indent="0" algn="l">
              <a:buNone/>
            </a:pPr>
            <a:r>
              <a:rPr lang="en-US" sz="3600" dirty="0">
                <a:solidFill>
                  <a:srgbClr val="2563EB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Practical Launches 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571500" y="2882189"/>
            <a:ext cx="4448556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a fatigued market, "boring" functionality is currently outperforming "exciting" transformation. The metrics tell the story.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t="-10" b="-10"/>
          <a:stretch/>
        </p:blipFill>
        <p:spPr>
          <a:xfrm>
            <a:off x="571500" y="3946550"/>
            <a:ext cx="4369918" cy="139080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19302" y="4137660"/>
            <a:ext cx="4010558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"Reliability is the new excitement. A service that consistently delivers what it promises is more exciting than one that lures them in and disappoints."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450" b="-450"/>
          <a:stretch/>
        </p:blipFill>
        <p:spPr>
          <a:xfrm>
            <a:off x="819302" y="5052060"/>
            <a:ext cx="304495" cy="3840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00607" y="4994453"/>
            <a:ext cx="158374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Innovatr Trends 2025</a:t>
            </a:r>
            <a:endParaRPr lang="en-US" sz="9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rcRect l="-116680" r="-116680"/>
          <a:stretch/>
        </p:blipFill>
        <p:spPr>
          <a:xfrm>
            <a:off x="571500" y="2616098"/>
            <a:ext cx="3810305" cy="11430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398618" y="1126541"/>
            <a:ext cx="6229807" cy="1133856"/>
          </a:xfrm>
          <a:prstGeom prst="roundRect">
            <a:avLst>
              <a:gd name="adj" fmla="val 10843"/>
            </a:avLst>
          </a:prstGeom>
          <a:solidFill>
            <a:srgbClr val="FFFFFF"/>
          </a:solidFill>
          <a:ln w="254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570525" y="1260043"/>
            <a:ext cx="457200" cy="457200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704027" y="1393546"/>
            <a:ext cx="190195" cy="190195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6180430" y="1260043"/>
            <a:ext cx="5277002" cy="209398"/>
          </a:xfrm>
          <a:prstGeom prst="roundRect">
            <a:avLst>
              <a:gd name="adj" fmla="val 396982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0"/>
          <p:cNvSpPr/>
          <p:nvPr/>
        </p:nvSpPr>
        <p:spPr>
          <a:xfrm>
            <a:off x="6142025" y="1260043"/>
            <a:ext cx="5353812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9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Acquisition</a:t>
            </a:r>
            <a:endParaRPr lang="en-US" sz="800" dirty="0"/>
          </a:p>
        </p:txBody>
      </p:sp>
      <p:sp>
        <p:nvSpPr>
          <p:cNvPr id="19" name="Text 11"/>
          <p:cNvSpPr txBox="1"/>
          <p:nvPr/>
        </p:nvSpPr>
        <p:spPr>
          <a:xfrm>
            <a:off x="6180430" y="1504188"/>
            <a:ext cx="5391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Faster Adoption</a:t>
            </a:r>
            <a:endParaRPr lang="en-US" sz="1300" dirty="0"/>
          </a:p>
        </p:txBody>
      </p:sp>
      <p:sp>
        <p:nvSpPr>
          <p:cNvPr id="20" name="Text 12"/>
          <p:cNvSpPr txBox="1"/>
          <p:nvPr/>
        </p:nvSpPr>
        <p:spPr>
          <a:xfrm>
            <a:off x="6180430" y="1756562"/>
            <a:ext cx="535381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Low-complexity products reduce the "risk barrier," making trial an easier decision for stretched consumers.</a:t>
            </a:r>
            <a:endParaRPr lang="en-US" sz="1000" dirty="0"/>
          </a:p>
        </p:txBody>
      </p:sp>
      <p:sp>
        <p:nvSpPr>
          <p:cNvPr id="21" name="Shape 13"/>
          <p:cNvSpPr/>
          <p:nvPr/>
        </p:nvSpPr>
        <p:spPr>
          <a:xfrm>
            <a:off x="5398618" y="2371039"/>
            <a:ext cx="6229807" cy="1133856"/>
          </a:xfrm>
          <a:prstGeom prst="roundRect">
            <a:avLst>
              <a:gd name="adj" fmla="val 10843"/>
            </a:avLst>
          </a:prstGeom>
          <a:solidFill>
            <a:srgbClr val="FFFFFF"/>
          </a:solidFill>
          <a:ln w="254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570525" y="2503627"/>
            <a:ext cx="457200" cy="457200"/>
          </a:xfrm>
          <a:prstGeom prst="rect">
            <a:avLst/>
          </a:prstGeom>
        </p:spPr>
      </p:pic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680253" y="2637130"/>
            <a:ext cx="237744" cy="190195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6180430" y="2503627"/>
            <a:ext cx="5277002" cy="209398"/>
          </a:xfrm>
          <a:prstGeom prst="roundRect">
            <a:avLst>
              <a:gd name="adj" fmla="val 396982"/>
            </a:avLst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5"/>
          <p:cNvSpPr/>
          <p:nvPr/>
        </p:nvSpPr>
        <p:spPr>
          <a:xfrm>
            <a:off x="6142025" y="2503627"/>
            <a:ext cx="5353812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9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Retention</a:t>
            </a:r>
            <a:endParaRPr lang="en-US" sz="800" dirty="0"/>
          </a:p>
        </p:txBody>
      </p:sp>
      <p:sp>
        <p:nvSpPr>
          <p:cNvPr id="26" name="Text 16"/>
          <p:cNvSpPr txBox="1"/>
          <p:nvPr/>
        </p:nvSpPr>
        <p:spPr>
          <a:xfrm>
            <a:off x="6180430" y="2747772"/>
            <a:ext cx="5391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Stronger Retention</a:t>
            </a:r>
            <a:endParaRPr lang="en-US" sz="1300" dirty="0"/>
          </a:p>
        </p:txBody>
      </p:sp>
      <p:sp>
        <p:nvSpPr>
          <p:cNvPr id="27" name="Text 17"/>
          <p:cNvSpPr txBox="1"/>
          <p:nvPr/>
        </p:nvSpPr>
        <p:spPr>
          <a:xfrm>
            <a:off x="6180430" y="3000146"/>
            <a:ext cx="535381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Ease creates habit. Low mental effort products stay in the routine long after motivation fades.</a:t>
            </a:r>
            <a:endParaRPr lang="en-US" sz="1000" dirty="0"/>
          </a:p>
        </p:txBody>
      </p:sp>
      <p:sp>
        <p:nvSpPr>
          <p:cNvPr id="28" name="Shape 18"/>
          <p:cNvSpPr/>
          <p:nvPr/>
        </p:nvSpPr>
        <p:spPr>
          <a:xfrm>
            <a:off x="5398618" y="3614623"/>
            <a:ext cx="6229807" cy="1133856"/>
          </a:xfrm>
          <a:prstGeom prst="roundRect">
            <a:avLst>
              <a:gd name="adj" fmla="val 10843"/>
            </a:avLst>
          </a:prstGeom>
          <a:solidFill>
            <a:srgbClr val="FFFFFF"/>
          </a:solidFill>
          <a:ln w="254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570525" y="3748126"/>
            <a:ext cx="457200" cy="457200"/>
          </a:xfrm>
          <a:prstGeom prst="rect">
            <a:avLst/>
          </a:prstGeom>
        </p:spPr>
      </p:pic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5680253" y="3881628"/>
            <a:ext cx="237744" cy="190195"/>
          </a:xfrm>
          <a:prstGeom prst="rect">
            <a:avLst/>
          </a:prstGeom>
        </p:spPr>
      </p:pic>
      <p:sp>
        <p:nvSpPr>
          <p:cNvPr id="31" name="Shape 19"/>
          <p:cNvSpPr/>
          <p:nvPr/>
        </p:nvSpPr>
        <p:spPr>
          <a:xfrm>
            <a:off x="6180430" y="3748126"/>
            <a:ext cx="5277002" cy="209398"/>
          </a:xfrm>
          <a:prstGeom prst="roundRect">
            <a:avLst>
              <a:gd name="adj" fmla="val 396982"/>
            </a:avLst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0"/>
          <p:cNvSpPr/>
          <p:nvPr/>
        </p:nvSpPr>
        <p:spPr>
          <a:xfrm>
            <a:off x="6142025" y="3748126"/>
            <a:ext cx="5353812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9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Stability</a:t>
            </a:r>
            <a:endParaRPr lang="en-US" sz="800" dirty="0"/>
          </a:p>
        </p:txBody>
      </p:sp>
      <p:sp>
        <p:nvSpPr>
          <p:cNvPr id="33" name="Text 21"/>
          <p:cNvSpPr txBox="1"/>
          <p:nvPr/>
        </p:nvSpPr>
        <p:spPr>
          <a:xfrm>
            <a:off x="6180430" y="3992270"/>
            <a:ext cx="5391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Less Dropout</a:t>
            </a:r>
            <a:endParaRPr lang="en-US" sz="1300" dirty="0"/>
          </a:p>
        </p:txBody>
      </p:sp>
      <p:sp>
        <p:nvSpPr>
          <p:cNvPr id="34" name="Text 22"/>
          <p:cNvSpPr txBox="1"/>
          <p:nvPr/>
        </p:nvSpPr>
        <p:spPr>
          <a:xfrm>
            <a:off x="6180430" y="4244645"/>
            <a:ext cx="535381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Removing behavioral demands protects the user from "failing," keeping them securely in the funnel.</a:t>
            </a:r>
            <a:endParaRPr lang="en-US" sz="1000" dirty="0"/>
          </a:p>
        </p:txBody>
      </p:sp>
      <p:sp>
        <p:nvSpPr>
          <p:cNvPr id="35" name="Shape 23"/>
          <p:cNvSpPr/>
          <p:nvPr/>
        </p:nvSpPr>
        <p:spPr>
          <a:xfrm>
            <a:off x="5398618" y="4859122"/>
            <a:ext cx="6229807" cy="1133856"/>
          </a:xfrm>
          <a:prstGeom prst="roundRect">
            <a:avLst>
              <a:gd name="adj" fmla="val 10843"/>
            </a:avLst>
          </a:prstGeom>
          <a:solidFill>
            <a:srgbClr val="FFFFFF"/>
          </a:solidFill>
          <a:ln w="254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5570525" y="4991710"/>
            <a:ext cx="457200" cy="457200"/>
          </a:xfrm>
          <a:prstGeom prst="rect">
            <a:avLst/>
          </a:prstGeom>
        </p:spPr>
      </p:pic>
      <p:pic>
        <p:nvPicPr>
          <p:cNvPr id="37" name="Image 11" descr="preencoded.png"/>
          <p:cNvPicPr>
            <a:picLocks noChangeAspect="1"/>
          </p:cNvPicPr>
          <p:nvPr/>
        </p:nvPicPr>
        <p:blipFill>
          <a:blip r:embed="rId14"/>
          <a:srcRect l="-1282" r="-1282"/>
          <a:stretch/>
        </p:blipFill>
        <p:spPr>
          <a:xfrm>
            <a:off x="5689397" y="5125212"/>
            <a:ext cx="219456" cy="190195"/>
          </a:xfrm>
          <a:prstGeom prst="rect">
            <a:avLst/>
          </a:prstGeom>
        </p:spPr>
      </p:pic>
      <p:sp>
        <p:nvSpPr>
          <p:cNvPr id="38" name="Shape 24"/>
          <p:cNvSpPr/>
          <p:nvPr/>
        </p:nvSpPr>
        <p:spPr>
          <a:xfrm>
            <a:off x="6180430" y="4991710"/>
            <a:ext cx="5277002" cy="209398"/>
          </a:xfrm>
          <a:prstGeom prst="roundRect">
            <a:avLst>
              <a:gd name="adj" fmla="val 396982"/>
            </a:avLst>
          </a:prstGeom>
          <a:solidFill>
            <a:srgbClr val="F871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25"/>
          <p:cNvSpPr/>
          <p:nvPr/>
        </p:nvSpPr>
        <p:spPr>
          <a:xfrm>
            <a:off x="6142025" y="4991710"/>
            <a:ext cx="5353812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9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Brand Equity</a:t>
            </a:r>
            <a:endParaRPr lang="en-US" sz="800" dirty="0"/>
          </a:p>
        </p:txBody>
      </p:sp>
      <p:sp>
        <p:nvSpPr>
          <p:cNvPr id="40" name="Text 26"/>
          <p:cNvSpPr txBox="1"/>
          <p:nvPr/>
        </p:nvSpPr>
        <p:spPr>
          <a:xfrm>
            <a:off x="6180430" y="5235854"/>
            <a:ext cx="5391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More Credibility</a:t>
            </a:r>
            <a:endParaRPr lang="en-US" sz="1300" dirty="0"/>
          </a:p>
        </p:txBody>
      </p:sp>
      <p:sp>
        <p:nvSpPr>
          <p:cNvPr id="41" name="Text 27"/>
          <p:cNvSpPr txBox="1"/>
          <p:nvPr/>
        </p:nvSpPr>
        <p:spPr>
          <a:xfrm>
            <a:off x="6180430" y="5488229"/>
            <a:ext cx="535381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Claims matching felt effects build trust instantly. Delivering "better sleep" wins over "a new you."</a:t>
            </a:r>
            <a:endParaRPr lang="en-US" sz="1000" dirty="0"/>
          </a:p>
        </p:txBody>
      </p:sp>
      <p:sp>
        <p:nvSpPr>
          <p:cNvPr id="42" name="Shape 28"/>
          <p:cNvSpPr/>
          <p:nvPr/>
        </p:nvSpPr>
        <p:spPr>
          <a:xfrm>
            <a:off x="571500" y="6200546"/>
            <a:ext cx="11048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29"/>
          <p:cNvSpPr txBox="1"/>
          <p:nvPr/>
        </p:nvSpPr>
        <p:spPr>
          <a:xfrm>
            <a:off x="571500" y="6324905"/>
            <a:ext cx="23244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Source: Innovatr Commercial Analysis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66598" y="552298"/>
            <a:ext cx="1476756" cy="228600"/>
          </a:xfrm>
          <a:prstGeom prst="roundRect">
            <a:avLst>
              <a:gd name="adj" fmla="val 400000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37337" y="552298"/>
            <a:ext cx="1536192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5" dirty="0">
                <a:solidFill>
                  <a:srgbClr val="1D4E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Strategic Action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2128" r="2128"/>
          <a:stretch/>
        </p:blipFill>
        <p:spPr>
          <a:xfrm>
            <a:off x="11144707" y="476402"/>
            <a:ext cx="381305" cy="3813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66598" y="1086307"/>
            <a:ext cx="3606394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What This Means for Health Brands</a:t>
            </a:r>
            <a:endParaRPr lang="en-US" sz="36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l="-201" r="-201"/>
          <a:stretch/>
        </p:blipFill>
        <p:spPr>
          <a:xfrm>
            <a:off x="666598" y="2827714"/>
            <a:ext cx="457200" cy="7589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200607" y="2827714"/>
            <a:ext cx="152705" cy="75895"/>
          </a:xfrm>
          <a:prstGeom prst="roundRect">
            <a:avLst>
              <a:gd name="adj" fmla="val 1204822"/>
            </a:avLst>
          </a:prstGeom>
          <a:solidFill>
            <a:srgbClr val="34D39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1429207" y="2827714"/>
            <a:ext cx="75895" cy="75895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1" b="-1"/>
          <a:stretch/>
        </p:blipFill>
        <p:spPr>
          <a:xfrm rot="21540000">
            <a:off x="666598" y="3209019"/>
            <a:ext cx="3512210" cy="2686507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562502" y="3017910"/>
            <a:ext cx="761695" cy="761695"/>
          </a:xfrm>
          <a:prstGeom prst="ellipse">
            <a:avLst/>
          </a:prstGeom>
          <a:solidFill>
            <a:srgbClr val="F59E0B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 txBox="1"/>
          <p:nvPr/>
        </p:nvSpPr>
        <p:spPr>
          <a:xfrm>
            <a:off x="941832" y="3888418"/>
            <a:ext cx="3020263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F293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The Usability Mandate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949147" y="4307214"/>
            <a:ext cx="299100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Winners won't be brands with biggest promises, but ones with </a:t>
            </a:r>
            <a:r>
              <a:rPr lang="en-US" sz="1400" b="1" u="sng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lowest barriers</a:t>
            </a:r>
            <a:r>
              <a:rPr lang="en-US" sz="1400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</a:t>
            </a:r>
            <a:endParaRPr lang="en-US" sz="14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330" r="-330"/>
          <a:stretch/>
        </p:blipFill>
        <p:spPr>
          <a:xfrm>
            <a:off x="934517" y="3516258"/>
            <a:ext cx="209398" cy="23774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966521" y="5302081"/>
            <a:ext cx="2505456" cy="276149"/>
          </a:xfrm>
          <a:prstGeom prst="roundRect">
            <a:avLst>
              <a:gd name="adj" fmla="val 45672"/>
            </a:avLst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7" name="Text 11"/>
          <p:cNvSpPr txBox="1"/>
          <p:nvPr/>
        </p:nvSpPr>
        <p:spPr>
          <a:xfrm>
            <a:off x="966521" y="5302081"/>
            <a:ext cx="2581351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5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Shift: Aspiration → Integration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4591202" y="1086307"/>
            <a:ext cx="3372307" cy="2419502"/>
          </a:xfrm>
          <a:prstGeom prst="roundRect">
            <a:avLst>
              <a:gd name="adj" fmla="val 3571"/>
            </a:avLst>
          </a:prstGeom>
          <a:solidFill>
            <a:srgbClr val="EFF6FF"/>
          </a:solidFill>
          <a:ln w="25400">
            <a:solidFill>
              <a:srgbClr val="BFDBFE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4839005" y="1333195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972507" y="1466698"/>
            <a:ext cx="190195" cy="190195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4839005" y="1943100"/>
            <a:ext cx="29910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Simplify Usage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4839005" y="2328062"/>
            <a:ext cx="295351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One clear job-to-be-done. Don't ask a consumer to learn a new system; </a:t>
            </a:r>
            <a:r>
              <a:rPr lang="en-US" sz="1100" b="1" dirty="0">
                <a:solidFill>
                  <a:srgbClr val="2563E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solve one problem perfectly</a:t>
            </a:r>
            <a:r>
              <a:rPr lang="en-US" sz="11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8153705" y="1086307"/>
            <a:ext cx="3372307" cy="2419502"/>
          </a:xfrm>
          <a:prstGeom prst="roundRect">
            <a:avLst>
              <a:gd name="adj" fmla="val 3571"/>
            </a:avLst>
          </a:prstGeom>
          <a:solidFill>
            <a:srgbClr val="FEF2F2"/>
          </a:solidFill>
          <a:ln w="25400">
            <a:solidFill>
              <a:srgbClr val="FECACA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7"/>
          <p:cNvSpPr/>
          <p:nvPr/>
        </p:nvSpPr>
        <p:spPr>
          <a:xfrm>
            <a:off x="8401507" y="1333195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rcRect l="-1282" r="-1282"/>
          <a:stretch/>
        </p:blipFill>
        <p:spPr>
          <a:xfrm>
            <a:off x="8520379" y="1466698"/>
            <a:ext cx="219456" cy="190195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8401507" y="1943100"/>
            <a:ext cx="29910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Respect Fatigue</a:t>
            </a:r>
            <a:endParaRPr lang="en-US" sz="1600" dirty="0"/>
          </a:p>
        </p:txBody>
      </p:sp>
      <p:sp>
        <p:nvSpPr>
          <p:cNvPr id="27" name="Text 19"/>
          <p:cNvSpPr txBox="1"/>
          <p:nvPr/>
        </p:nvSpPr>
        <p:spPr>
          <a:xfrm>
            <a:off x="8401507" y="2328062"/>
            <a:ext cx="295351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Remove steps, shrink decisions. If it requires willpower, it fails. Design for the </a:t>
            </a:r>
            <a:r>
              <a:rPr lang="en-US" sz="1100" b="1" dirty="0">
                <a:solidFill>
                  <a:srgbClr val="DC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tired consumer</a:t>
            </a:r>
            <a:r>
              <a:rPr lang="en-US" sz="11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4591202" y="3694176"/>
            <a:ext cx="3372307" cy="2419502"/>
          </a:xfrm>
          <a:prstGeom prst="roundRect">
            <a:avLst>
              <a:gd name="adj" fmla="val 3571"/>
            </a:avLst>
          </a:prstGeom>
          <a:solidFill>
            <a:srgbClr val="ECFDF5"/>
          </a:solidFill>
          <a:ln w="25400">
            <a:solidFill>
              <a:srgbClr val="A7F3D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1"/>
          <p:cNvSpPr/>
          <p:nvPr/>
        </p:nvSpPr>
        <p:spPr>
          <a:xfrm>
            <a:off x="4839005" y="3941978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972507" y="4075481"/>
            <a:ext cx="190195" cy="190195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4839005" y="4551883"/>
            <a:ext cx="29910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Design for Real Lives</a:t>
            </a:r>
            <a:endParaRPr lang="en-US" sz="1600" dirty="0"/>
          </a:p>
        </p:txBody>
      </p:sp>
      <p:sp>
        <p:nvSpPr>
          <p:cNvPr id="32" name="Text 23"/>
          <p:cNvSpPr txBox="1"/>
          <p:nvPr/>
        </p:nvSpPr>
        <p:spPr>
          <a:xfrm>
            <a:off x="4839005" y="4936846"/>
            <a:ext cx="295351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Use familiar cues and obvious moments. Avoid strict regimens. Make it </a:t>
            </a:r>
            <a:r>
              <a:rPr lang="en-US" sz="1100" b="1" dirty="0">
                <a:solidFill>
                  <a:srgbClr val="0596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reversible and forgiving</a:t>
            </a:r>
            <a:r>
              <a:rPr lang="en-US" sz="11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</a:t>
            </a:r>
            <a:endParaRPr lang="en-US" sz="1100" dirty="0"/>
          </a:p>
        </p:txBody>
      </p:sp>
      <p:sp>
        <p:nvSpPr>
          <p:cNvPr id="33" name="Shape 24"/>
          <p:cNvSpPr/>
          <p:nvPr/>
        </p:nvSpPr>
        <p:spPr>
          <a:xfrm>
            <a:off x="8153705" y="3694176"/>
            <a:ext cx="3372307" cy="2419502"/>
          </a:xfrm>
          <a:prstGeom prst="roundRect">
            <a:avLst>
              <a:gd name="adj" fmla="val 3571"/>
            </a:avLst>
          </a:prstGeom>
          <a:solidFill>
            <a:srgbClr val="ECFEFF"/>
          </a:solidFill>
          <a:ln w="25400">
            <a:solidFill>
              <a:srgbClr val="A5F3FC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5"/>
          <p:cNvSpPr/>
          <p:nvPr/>
        </p:nvSpPr>
        <p:spPr>
          <a:xfrm>
            <a:off x="8401507" y="3941978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534095" y="4075481"/>
            <a:ext cx="190195" cy="190195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8401507" y="4551883"/>
            <a:ext cx="29910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Price &amp; Pack for Repeat</a:t>
            </a:r>
            <a:endParaRPr lang="en-US" sz="1600" dirty="0"/>
          </a:p>
        </p:txBody>
      </p:sp>
      <p:sp>
        <p:nvSpPr>
          <p:cNvPr id="37" name="Text 27"/>
          <p:cNvSpPr txBox="1"/>
          <p:nvPr/>
        </p:nvSpPr>
        <p:spPr>
          <a:xfrm>
            <a:off x="8401507" y="4936846"/>
            <a:ext cx="295351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Entry points must be low risk. Ensure "cost of failure" feels negligible. Enable consistency the </a:t>
            </a:r>
            <a:r>
              <a:rPr lang="en-US" sz="1100" b="1" dirty="0">
                <a:solidFill>
                  <a:srgbClr val="0891B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budget can carry</a:t>
            </a:r>
            <a:r>
              <a:rPr lang="en-US" sz="11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</a:t>
            </a:r>
            <a:endParaRPr lang="en-US" sz="1100" dirty="0"/>
          </a:p>
        </p:txBody>
      </p:sp>
      <p:sp>
        <p:nvSpPr>
          <p:cNvPr id="38" name="Shape 28"/>
          <p:cNvSpPr/>
          <p:nvPr/>
        </p:nvSpPr>
        <p:spPr>
          <a:xfrm>
            <a:off x="666598" y="6025371"/>
            <a:ext cx="75895" cy="75895"/>
          </a:xfrm>
          <a:prstGeom prst="ellipse">
            <a:avLst/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39" name="Text 29"/>
          <p:cNvSpPr txBox="1"/>
          <p:nvPr/>
        </p:nvSpPr>
        <p:spPr>
          <a:xfrm>
            <a:off x="819302" y="5987881"/>
            <a:ext cx="14840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9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Brand Implications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2" b="-2"/>
          <a:stretch/>
        </p:blipFill>
        <p:spPr>
          <a:xfrm>
            <a:off x="571500" y="1181405"/>
            <a:ext cx="11048695" cy="108813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28700" y="1280160"/>
            <a:ext cx="102495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DBEAF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Core Strategic Principle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28700" y="1508760"/>
            <a:ext cx="103062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kern="0" spc="-90" dirty="0">
                <a:solidFill>
                  <a:srgbClr val="FFFFF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 Design for function,</a:t>
            </a:r>
            <a:r>
              <a:rPr lang="en-US" sz="3600" dirty="0"/>
              <a:t> </a:t>
            </a:r>
            <a:r>
              <a:rPr lang="en-US" sz="3600" kern="0" spc="-90" dirty="0">
                <a:solidFill>
                  <a:srgbClr val="FFFFF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not transformation. 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571500" y="2826410"/>
            <a:ext cx="3534156" cy="2266799"/>
          </a:xfrm>
          <a:prstGeom prst="roundRect">
            <a:avLst>
              <a:gd name="adj" fmla="val 20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09244" y="3064154"/>
            <a:ext cx="418795" cy="418795"/>
          </a:xfrm>
          <a:prstGeom prst="roundRect">
            <a:avLst>
              <a:gd name="adj" fmla="val 59547"/>
            </a:avLst>
          </a:prstGeom>
          <a:solidFill>
            <a:srgbClr val="FF6B6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964692" y="3130906"/>
            <a:ext cx="191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09243" y="3635654"/>
            <a:ext cx="1901299" cy="184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Reduce Friction</a:t>
            </a:r>
            <a:endParaRPr lang="en-US" dirty="0"/>
          </a:p>
        </p:txBody>
      </p:sp>
      <p:sp>
        <p:nvSpPr>
          <p:cNvPr id="11" name="Text 8"/>
          <p:cNvSpPr txBox="1"/>
          <p:nvPr/>
        </p:nvSpPr>
        <p:spPr>
          <a:xfrm>
            <a:off x="809244" y="3941064"/>
            <a:ext cx="3134563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Remove steps at every touchpoint. If it feels like 'admin' or extra work, it will be the first thing cut when energy is low.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30598" y="2826410"/>
            <a:ext cx="3534156" cy="2266799"/>
          </a:xfrm>
          <a:prstGeom prst="roundRect">
            <a:avLst>
              <a:gd name="adj" fmla="val 20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568342" y="3064154"/>
            <a:ext cx="418795" cy="418795"/>
          </a:xfrm>
          <a:prstGeom prst="roundRect">
            <a:avLst>
              <a:gd name="adj" fmla="val 59547"/>
            </a:avLst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4723790" y="3130906"/>
            <a:ext cx="191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4568341" y="3635654"/>
            <a:ext cx="1886961" cy="184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Support Reality</a:t>
            </a:r>
            <a:endParaRPr lang="en-US" dirty="0"/>
          </a:p>
        </p:txBody>
      </p:sp>
      <p:sp>
        <p:nvSpPr>
          <p:cNvPr id="16" name="Text 13"/>
          <p:cNvSpPr txBox="1"/>
          <p:nvPr/>
        </p:nvSpPr>
        <p:spPr>
          <a:xfrm>
            <a:off x="4568342" y="3941064"/>
            <a:ext cx="3134563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Don't try to rewrite their lives. Build products that fit into the chaotic, tired, budget-conscious reality they already manage.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089697" y="2826410"/>
            <a:ext cx="3534156" cy="2266799"/>
          </a:xfrm>
          <a:prstGeom prst="roundRect">
            <a:avLst>
              <a:gd name="adj" fmla="val 20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8328355" y="3064154"/>
            <a:ext cx="418795" cy="418795"/>
          </a:xfrm>
          <a:prstGeom prst="roundRect">
            <a:avLst>
              <a:gd name="adj" fmla="val 59547"/>
            </a:avLst>
          </a:prstGeom>
          <a:solidFill>
            <a:srgbClr val="FBBF2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8482889" y="3130906"/>
            <a:ext cx="191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8328355" y="3635654"/>
            <a:ext cx="2352360" cy="184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Enable Consistency</a:t>
            </a:r>
            <a:endParaRPr lang="en-US" dirty="0"/>
          </a:p>
        </p:txBody>
      </p:sp>
      <p:sp>
        <p:nvSpPr>
          <p:cNvPr id="21" name="Text 18"/>
          <p:cNvSpPr txBox="1"/>
          <p:nvPr/>
        </p:nvSpPr>
        <p:spPr>
          <a:xfrm>
            <a:off x="8328355" y="3941064"/>
            <a:ext cx="3134563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 routines the budget can actually carry. Success is defined by what the consumer can afford to do again tomorrow.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71500" y="647395"/>
            <a:ext cx="771754" cy="228600"/>
          </a:xfrm>
          <a:prstGeom prst="roundRect">
            <a:avLst>
              <a:gd name="adj" fmla="val 66667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571500" y="647395"/>
            <a:ext cx="829361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5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Strategy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448410" y="685800"/>
            <a:ext cx="99669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5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New Brief</a:t>
            </a:r>
            <a:endParaRPr lang="en-US" sz="90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rcRect l="2128" r="2128"/>
          <a:stretch/>
        </p:blipFill>
        <p:spPr>
          <a:xfrm>
            <a:off x="11239805" y="571500"/>
            <a:ext cx="381305" cy="381305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571500" y="5777439"/>
            <a:ext cx="75895" cy="75895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 txBox="1"/>
          <p:nvPr/>
        </p:nvSpPr>
        <p:spPr>
          <a:xfrm>
            <a:off x="724205" y="5720746"/>
            <a:ext cx="15416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Innovation Guidelines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3" b="-3"/>
          <a:stretch/>
        </p:blipFill>
        <p:spPr>
          <a:xfrm>
            <a:off x="1218895" y="1447495"/>
            <a:ext cx="9753905" cy="39913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753905" y="4219956"/>
            <a:ext cx="1218895" cy="1218895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1600200" y="972007"/>
            <a:ext cx="967435" cy="1524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dirty="0">
                <a:solidFill>
                  <a:srgbClr val="FBBF24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“</a:t>
            </a:r>
            <a:endParaRPr lang="en-US" sz="12000" dirty="0"/>
          </a:p>
        </p:txBody>
      </p:sp>
      <p:sp>
        <p:nvSpPr>
          <p:cNvPr id="7" name="Text 4"/>
          <p:cNvSpPr txBox="1"/>
          <p:nvPr/>
        </p:nvSpPr>
        <p:spPr>
          <a:xfrm>
            <a:off x="1790395" y="2018995"/>
            <a:ext cx="92208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DBEAF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Health innovation in South Africa isn’t about becoming better versions of ourselves.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790395" y="2667305"/>
            <a:ext cx="87828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dirty="0">
                <a:solidFill>
                  <a:srgbClr val="FFFFF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 It’s about </a:t>
            </a:r>
            <a:r>
              <a:rPr lang="en-US" sz="36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coping better </a:t>
            </a:r>
            <a:r>
              <a:rPr lang="en-US" sz="3600" dirty="0">
                <a:solidFill>
                  <a:srgbClr val="FFFFF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within the lives we already have. 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1790395" y="4496105"/>
            <a:ext cx="86493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FF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Brands that support </a:t>
            </a: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functionality</a:t>
            </a:r>
            <a:r>
              <a:rPr lang="en-US" sz="1800" dirty="0">
                <a:solidFill>
                  <a:srgbClr val="EFF6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will earn long-term trust. </a:t>
            </a:r>
            <a:endParaRPr lang="en-US" sz="18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>
            <a:alphaModFix amt="40000"/>
          </a:blip>
          <a:srcRect l="-201" r="-201"/>
          <a:stretch/>
        </p:blipFill>
        <p:spPr>
          <a:xfrm>
            <a:off x="1790395" y="4114800"/>
            <a:ext cx="914400" cy="75895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61695" y="571500"/>
            <a:ext cx="1114654" cy="228600"/>
          </a:xfrm>
          <a:prstGeom prst="roundRect">
            <a:avLst>
              <a:gd name="adj" fmla="val 66667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761695" y="571500"/>
            <a:ext cx="1172261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Innovatr POV</a:t>
            </a:r>
            <a:endParaRPr lang="en-US" sz="9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l="2128" r="2128"/>
          <a:stretch/>
        </p:blipFill>
        <p:spPr>
          <a:xfrm>
            <a:off x="11048695" y="571500"/>
            <a:ext cx="381305" cy="381305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761695" y="6133795"/>
            <a:ext cx="114300" cy="1143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 txBox="1"/>
          <p:nvPr/>
        </p:nvSpPr>
        <p:spPr>
          <a:xfrm>
            <a:off x="952805" y="6096305"/>
            <a:ext cx="114482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Perspective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2211019" y="6133795"/>
            <a:ext cx="114300" cy="11430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 txBox="1"/>
          <p:nvPr/>
        </p:nvSpPr>
        <p:spPr>
          <a:xfrm>
            <a:off x="2402129" y="6096305"/>
            <a:ext cx="146304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Strategic Implication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761695" y="1247242"/>
            <a:ext cx="870600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kern="0" spc="-9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This isn't a Dis-Chem move.</a:t>
            </a:r>
            <a:endParaRPr lang="en-US" sz="3600" dirty="0"/>
          </a:p>
          <a:p>
            <a:pPr marL="0" indent="0" algn="l">
              <a:buNone/>
            </a:pPr>
            <a:r>
              <a:rPr lang="en-US" sz="3600" kern="0" spc="-90" dirty="0">
                <a:solidFill>
                  <a:srgbClr val="3B82F6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It's a behavioural shift.</a:t>
            </a:r>
            <a:endParaRPr lang="en-US" sz="3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rcRect t="-247" b="-247"/>
          <a:stretch/>
        </p:blipFill>
        <p:spPr>
          <a:xfrm>
            <a:off x="761695" y="2847442"/>
            <a:ext cx="905256" cy="3520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04595" y="2847442"/>
            <a:ext cx="619963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Energy </a:t>
            </a:r>
            <a:endParaRPr lang="en-US" sz="10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rcRect t="-1100" b="-1100"/>
          <a:stretch/>
        </p:blipFill>
        <p:spPr>
          <a:xfrm>
            <a:off x="914400" y="2954426"/>
            <a:ext cx="114300" cy="133502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5"/>
          <a:srcRect t="-364" b="-364"/>
          <a:stretch/>
        </p:blipFill>
        <p:spPr>
          <a:xfrm>
            <a:off x="1772107" y="2847442"/>
            <a:ext cx="809244" cy="352044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2095805" y="2847442"/>
            <a:ext cx="54315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Sleep </a:t>
            </a:r>
            <a:endParaRPr lang="en-US" sz="10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6"/>
          <a:srcRect t="-2644" b="-2644"/>
          <a:stretch/>
        </p:blipFill>
        <p:spPr>
          <a:xfrm>
            <a:off x="1924812" y="2954426"/>
            <a:ext cx="95098" cy="133502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7"/>
          <a:srcRect t="-305" b="-305"/>
          <a:stretch/>
        </p:blipFill>
        <p:spPr>
          <a:xfrm>
            <a:off x="2689250" y="2847442"/>
            <a:ext cx="895198" cy="352044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3051353" y="2847442"/>
            <a:ext cx="59070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Stress </a:t>
            </a:r>
            <a:endParaRPr lang="en-US" sz="1000" dirty="0"/>
          </a:p>
        </p:txBody>
      </p:sp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2841955" y="2954426"/>
            <a:ext cx="133502" cy="133502"/>
          </a:xfrm>
          <a:prstGeom prst="rect">
            <a:avLst/>
          </a:prstGeom>
        </p:spPr>
      </p:pic>
      <p:pic>
        <p:nvPicPr>
          <p:cNvPr id="15" name="Image 7" descr="preencoded.png"/>
          <p:cNvPicPr>
            <a:picLocks noChangeAspect="1"/>
          </p:cNvPicPr>
          <p:nvPr/>
        </p:nvPicPr>
        <p:blipFill>
          <a:blip r:embed="rId9"/>
          <a:srcRect t="-342" b="-342"/>
          <a:stretch/>
        </p:blipFill>
        <p:spPr>
          <a:xfrm>
            <a:off x="3691433" y="2847442"/>
            <a:ext cx="1028700" cy="352044"/>
          </a:xfrm>
          <a:prstGeom prst="rect">
            <a:avLst/>
          </a:prstGeom>
        </p:spPr>
      </p:pic>
      <p:sp>
        <p:nvSpPr>
          <p:cNvPr id="16" name="Text 6"/>
          <p:cNvSpPr/>
          <p:nvPr/>
        </p:nvSpPr>
        <p:spPr>
          <a:xfrm>
            <a:off x="4053535" y="2847442"/>
            <a:ext cx="7242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Usability </a:t>
            </a:r>
            <a:endParaRPr lang="en-US" sz="1000" dirty="0"/>
          </a:p>
        </p:txBody>
      </p:sp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3843223" y="2954426"/>
            <a:ext cx="133502" cy="133502"/>
          </a:xfrm>
          <a:prstGeom prst="rect">
            <a:avLst/>
          </a:prstGeom>
        </p:spPr>
      </p:pic>
      <p:sp>
        <p:nvSpPr>
          <p:cNvPr id="18" name="Text 7"/>
          <p:cNvSpPr txBox="1"/>
          <p:nvPr/>
        </p:nvSpPr>
        <p:spPr>
          <a:xfrm>
            <a:off x="761695" y="3575304"/>
            <a:ext cx="52203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Different brands. Same direction.</a:t>
            </a:r>
            <a:endParaRPr lang="en-US" sz="1500" dirty="0"/>
          </a:p>
        </p:txBody>
      </p:sp>
      <p:sp>
        <p:nvSpPr>
          <p:cNvPr id="19" name="Text 8"/>
          <p:cNvSpPr txBox="1"/>
          <p:nvPr/>
        </p:nvSpPr>
        <p:spPr>
          <a:xfrm>
            <a:off x="761695" y="4075481"/>
            <a:ext cx="5181905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Innovatr Intelligence exists to identify these shifts early — across categories and launches — so brands understand what health means to South Africans </a:t>
            </a:r>
            <a:r>
              <a:rPr lang="en-US" sz="1300" i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now</a:t>
            </a:r>
            <a:r>
              <a:rPr lang="en-US" sz="13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not what it used to mean. </a:t>
            </a:r>
            <a:endParaRPr lang="en-US" sz="1300" dirty="0"/>
          </a:p>
        </p:txBody>
      </p:sp>
      <p:pic>
        <p:nvPicPr>
          <p:cNvPr id="20" name="Image 9" descr="preencoded.png"/>
          <p:cNvPicPr>
            <a:picLocks noChangeAspect="1"/>
          </p:cNvPicPr>
          <p:nvPr/>
        </p:nvPicPr>
        <p:blipFill>
          <a:blip r:embed="rId11"/>
          <a:srcRect t="-3" b="-3"/>
          <a:stretch/>
        </p:blipFill>
        <p:spPr>
          <a:xfrm>
            <a:off x="6393485" y="2390242"/>
            <a:ext cx="5105095" cy="2445106"/>
          </a:xfrm>
          <a:prstGeom prst="rect">
            <a:avLst/>
          </a:prstGeom>
        </p:spPr>
      </p:pic>
      <p:sp>
        <p:nvSpPr>
          <p:cNvPr id="21" name="Shape 9"/>
          <p:cNvSpPr/>
          <p:nvPr/>
        </p:nvSpPr>
        <p:spPr>
          <a:xfrm>
            <a:off x="6393485" y="2390242"/>
            <a:ext cx="57607" cy="2406701"/>
          </a:xfrm>
          <a:prstGeom prst="rect">
            <a:avLst/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0"/>
          <p:cNvSpPr/>
          <p:nvPr/>
        </p:nvSpPr>
        <p:spPr>
          <a:xfrm>
            <a:off x="6678778" y="2676450"/>
            <a:ext cx="381305" cy="381305"/>
          </a:xfrm>
          <a:prstGeom prst="roundRect">
            <a:avLst>
              <a:gd name="adj" fmla="val 59952"/>
            </a:avLst>
          </a:prstGeom>
          <a:solidFill>
            <a:srgbClr val="CFF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10" descr="preencoded.png"/>
          <p:cNvPicPr>
            <a:picLocks noChangeAspect="1"/>
          </p:cNvPicPr>
          <p:nvPr/>
        </p:nvPicPr>
        <p:blipFill>
          <a:blip r:embed="rId12"/>
          <a:srcRect l="-1773" r="-1773"/>
          <a:stretch/>
        </p:blipFill>
        <p:spPr>
          <a:xfrm>
            <a:off x="6803136" y="2781606"/>
            <a:ext cx="133502" cy="171907"/>
          </a:xfrm>
          <a:prstGeom prst="rect">
            <a:avLst/>
          </a:prstGeom>
        </p:spPr>
      </p:pic>
      <p:sp>
        <p:nvSpPr>
          <p:cNvPr id="24" name="Text 11"/>
          <p:cNvSpPr txBox="1"/>
          <p:nvPr/>
        </p:nvSpPr>
        <p:spPr>
          <a:xfrm>
            <a:off x="6678778" y="3209545"/>
            <a:ext cx="46488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11827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Innovatr Intelligence</a:t>
            </a:r>
            <a:endParaRPr lang="en-US" sz="1800" dirty="0"/>
          </a:p>
        </p:txBody>
      </p:sp>
      <p:sp>
        <p:nvSpPr>
          <p:cNvPr id="25" name="Text 12"/>
          <p:cNvSpPr txBox="1"/>
          <p:nvPr/>
        </p:nvSpPr>
        <p:spPr>
          <a:xfrm>
            <a:off x="6678778" y="3590850"/>
            <a:ext cx="46104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Members don't just track health launches. They understand the behaviour shaping them.</a:t>
            </a:r>
            <a:endParaRPr lang="en-US" sz="1000" dirty="0"/>
          </a:p>
        </p:txBody>
      </p:sp>
      <p:sp>
        <p:nvSpPr>
          <p:cNvPr id="26" name="Shape 13"/>
          <p:cNvSpPr/>
          <p:nvPr/>
        </p:nvSpPr>
        <p:spPr>
          <a:xfrm>
            <a:off x="6678778" y="4176980"/>
            <a:ext cx="2162556" cy="381305"/>
          </a:xfrm>
          <a:prstGeom prst="roundRect">
            <a:avLst>
              <a:gd name="adj" fmla="val 59952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14"/>
          <p:cNvSpPr txBox="1"/>
          <p:nvPr/>
        </p:nvSpPr>
        <p:spPr>
          <a:xfrm>
            <a:off x="6869887" y="4176980"/>
            <a:ext cx="165506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8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Join the conversation</a:t>
            </a:r>
            <a:endParaRPr lang="en-US" sz="900" dirty="0"/>
          </a:p>
        </p:txBody>
      </p:sp>
      <p:pic>
        <p:nvPicPr>
          <p:cNvPr id="28" name="Image 11" descr="preencoded.png"/>
          <p:cNvPicPr>
            <a:picLocks noChangeAspect="1"/>
          </p:cNvPicPr>
          <p:nvPr/>
        </p:nvPicPr>
        <p:blipFill>
          <a:blip r:embed="rId13"/>
          <a:srcRect l="-2910" r="-2910"/>
          <a:stretch/>
        </p:blipFill>
        <p:spPr>
          <a:xfrm>
            <a:off x="8534095" y="4301338"/>
            <a:ext cx="114300" cy="123444"/>
          </a:xfrm>
          <a:prstGeom prst="rect">
            <a:avLst/>
          </a:prstGeom>
        </p:spPr>
      </p:pic>
      <p:sp>
        <p:nvSpPr>
          <p:cNvPr id="30" name="Shape 16"/>
          <p:cNvSpPr/>
          <p:nvPr/>
        </p:nvSpPr>
        <p:spPr>
          <a:xfrm>
            <a:off x="761695" y="5915251"/>
            <a:ext cx="95098" cy="9509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17"/>
          <p:cNvSpPr txBox="1"/>
          <p:nvPr/>
        </p:nvSpPr>
        <p:spPr>
          <a:xfrm>
            <a:off x="933602" y="5886904"/>
            <a:ext cx="11530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2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Closing Thought</a:t>
            </a:r>
            <a:endParaRPr lang="en-US" sz="900" dirty="0"/>
          </a:p>
        </p:txBody>
      </p:sp>
      <p:pic>
        <p:nvPicPr>
          <p:cNvPr id="32" name="Image 2" descr="preencoded.png">
            <a:extLst>
              <a:ext uri="{FF2B5EF4-FFF2-40B4-BE49-F238E27FC236}">
                <a16:creationId xmlns:a16="http://schemas.microsoft.com/office/drawing/2014/main" id="{9B320856-8182-0DA7-26F4-19FE864C85C4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2128" r="2128"/>
          <a:stretch/>
        </p:blipFill>
        <p:spPr>
          <a:xfrm>
            <a:off x="11048695" y="571500"/>
            <a:ext cx="381305" cy="38130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rcRect t="282" b="281"/>
          <a:stretch/>
        </p:blipFill>
        <p:spPr>
          <a:xfrm>
            <a:off x="11336731" y="457200"/>
            <a:ext cx="400507" cy="38130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14400" y="1392631"/>
            <a:ext cx="8706002" cy="1429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11827"/>
                </a:solidFill>
                <a:latin typeface="DM Serif Display" pitchFamily="2" charset="0"/>
                <a:ea typeface="Playfair Display" pitchFamily="34" charset="-122"/>
                <a:cs typeface="Playfair Display" pitchFamily="34" charset="-120"/>
              </a:rPr>
              <a:t>The detail sits</a:t>
            </a:r>
            <a:endParaRPr lang="en-US" sz="4500" dirty="0">
              <a:latin typeface="DM Serif Display" pitchFamily="2" charset="0"/>
            </a:endParaRPr>
          </a:p>
          <a:p>
            <a:pPr marL="0" indent="0" algn="l">
              <a:buNone/>
            </a:pPr>
            <a:r>
              <a:rPr lang="en-US" sz="4500" b="1" dirty="0">
                <a:solidFill>
                  <a:srgbClr val="4169E1"/>
                </a:solidFill>
                <a:latin typeface="DM Serif Display" pitchFamily="2" charset="0"/>
                <a:ea typeface="Playfair Display" pitchFamily="34" charset="-122"/>
                <a:cs typeface="Playfair Display" pitchFamily="34" charset="-120"/>
              </a:rPr>
              <a:t>behind the data.</a:t>
            </a:r>
            <a:endParaRPr lang="en-US" sz="4500" dirty="0">
              <a:latin typeface="DM Serif Display" pitchFamily="2" charset="0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914400" y="3126334"/>
            <a:ext cx="6477610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This deck represents directional insight, not the full diagnostic. Innovatr members have access to the complete report, including deeper data cuts, category-specific formatting, and ongoing behavioral tracking.</a:t>
            </a: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420" b="-420"/>
          <a:stretch/>
        </p:blipFill>
        <p:spPr>
          <a:xfrm>
            <a:off x="914400" y="4283964"/>
            <a:ext cx="761695" cy="3840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14400" y="4855464"/>
            <a:ext cx="86493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access the full report: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914400" y="5293462"/>
            <a:ext cx="75895" cy="7589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1104595" y="5198364"/>
            <a:ext cx="138348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innovatr.co.za</a:t>
            </a:r>
            <a:endParaRPr lang="en-US" sz="13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2567635" y="5293462"/>
            <a:ext cx="75895" cy="7589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Text 8"/>
          <p:cNvSpPr txBox="1"/>
          <p:nvPr/>
        </p:nvSpPr>
        <p:spPr>
          <a:xfrm>
            <a:off x="2758745" y="5198364"/>
            <a:ext cx="22384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hannah@innovatr.co.za</a:t>
            </a:r>
            <a:endParaRPr lang="en-US" sz="13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2383</Words>
  <Application>Microsoft Macintosh PowerPoint</Application>
  <PresentationFormat>Widescreen</PresentationFormat>
  <Paragraphs>315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DM Serif Display</vt:lpstr>
      <vt:lpstr>Inter</vt:lpstr>
      <vt:lpstr>Roboto</vt:lpstr>
      <vt:lpstr>ui-sans-serif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Hannah Steven</cp:lastModifiedBy>
  <cp:revision>4</cp:revision>
  <dcterms:created xsi:type="dcterms:W3CDTF">2026-02-05T14:48:05Z</dcterms:created>
  <dcterms:modified xsi:type="dcterms:W3CDTF">2026-02-06T07:18:00Z</dcterms:modified>
</cp:coreProperties>
</file>