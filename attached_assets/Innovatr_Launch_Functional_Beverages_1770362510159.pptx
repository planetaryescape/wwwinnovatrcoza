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1" r:id="rId23"/>
    <p:sldId id="283" r:id="rId24"/>
    <p:sldId id="28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6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9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2.jpe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2.jpe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2.jpe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5574"/>
          <a:stretch>
            <a:fillRect/>
          </a:stretch>
        </p:blipFill>
        <p:spPr>
          <a:xfrm>
            <a:off x="0" y="509321"/>
            <a:ext cx="12015347" cy="6348679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DAA100D9-EAD7-ADAA-9138-839FD4506018}"/>
              </a:ext>
            </a:extLst>
          </p:cNvPr>
          <p:cNvSpPr/>
          <p:nvPr/>
        </p:nvSpPr>
        <p:spPr>
          <a:xfrm>
            <a:off x="1" y="1"/>
            <a:ext cx="6345382" cy="2533467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621268" y="440157"/>
            <a:ext cx="10649102" cy="209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kern="0" spc="-126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'Better for You’ Is</a:t>
            </a:r>
          </a:p>
          <a:p>
            <a:pPr marL="0" indent="0" algn="l">
              <a:buNone/>
            </a:pPr>
            <a:r>
              <a:rPr lang="en-US" sz="5400" kern="0" spc="-126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Background Noise </a:t>
            </a:r>
            <a:endParaRPr lang="en-US" sz="5400" dirty="0">
              <a:solidFill>
                <a:srgbClr val="4860FA"/>
              </a:solidFill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21268" y="2218914"/>
            <a:ext cx="107826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7" dirty="0">
                <a:latin typeface="Roboto" pitchFamily="34" charset="0"/>
                <a:ea typeface="Roboto" pitchFamily="34" charset="-122"/>
                <a:cs typeface="Roboto" pitchFamily="34" charset="-120"/>
              </a:rPr>
              <a:t>It's not a category crisis. It's a vibe shift.</a:t>
            </a:r>
            <a:endParaRPr lang="en-US" sz="160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6598" y="2155241"/>
            <a:ext cx="4858207" cy="213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0" kern="0" spc="-1050" dirty="0">
                <a:solidFill>
                  <a:srgbClr val="FFD96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74%</a:t>
            </a:r>
            <a:endParaRPr lang="en-US" sz="21000" dirty="0"/>
          </a:p>
        </p:txBody>
      </p:sp>
      <p:sp>
        <p:nvSpPr>
          <p:cNvPr id="5" name="Shape 3"/>
          <p:cNvSpPr/>
          <p:nvPr/>
        </p:nvSpPr>
        <p:spPr>
          <a:xfrm>
            <a:off x="761695" y="4441241"/>
            <a:ext cx="57607" cy="55229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4441241"/>
            <a:ext cx="3457346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South Africans say brand trust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non-negotiable. 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17" r="-217"/>
          <a:stretch/>
        </p:blipFill>
        <p:spPr>
          <a:xfrm>
            <a:off x="5922569" y="761695"/>
            <a:ext cx="952805" cy="758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22569" y="1143000"/>
            <a:ext cx="608932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Quiet Crisis Nobody's</a:t>
            </a:r>
            <a:endParaRPr lang="en-US" sz="4200" dirty="0">
              <a:solidFill>
                <a:srgbClr val="4860FA"/>
              </a:solidFill>
            </a:endParaRPr>
          </a:p>
          <a:p>
            <a:pPr marL="0" indent="0" algn="l">
              <a:buNone/>
            </a:pPr>
            <a:r>
              <a:rPr lang="en-US" sz="4200" kern="0" spc="-84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Talking About</a:t>
            </a:r>
            <a:endParaRPr lang="en-US" sz="4200" dirty="0">
              <a:solidFill>
                <a:srgbClr val="4860FA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922569" y="3196934"/>
            <a:ext cx="5514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924702" y="2532888"/>
            <a:ext cx="56007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latin typeface="Roboto" pitchFamily="34" charset="0"/>
                <a:ea typeface="Roboto" pitchFamily="34" charset="-122"/>
                <a:cs typeface="Roboto" pitchFamily="34" charset="-120"/>
              </a:rPr>
              <a:t>South African consumers are driven by survival, not optimization.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5922569" y="3627616"/>
            <a:ext cx="190195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5469" y="3580068"/>
            <a:ext cx="5248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Skepticism is Rising:</a:t>
            </a: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Consumers are rejecting "loud" claims and complex promises that feel risky. 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22569" y="4370109"/>
            <a:ext cx="171907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46266" y="4322560"/>
            <a:ext cx="52678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Value-Conscious Market:</a:t>
            </a: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 constrained economy, believability is the new currency. If it sounds too good, it's ignored.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22569" y="5113516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46266" y="5065968"/>
            <a:ext cx="52678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Expectation Gap:</a:t>
            </a: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want the function, but resent the "new you" sales pitch. 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761695"/>
            <a:ext cx="75895" cy="571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318743"/>
            <a:ext cx="97923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Screaming to Whispering</a:t>
            </a:r>
            <a:endParaRPr lang="en-US" sz="4000" dirty="0">
              <a:solidFill>
                <a:srgbClr val="4860FA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61695" y="1108784"/>
            <a:ext cx="937214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latin typeface="Roboto" pitchFamily="34" charset="0"/>
                <a:ea typeface="Roboto" pitchFamily="34" charset="-122"/>
                <a:cs typeface="Roboto" pitchFamily="34" charset="-120"/>
              </a:rPr>
              <a:t>The strategic pivot from volume to value. In a skeptical market, quiet confidence outperforms loud claims.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695" y="1829431"/>
            <a:ext cx="5143500" cy="4265676"/>
          </a:xfrm>
          <a:prstGeom prst="roundRect">
            <a:avLst>
              <a:gd name="adj" fmla="val 468"/>
            </a:avLst>
          </a:prstGeom>
          <a:solidFill>
            <a:srgbClr val="FFB4AB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1695" y="1829431"/>
            <a:ext cx="57607" cy="4265676"/>
          </a:xfrm>
          <a:prstGeom prst="roundRect">
            <a:avLst>
              <a:gd name="adj" fmla="val 38403"/>
            </a:avLst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/>
        </p:blipFill>
        <p:spPr>
          <a:xfrm>
            <a:off x="4839004" y="1950471"/>
            <a:ext cx="609905" cy="6099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76502" y="2092660"/>
            <a:ext cx="4172407" cy="3145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50109" y="2104547"/>
            <a:ext cx="3255486" cy="350216"/>
          </a:xfrm>
          <a:prstGeom prst="rect">
            <a:avLst/>
          </a:prstGeom>
          <a:solidFill>
            <a:srgbClr val="FFB4AB">
              <a:alpha val="2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8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Old Model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276502" y="2635814"/>
            <a:ext cx="4338828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36" dirty="0">
                <a:solidFill>
                  <a:srgbClr val="C628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Loud, Aggressive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36" dirty="0">
                <a:solidFill>
                  <a:srgbClr val="C628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Claims 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900429"/>
            <a:ext cx="4019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Hero-ingredient shouting &amp; starbursts 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76502" y="3938834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80998" y="4376832"/>
            <a:ext cx="39438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"Do more / be better" performance messaging 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1276502" y="4415236"/>
            <a:ext cx="152705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80998" y="5139441"/>
            <a:ext cx="42675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as the headline differentiator 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1276502" y="5176932"/>
            <a:ext cx="152705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19402" y="5614929"/>
            <a:ext cx="39438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Education-heavy packaging design </a:t>
            </a:r>
            <a:endParaRPr lang="en-US" sz="15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1276502" y="5653334"/>
            <a:ext cx="190195" cy="171907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286500" y="1829431"/>
            <a:ext cx="5143500" cy="4265676"/>
          </a:xfrm>
          <a:prstGeom prst="roundRect">
            <a:avLst>
              <a:gd name="adj" fmla="val 468"/>
            </a:avLst>
          </a:prstGeom>
          <a:solidFill>
            <a:srgbClr val="A5D6A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6286500" y="1829431"/>
            <a:ext cx="57607" cy="4265676"/>
          </a:xfrm>
          <a:prstGeom prst="roundRect">
            <a:avLst>
              <a:gd name="adj" fmla="val 38403"/>
            </a:avLst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>
            <a:alphaModFix amt="25000"/>
          </a:blip>
          <a:srcRect t="-45" b="-45"/>
          <a:stretch/>
        </p:blipFill>
        <p:spPr>
          <a:xfrm>
            <a:off x="10477652" y="1841838"/>
            <a:ext cx="761695" cy="609905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801307" y="2092660"/>
            <a:ext cx="4172407" cy="3145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6"/>
          <p:cNvSpPr/>
          <p:nvPr/>
        </p:nvSpPr>
        <p:spPr>
          <a:xfrm>
            <a:off x="6800394" y="2118843"/>
            <a:ext cx="3409798" cy="335919"/>
          </a:xfrm>
          <a:prstGeom prst="rect">
            <a:avLst/>
          </a:prstGeom>
          <a:solidFill>
            <a:srgbClr val="A5D6A7">
              <a:alpha val="2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8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New Model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6801307" y="2635814"/>
            <a:ext cx="4338828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36" dirty="0">
                <a:solidFill>
                  <a:srgbClr val="2E7D3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Quiet, Integrated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36" dirty="0">
                <a:solidFill>
                  <a:srgbClr val="2E7D3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</a:t>
            </a:r>
            <a:endParaRPr lang="en-US" sz="3600" dirty="0"/>
          </a:p>
        </p:txBody>
      </p:sp>
      <p:sp>
        <p:nvSpPr>
          <p:cNvPr id="27" name="Text 18"/>
          <p:cNvSpPr txBox="1"/>
          <p:nvPr/>
        </p:nvSpPr>
        <p:spPr>
          <a:xfrm>
            <a:off x="7105802" y="3900429"/>
            <a:ext cx="3982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normalized &amp; expected </a:t>
            </a:r>
            <a:endParaRPr lang="en-US" sz="15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6801307" y="3938834"/>
            <a:ext cx="152705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2554" y="4376832"/>
            <a:ext cx="3972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"Daily balance" integration messaging </a:t>
            </a:r>
            <a:endParaRPr lang="en-US" sz="15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 l="-1064" r="-1064"/>
          <a:stretch/>
        </p:blipFill>
        <p:spPr>
          <a:xfrm>
            <a:off x="6801307" y="4415236"/>
            <a:ext cx="219456" cy="171907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144207" y="4853234"/>
            <a:ext cx="39438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as a supporting attribute </a:t>
            </a:r>
            <a:endParaRPr lang="en-US" sz="15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t="-842" b="-842"/>
          <a:stretch/>
        </p:blipFill>
        <p:spPr>
          <a:xfrm>
            <a:off x="6801307" y="4891639"/>
            <a:ext cx="190195" cy="171907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7144207" y="5329636"/>
            <a:ext cx="39438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Experience-led, intuitive cues </a:t>
            </a:r>
            <a:endParaRPr lang="en-US" sz="15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rcRect t="-842" b="-842"/>
          <a:stretch/>
        </p:blipFill>
        <p:spPr>
          <a:xfrm>
            <a:off x="6801307" y="5368041"/>
            <a:ext cx="190195" cy="171907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2128" r="2128"/>
          <a:stretch/>
        </p:blipFill>
        <p:spPr>
          <a:xfrm>
            <a:off x="10858500" y="381305"/>
            <a:ext cx="761695" cy="761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7618" y="761695"/>
            <a:ext cx="1228954" cy="571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7618" y="761695"/>
            <a:ext cx="1228954" cy="571500"/>
          </a:xfrm>
          <a:prstGeom prst="rect">
            <a:avLst/>
          </a:prstGeom>
          <a:solidFill>
            <a:srgbClr val="FFB4A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60" dirty="0">
                <a:solidFill>
                  <a:srgbClr val="C6282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7618" y="1638605"/>
            <a:ext cx="4070908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300" kern="0" spc="-126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Died?</a:t>
            </a:r>
            <a:endParaRPr lang="en-US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387618" y="2943952"/>
            <a:ext cx="369947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feedback reveals a complete rejection of the old functional beverage playbook.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99102" y="1285317"/>
            <a:ext cx="6734556" cy="1505102"/>
          </a:xfrm>
          <a:prstGeom prst="rect">
            <a:avLst/>
          </a:prstGeom>
          <a:solidFill>
            <a:srgbClr val="FFB4AB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99102" y="1285317"/>
            <a:ext cx="57607" cy="1505102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2799" y="1589812"/>
            <a:ext cx="6483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861304" y="1589812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Loud Health Claims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861304" y="2001292"/>
            <a:ext cx="53437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"10x energy" and aggressive promises are dismissed as noise. In a skeptical market, volume kills credibility.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99102" y="3014447"/>
            <a:ext cx="6734556" cy="1505102"/>
          </a:xfrm>
          <a:prstGeom prst="rect">
            <a:avLst/>
          </a:prstGeom>
          <a:solidFill>
            <a:srgbClr val="FFB3D9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99102" y="3014447"/>
            <a:ext cx="57607" cy="1505102"/>
          </a:xfrm>
          <a:prstGeom prst="rect">
            <a:avLst/>
          </a:prstGeom>
          <a:solidFill>
            <a:srgbClr val="FFB3D9"/>
          </a:solidFill>
          <a:ln w="12700">
            <a:solidFill>
              <a:srgbClr val="FFB3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2799" y="3319857"/>
            <a:ext cx="6483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💔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5861304" y="3319857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Transformation Promises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861304" y="3731337"/>
            <a:ext cx="53437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"New You in 2 weeks" feels heavy and unattainable. It creates a fear of failure rather than a hope for success.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99102" y="4744492"/>
            <a:ext cx="6734556" cy="1505102"/>
          </a:xfrm>
          <a:prstGeom prst="rect">
            <a:avLst/>
          </a:prstGeom>
          <a:solidFill>
            <a:srgbClr val="FFD966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99102" y="4744492"/>
            <a:ext cx="57607" cy="1505102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22799" y="5049902"/>
            <a:ext cx="6483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😤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861304" y="5049902"/>
            <a:ext cx="5382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Sport-Only Positioning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861304" y="5461382"/>
            <a:ext cx="53437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don't understand who it's for. If it looks like it belongs in a locker room, it doesn't make the shopping cart.</a:t>
            </a:r>
            <a:endParaRPr lang="en-US" sz="13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476402"/>
            <a:ext cx="10858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Consumer Reality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162202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voices from South African functional beverage consumers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1695" y="1790395"/>
            <a:ext cx="3409798" cy="2013815"/>
          </a:xfrm>
          <a:prstGeom prst="roundRect">
            <a:avLst>
              <a:gd name="adj" fmla="val 1903"/>
            </a:avLst>
          </a:prstGeom>
          <a:solidFill>
            <a:srgbClr val="FFB4A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1695" y="1790395"/>
            <a:ext cx="38405" cy="2013815"/>
          </a:xfrm>
          <a:prstGeom prst="roundRect">
            <a:avLst>
              <a:gd name="adj" fmla="val 116143"/>
            </a:avLst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28700" y="2018995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628900"/>
            <a:ext cx="29910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"I'm done with promises. Just show me what's actually in it."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8700" y="3249191"/>
            <a:ext cx="2915107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28700" y="3372635"/>
            <a:ext cx="2991002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• 28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94606" y="1790395"/>
            <a:ext cx="3409798" cy="2013815"/>
          </a:xfrm>
          <a:prstGeom prst="roundRect">
            <a:avLst>
              <a:gd name="adj" fmla="val 1903"/>
            </a:avLst>
          </a:prstGeom>
          <a:solidFill>
            <a:srgbClr val="E9D5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4606" y="1790395"/>
            <a:ext cx="38405" cy="2013815"/>
          </a:xfrm>
          <a:prstGeom prst="roundRect">
            <a:avLst>
              <a:gd name="adj" fmla="val 116143"/>
            </a:avLst>
          </a:prstGeom>
          <a:solidFill>
            <a:srgbClr val="E9D5FF"/>
          </a:solidFill>
          <a:ln w="12700">
            <a:solidFill>
              <a:srgbClr val="E9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60697" y="2018995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💸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0697" y="2628900"/>
            <a:ext cx="29910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"R45 for a juice? It better solve my problems AND taste good."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0697" y="3249191"/>
            <a:ext cx="2915107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660697" y="3372635"/>
            <a:ext cx="2991002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Millennial • 34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26603" y="1790395"/>
            <a:ext cx="3409798" cy="2013815"/>
          </a:xfrm>
          <a:prstGeom prst="roundRect">
            <a:avLst>
              <a:gd name="adj" fmla="val 1903"/>
            </a:avLst>
          </a:prstGeom>
          <a:solidFill>
            <a:srgbClr val="6FEC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26603" y="1790395"/>
            <a:ext cx="38405" cy="2013815"/>
          </a:xfrm>
          <a:prstGeom prst="roundRect">
            <a:avLst>
              <a:gd name="adj" fmla="val 116143"/>
            </a:avLst>
          </a:prstGeom>
          <a:solidFill>
            <a:srgbClr val="6FECFF"/>
          </a:solidFill>
          <a:ln w="12700">
            <a:solidFill>
              <a:srgbClr val="6F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92694" y="2018995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🤔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292694" y="2628900"/>
            <a:ext cx="29910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this for gym people or normal people? I can't tell."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92694" y="3249191"/>
            <a:ext cx="2915107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292694" y="3372635"/>
            <a:ext cx="2991002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 Z • 23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1695" y="3960817"/>
            <a:ext cx="3409798" cy="2013815"/>
          </a:xfrm>
          <a:prstGeom prst="roundRect">
            <a:avLst>
              <a:gd name="adj" fmla="val 1903"/>
            </a:avLst>
          </a:prstGeom>
          <a:solidFill>
            <a:srgbClr val="7C8FF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1695" y="3960817"/>
            <a:ext cx="38405" cy="2013815"/>
          </a:xfrm>
          <a:prstGeom prst="roundRect">
            <a:avLst>
              <a:gd name="adj" fmla="val 116143"/>
            </a:avLst>
          </a:prstGeom>
          <a:solidFill>
            <a:srgbClr val="7C8FF0"/>
          </a:solidFill>
          <a:ln w="12700">
            <a:solidFill>
              <a:srgbClr val="7C8F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28700" y="4189417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😤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028700" y="4799322"/>
            <a:ext cx="29910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packaging screams at me. I just want something calm."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28700" y="5487974"/>
            <a:ext cx="2915107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28700" y="5611418"/>
            <a:ext cx="2991002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• 31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94606" y="3960817"/>
            <a:ext cx="3409798" cy="2013815"/>
          </a:xfrm>
          <a:prstGeom prst="roundRect">
            <a:avLst>
              <a:gd name="adj" fmla="val 1903"/>
            </a:avLst>
          </a:prstGeom>
          <a:solidFill>
            <a:srgbClr val="FFB4A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94606" y="3960817"/>
            <a:ext cx="38405" cy="2013815"/>
          </a:xfrm>
          <a:prstGeom prst="roundRect">
            <a:avLst>
              <a:gd name="adj" fmla="val 116143"/>
            </a:avLst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660697" y="4189417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💔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660697" y="4799322"/>
            <a:ext cx="29910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tried the 'energy boost' drink. Felt nothing. Never again."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0697" y="5487974"/>
            <a:ext cx="2915107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660697" y="5611418"/>
            <a:ext cx="2991002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Millennial • 29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26603" y="3960817"/>
            <a:ext cx="3409798" cy="2013815"/>
          </a:xfrm>
          <a:prstGeom prst="roundRect">
            <a:avLst>
              <a:gd name="adj" fmla="val 1903"/>
            </a:avLst>
          </a:prstGeom>
          <a:solidFill>
            <a:srgbClr val="A5D6A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26603" y="3960817"/>
            <a:ext cx="38405" cy="2013815"/>
          </a:xfrm>
          <a:prstGeom prst="roundRect">
            <a:avLst>
              <a:gd name="adj" fmla="val 116143"/>
            </a:avLst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292694" y="4189417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8292694" y="4799322"/>
            <a:ext cx="29910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"Checkers had it on the shelf with normal juice. That's when I trusted it."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92694" y="5487974"/>
            <a:ext cx="2915107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292694" y="5611418"/>
            <a:ext cx="2991002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• 36</a:t>
            </a:r>
            <a:endParaRPr lang="en-US" sz="10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2034540"/>
            <a:ext cx="3353105" cy="3490265"/>
          </a:xfrm>
          <a:prstGeom prst="roundRect">
            <a:avLst>
              <a:gd name="adj" fmla="val 1240"/>
            </a:avLst>
          </a:prstGeom>
          <a:solidFill>
            <a:srgbClr val="FFB4A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695" y="2034540"/>
            <a:ext cx="3353105" cy="75895"/>
          </a:xfrm>
          <a:prstGeom prst="roundRect">
            <a:avLst>
              <a:gd name="adj" fmla="val 54765"/>
            </a:avLst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491740"/>
            <a:ext cx="27816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kern="0" spc="-216" dirty="0">
                <a:solidFill>
                  <a:srgbClr val="E5737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74%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558845"/>
            <a:ext cx="269473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Trust Crisis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007815"/>
            <a:ext cx="381305" cy="38405"/>
          </a:xfrm>
          <a:prstGeom prst="rect">
            <a:avLst/>
          </a:prstGeom>
          <a:solidFill>
            <a:srgbClr val="11182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4274820"/>
            <a:ext cx="2667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 trust is non-negotiable. Half the market won't try unproven claims anymore.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295" y="2034540"/>
            <a:ext cx="3353105" cy="3490265"/>
          </a:xfrm>
          <a:prstGeom prst="roundRect">
            <a:avLst>
              <a:gd name="adj" fmla="val 1240"/>
            </a:avLst>
          </a:prstGeom>
          <a:solidFill>
            <a:srgbClr val="7C8FF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9295" y="2034540"/>
            <a:ext cx="3353105" cy="75895"/>
          </a:xfrm>
          <a:prstGeom prst="roundRect">
            <a:avLst>
              <a:gd name="adj" fmla="val 54765"/>
            </a:avLst>
          </a:prstGeom>
          <a:solidFill>
            <a:srgbClr val="7C8FF0"/>
          </a:solidFill>
          <a:ln w="12700">
            <a:solidFill>
              <a:srgbClr val="7C8F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00600" y="2491740"/>
            <a:ext cx="27816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kern="0" spc="-216" dirty="0">
                <a:solidFill>
                  <a:srgbClr val="5C6BC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67%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558845"/>
            <a:ext cx="269473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Expectation Gap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00600" y="4007815"/>
            <a:ext cx="381305" cy="38405"/>
          </a:xfrm>
          <a:prstGeom prst="rect">
            <a:avLst/>
          </a:prstGeom>
          <a:solidFill>
            <a:srgbClr val="11182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00600" y="4274820"/>
            <a:ext cx="2667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expect function but resist being sold to. They want benefits, not sermons.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6895" y="2034540"/>
            <a:ext cx="3353105" cy="3490265"/>
          </a:xfrm>
          <a:prstGeom prst="roundRect">
            <a:avLst>
              <a:gd name="adj" fmla="val 1240"/>
            </a:avLst>
          </a:prstGeom>
          <a:solidFill>
            <a:srgbClr val="6FEC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76895" y="2034540"/>
            <a:ext cx="3353105" cy="75895"/>
          </a:xfrm>
          <a:prstGeom prst="roundRect">
            <a:avLst>
              <a:gd name="adj" fmla="val 54765"/>
            </a:avLst>
          </a:prstGeom>
          <a:solidFill>
            <a:srgbClr val="6FECFF"/>
          </a:solidFill>
          <a:ln w="12700">
            <a:solidFill>
              <a:srgbClr val="6F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58200" y="2491740"/>
            <a:ext cx="27816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kern="0" spc="-216" dirty="0">
                <a:solidFill>
                  <a:srgbClr val="00ACC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36%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558845"/>
            <a:ext cx="269473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Conversion Loss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58200" y="4007815"/>
            <a:ext cx="381305" cy="38405"/>
          </a:xfrm>
          <a:prstGeom prst="rect">
            <a:avLst/>
          </a:prstGeom>
          <a:solidFill>
            <a:srgbClr val="11182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458200" y="4274820"/>
            <a:ext cx="2667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gap between initial interest and actual commitment. Where brands lose the sale.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" y="571500"/>
            <a:ext cx="10858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kern="0" spc="-96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Breakdown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761695" y="1333195"/>
            <a:ext cx="83064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data points that explain the functional beverage crisis.</a:t>
            </a:r>
            <a:endParaRPr lang="en-US" sz="18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666598"/>
            <a:ext cx="75895" cy="57150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1733702"/>
            <a:ext cx="5143500" cy="4410151"/>
          </a:xfrm>
          <a:prstGeom prst="roundRect">
            <a:avLst>
              <a:gd name="adj" fmla="val 717"/>
            </a:avLst>
          </a:prstGeom>
          <a:solidFill>
            <a:srgbClr val="A5D6A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695" y="1733702"/>
            <a:ext cx="5143500" cy="75895"/>
          </a:xfrm>
          <a:prstGeom prst="roundRect">
            <a:avLst>
              <a:gd name="adj" fmla="val 41635"/>
            </a:avLst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4381805" y="4615891"/>
            <a:ext cx="1714500" cy="1714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7105" y="2800807"/>
            <a:ext cx="4533595" cy="9144"/>
          </a:xfrm>
          <a:prstGeom prst="rect">
            <a:avLst/>
          </a:prstGeom>
          <a:solidFill>
            <a:srgbClr val="A5D6A7">
              <a:alpha val="30000"/>
            </a:srgbClr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7105" y="2190902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24305" y="2115007"/>
            <a:ext cx="196138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E7D3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Where It Wins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1067105" y="3133649"/>
            <a:ext cx="267005" cy="267005"/>
          </a:xfrm>
          <a:prstGeom prst="ellipse">
            <a:avLst/>
          </a:prstGeom>
          <a:solidFill>
            <a:srgbClr val="A5D6A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43000" y="3200400"/>
            <a:ext cx="114300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85900" y="3114446"/>
            <a:ext cx="3400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Calm &amp; Clear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485900" y="3409798"/>
            <a:ext cx="38935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core ingredients, plain language, single benefit.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067105" y="3870655"/>
            <a:ext cx="267005" cy="267005"/>
          </a:xfrm>
          <a:prstGeom prst="ellipse">
            <a:avLst/>
          </a:prstGeom>
          <a:solidFill>
            <a:srgbClr val="A5D6A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43000" y="3937406"/>
            <a:ext cx="114300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85900" y="3852367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Everyday Use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485900" y="4146804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comfort wins over dramatic one-off results.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067105" y="4608576"/>
            <a:ext cx="267005" cy="267005"/>
          </a:xfrm>
          <a:prstGeom prst="ellipse">
            <a:avLst/>
          </a:prstGeom>
          <a:solidFill>
            <a:srgbClr val="A5D6A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43000" y="4675327"/>
            <a:ext cx="114300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85900" y="4589374"/>
            <a:ext cx="33247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Earned Belief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485900" y="4884725"/>
            <a:ext cx="38057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built on consistency, not hype or celebrity.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1067105" y="5345582"/>
            <a:ext cx="267005" cy="267005"/>
          </a:xfrm>
          <a:prstGeom prst="ellipse">
            <a:avLst/>
          </a:prstGeom>
          <a:solidFill>
            <a:srgbClr val="A5D6A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43000" y="5412334"/>
            <a:ext cx="114300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85900" y="5326380"/>
            <a:ext cx="3400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1485900" y="5621731"/>
            <a:ext cx="38935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disclosure; quality signals over premium tax.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286500" y="1733702"/>
            <a:ext cx="5143500" cy="4410151"/>
          </a:xfrm>
          <a:prstGeom prst="roundRect">
            <a:avLst>
              <a:gd name="adj" fmla="val 717"/>
            </a:avLst>
          </a:prstGeom>
          <a:solidFill>
            <a:srgbClr val="FFB4A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6286500" y="1733702"/>
            <a:ext cx="5143500" cy="75895"/>
          </a:xfrm>
          <a:prstGeom prst="roundRect">
            <a:avLst>
              <a:gd name="adj" fmla="val 41635"/>
            </a:avLst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/>
          <a:stretch/>
        </p:blipFill>
        <p:spPr>
          <a:xfrm>
            <a:off x="9905695" y="4615891"/>
            <a:ext cx="1714500" cy="17145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590995" y="2800807"/>
            <a:ext cx="4533595" cy="9144"/>
          </a:xfrm>
          <a:prstGeom prst="rect">
            <a:avLst/>
          </a:prstGeom>
          <a:solidFill>
            <a:srgbClr val="FFB4AB">
              <a:alpha val="30000"/>
            </a:srgbClr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90995" y="2190902"/>
            <a:ext cx="304495" cy="3044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048195" y="2115007"/>
            <a:ext cx="206105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628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Where It Loses</a:t>
            </a:r>
            <a:endParaRPr lang="en-US" sz="2400" dirty="0"/>
          </a:p>
        </p:txBody>
      </p:sp>
      <p:sp>
        <p:nvSpPr>
          <p:cNvPr id="32" name="Shape 22"/>
          <p:cNvSpPr/>
          <p:nvPr/>
        </p:nvSpPr>
        <p:spPr>
          <a:xfrm>
            <a:off x="6590995" y="3133649"/>
            <a:ext cx="267005" cy="267005"/>
          </a:xfrm>
          <a:prstGeom prst="ellipse">
            <a:avLst/>
          </a:prstGeom>
          <a:solidFill>
            <a:srgbClr val="FFB4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672377" y="3200400"/>
            <a:ext cx="105156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010705" y="3114446"/>
            <a:ext cx="3591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7010705" y="3409798"/>
            <a:ext cx="41129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 ingredients, 12-step routines, confusing science.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6590995" y="3870655"/>
            <a:ext cx="267005" cy="267005"/>
          </a:xfrm>
          <a:prstGeom prst="ellipse">
            <a:avLst/>
          </a:prstGeom>
          <a:solidFill>
            <a:srgbClr val="FFB4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672377" y="3937406"/>
            <a:ext cx="105156" cy="13350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7010705" y="3852367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Over-Hype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7010705" y="4146804"/>
            <a:ext cx="4167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"10x energy" and transformation promises feel risky.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6590995" y="4608576"/>
            <a:ext cx="267005" cy="267005"/>
          </a:xfrm>
          <a:prstGeom prst="ellipse">
            <a:avLst/>
          </a:prstGeom>
          <a:solidFill>
            <a:srgbClr val="FFB4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672377" y="4675327"/>
            <a:ext cx="105156" cy="133502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010705" y="4589374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Anxiety</a:t>
            </a:r>
            <a:endParaRPr lang="en-US" sz="1300" dirty="0"/>
          </a:p>
        </p:txBody>
      </p:sp>
      <p:sp>
        <p:nvSpPr>
          <p:cNvPr id="43" name="Text 30"/>
          <p:cNvSpPr txBox="1"/>
          <p:nvPr/>
        </p:nvSpPr>
        <p:spPr>
          <a:xfrm>
            <a:off x="7010705" y="4884725"/>
            <a:ext cx="4167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Selling by flaw ("fix yourself") or guilt-based framing.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6590995" y="5345582"/>
            <a:ext cx="267005" cy="267005"/>
          </a:xfrm>
          <a:prstGeom prst="ellipse">
            <a:avLst/>
          </a:prstGeom>
          <a:solidFill>
            <a:srgbClr val="FFB4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672377" y="5412334"/>
            <a:ext cx="105156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7010705" y="5326380"/>
            <a:ext cx="3134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Pricing</a:t>
            </a:r>
            <a:endParaRPr lang="en-US" sz="1300" dirty="0"/>
          </a:p>
        </p:txBody>
      </p:sp>
      <p:sp>
        <p:nvSpPr>
          <p:cNvPr id="47" name="Text 33"/>
          <p:cNvSpPr txBox="1"/>
          <p:nvPr/>
        </p:nvSpPr>
        <p:spPr>
          <a:xfrm>
            <a:off x="7010705" y="5621731"/>
            <a:ext cx="3587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Opaque tiers and unclear value propositions.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761695" y="381305"/>
            <a:ext cx="10858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84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New Rules of Engagement</a:t>
            </a:r>
            <a:endParaRPr lang="en-US" sz="4200" dirty="0"/>
          </a:p>
        </p:txBody>
      </p:sp>
      <p:sp>
        <p:nvSpPr>
          <p:cNvPr id="51" name="Text 37"/>
          <p:cNvSpPr txBox="1"/>
          <p:nvPr/>
        </p:nvSpPr>
        <p:spPr>
          <a:xfrm>
            <a:off x="761695" y="1067105"/>
            <a:ext cx="8306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functional beverages win and lose in South Africa's value-conscious market.</a:t>
            </a:r>
            <a:endParaRPr lang="en-US" sz="15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9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914400"/>
            <a:ext cx="99441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Collapse of </a:t>
            </a:r>
            <a:r>
              <a:rPr lang="en-US" sz="4500" dirty="0">
                <a:solidFill>
                  <a:srgbClr val="FFB4A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Belief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781251"/>
            <a:ext cx="9839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functional claims break down in the real world. </a:t>
            </a:r>
            <a:r>
              <a:rPr lang="en-US" sz="1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are editing health for feasibility, not rejecting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1695" y="2761291"/>
            <a:ext cx="2495398" cy="2667305"/>
          </a:xfrm>
          <a:prstGeom prst="roundRect">
            <a:avLst>
              <a:gd name="adj" fmla="val 2238"/>
            </a:avLst>
          </a:prstGeom>
          <a:solidFill>
            <a:srgbClr val="6FECFF">
              <a:alpha val="5000"/>
            </a:srgbClr>
          </a:solidFill>
          <a:ln w="25400">
            <a:solidFill>
              <a:srgbClr val="6F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85593" y="2932284"/>
            <a:ext cx="409651" cy="2953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85593" y="2932284"/>
            <a:ext cx="409651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19656" y="3491897"/>
            <a:ext cx="381305" cy="3813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26718" y="4100887"/>
            <a:ext cx="77083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Habit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910742" y="4497737"/>
            <a:ext cx="21991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Routine, autopilot consumption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86607" y="2761291"/>
            <a:ext cx="2495398" cy="2667305"/>
          </a:xfrm>
          <a:prstGeom prst="roundRect">
            <a:avLst>
              <a:gd name="adj" fmla="val 2238"/>
            </a:avLst>
          </a:prstGeom>
          <a:solidFill>
            <a:srgbClr val="FFB4AB">
              <a:alpha val="5000"/>
            </a:srgbClr>
          </a:solidFill>
          <a:ln w="25400">
            <a:solidFill>
              <a:srgbClr val="FFB4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09590" y="2932284"/>
            <a:ext cx="409651" cy="2953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09590" y="2932284"/>
            <a:ext cx="409651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3654" y="3491897"/>
            <a:ext cx="381305" cy="3813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960266" y="4100887"/>
            <a:ext cx="155356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Skepticism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3600907" y="4497737"/>
            <a:ext cx="2267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this actually doing anything?"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0605" y="2761291"/>
            <a:ext cx="2495398" cy="2667305"/>
          </a:xfrm>
          <a:prstGeom prst="roundRect">
            <a:avLst>
              <a:gd name="adj" fmla="val 2238"/>
            </a:avLst>
          </a:prstGeom>
          <a:solidFill>
            <a:srgbClr val="E9D5FF">
              <a:alpha val="5000"/>
            </a:srgbClr>
          </a:solidFill>
          <a:ln w="254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33588" y="2932284"/>
            <a:ext cx="409651" cy="2953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133588" y="2932284"/>
            <a:ext cx="409651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67651" y="3491897"/>
            <a:ext cx="381305" cy="3813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719011" y="4100887"/>
            <a:ext cx="14849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Trust Gate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6640373" y="4497737"/>
            <a:ext cx="164409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 or rejection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934602" y="2761291"/>
            <a:ext cx="2495398" cy="2667305"/>
          </a:xfrm>
          <a:prstGeom prst="roundRect">
            <a:avLst>
              <a:gd name="adj" fmla="val 2238"/>
            </a:avLst>
          </a:prstGeom>
          <a:solidFill>
            <a:srgbClr val="FFB3D9">
              <a:alpha val="5000"/>
            </a:srgbClr>
          </a:solidFill>
          <a:ln w="25400">
            <a:solidFill>
              <a:srgbClr val="FFB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857586" y="2932284"/>
            <a:ext cx="409651" cy="2953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0857586" y="2932284"/>
            <a:ext cx="409651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24" b="-24"/>
          <a:stretch/>
        </p:blipFill>
        <p:spPr>
          <a:xfrm>
            <a:off x="9944100" y="3491897"/>
            <a:ext cx="476402" cy="3813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583826" y="4100887"/>
            <a:ext cx="1201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Decision</a:t>
            </a:r>
            <a:endParaRPr lang="en-US" sz="2100" dirty="0"/>
          </a:p>
        </p:txBody>
      </p:sp>
      <p:sp>
        <p:nvSpPr>
          <p:cNvPr id="29" name="Text 23"/>
          <p:cNvSpPr txBox="1"/>
          <p:nvPr/>
        </p:nvSpPr>
        <p:spPr>
          <a:xfrm>
            <a:off x="9060790" y="4497737"/>
            <a:ext cx="22448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Fatigue leads to default choices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3247949" y="3980187"/>
            <a:ext cx="200254" cy="228600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5971946" y="3980187"/>
            <a:ext cx="200254" cy="228600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695944" y="3980187"/>
            <a:ext cx="200254" cy="228600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l="2128" r="2128"/>
          <a:stretch/>
        </p:blipFill>
        <p:spPr>
          <a:xfrm>
            <a:off x="11144707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533095"/>
            <a:ext cx="1666951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365563"/>
            <a:ext cx="8706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kern="0" spc="-112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Has Been </a:t>
            </a:r>
            <a:r>
              <a:rPr lang="en-US" sz="4500" kern="0" spc="-112" dirty="0">
                <a:solidFill>
                  <a:srgbClr val="7C8FF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Domesticated.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609905" y="1176355"/>
            <a:ext cx="38405" cy="61904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55727" y="1359318"/>
            <a:ext cx="10590883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Functional benefits are no longer disruptive. They're table stakes. The innovation is in making them invisible.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905" y="2024004"/>
            <a:ext cx="3457346" cy="3666744"/>
          </a:xfrm>
          <a:prstGeom prst="roundRect">
            <a:avLst>
              <a:gd name="adj" fmla="val 874"/>
            </a:avLst>
          </a:prstGeom>
          <a:solidFill>
            <a:srgbClr val="7C8FF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905" y="2024004"/>
            <a:ext cx="3457346" cy="75895"/>
          </a:xfrm>
          <a:prstGeom prst="roundRect">
            <a:avLst>
              <a:gd name="adj" fmla="val 39829"/>
            </a:avLst>
          </a:prstGeom>
          <a:solidFill>
            <a:srgbClr val="7C8FF0"/>
          </a:solidFill>
          <a:ln w="12700">
            <a:solidFill>
              <a:srgbClr val="7C8F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2557099"/>
            <a:ext cx="381305" cy="3813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90295" y="3357199"/>
            <a:ext cx="28035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Expected, not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exceptional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90295" y="4180159"/>
            <a:ext cx="277246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 is no longer a premium add-on. It is now a baseline requirement for category entry.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69003" y="2024004"/>
            <a:ext cx="3457346" cy="3666744"/>
          </a:xfrm>
          <a:prstGeom prst="roundRect">
            <a:avLst>
              <a:gd name="adj" fmla="val 874"/>
            </a:avLst>
          </a:prstGeom>
          <a:solidFill>
            <a:srgbClr val="6FEC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69003" y="2024004"/>
            <a:ext cx="3457346" cy="75895"/>
          </a:xfrm>
          <a:prstGeom prst="roundRect">
            <a:avLst>
              <a:gd name="adj" fmla="val 39829"/>
            </a:avLst>
          </a:prstGeom>
          <a:solidFill>
            <a:srgbClr val="6FECFF"/>
          </a:solidFill>
          <a:ln w="12700">
            <a:solidFill>
              <a:srgbClr val="6F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40" r="-40"/>
          <a:stretch/>
        </p:blipFill>
        <p:spPr>
          <a:xfrm>
            <a:off x="4749394" y="2557099"/>
            <a:ext cx="286207" cy="3813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49394" y="3357199"/>
            <a:ext cx="28035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Integrated, not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spotlighted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4749394" y="4180159"/>
            <a:ext cx="277246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Wellness cues are woven into product identity rather than shouting. Drink first, function second.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8102" y="2024004"/>
            <a:ext cx="3457346" cy="3666744"/>
          </a:xfrm>
          <a:prstGeom prst="roundRect">
            <a:avLst>
              <a:gd name="adj" fmla="val 874"/>
            </a:avLst>
          </a:prstGeom>
          <a:solidFill>
            <a:srgbClr val="A5D6A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28102" y="2024004"/>
            <a:ext cx="3457346" cy="75895"/>
          </a:xfrm>
          <a:prstGeom prst="roundRect">
            <a:avLst>
              <a:gd name="adj" fmla="val 39829"/>
            </a:avLst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8509406" y="2557099"/>
            <a:ext cx="428854" cy="3813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09406" y="3357199"/>
            <a:ext cx="28035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Proven through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use, not claims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8509406" y="4180159"/>
            <a:ext cx="277246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is built through the actual experience of the benefit over time, not aggressive promises.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826" b="827"/>
          <a:stretch/>
        </p:blipFill>
        <p:spPr>
          <a:xfrm>
            <a:off x="11105388" y="381305"/>
            <a:ext cx="48554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609905"/>
            <a:ext cx="2676449" cy="352044"/>
          </a:xfrm>
          <a:prstGeom prst="roundRect">
            <a:avLst>
              <a:gd name="adj" fmla="val 25974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914400" y="709574"/>
            <a:ext cx="19019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1405" y="609905"/>
            <a:ext cx="21817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Study: Checkers Xtra Savings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1190549"/>
            <a:ext cx="7791602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What Checkers Understood</a:t>
            </a:r>
            <a:endParaRPr lang="en-US" sz="42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(That Everyone Else Missed)</a:t>
            </a:r>
            <a:endParaRPr lang="en-US" sz="2800" dirty="0">
              <a:solidFill>
                <a:srgbClr val="4860FA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61695" y="3060040"/>
            <a:ext cx="5486400" cy="2428646"/>
          </a:xfrm>
          <a:prstGeom prst="roundRect">
            <a:avLst>
              <a:gd name="adj" fmla="val 591"/>
            </a:avLst>
          </a:prstGeom>
          <a:solidFill>
            <a:srgbClr val="A5D6A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1695" y="3060040"/>
            <a:ext cx="75895" cy="2428646"/>
          </a:xfrm>
          <a:prstGeom prst="roundRect">
            <a:avLst>
              <a:gd name="adj" fmla="val 18899"/>
            </a:avLst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28700" y="2869845"/>
            <a:ext cx="77358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A5D6A7">
                    <a:alpha val="3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“</a:t>
            </a:r>
            <a:endParaRPr lang="en-US" sz="96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4797400"/>
            <a:ext cx="5181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F46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The core insight driving their functional category dominance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33895" y="1955445"/>
            <a:ext cx="9144" cy="11045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171639" y="1955445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 Reality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171639" y="2231594"/>
            <a:ext cx="44101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33.7 million loyalty members, Checkers saw that overt health claims were alienating mainstream shoppers, while subtle cues drove basket penetration. 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33895" y="3359049"/>
            <a:ext cx="9144" cy="11045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71639" y="3359049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Placement Strategy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171639" y="3635198"/>
            <a:ext cx="44101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moved functional beverages out of the "Health Aisle" ghetto and integrated them into lifestyle flows—next to lunch deals, not supplements. 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33895" y="4763567"/>
            <a:ext cx="9144" cy="11045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171639" y="4763567"/>
            <a:ext cx="4448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Result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171639" y="5039716"/>
            <a:ext cx="44101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Normalization led to habitual purchase. By treating function as a standard feature rather than a premium differentiator, they unlocked mass volume. 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95705" y="3517240"/>
            <a:ext cx="4668012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B5E2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present but understated.</a:t>
            </a:r>
            <a:endParaRPr lang="en-US" sz="36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761695"/>
            <a:ext cx="811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The Paradox of </a:t>
            </a:r>
            <a:r>
              <a:rPr lang="en-US" sz="3600" dirty="0">
                <a:solidFill>
                  <a:srgbClr val="7C8FF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Less.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485900"/>
            <a:ext cx="8001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When volume goes down, trust goes up. Silence becomes the new signal of credibility.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rcRect t="-1" b="-1"/>
          <a:stretch/>
        </p:blipFill>
        <p:spPr>
          <a:xfrm>
            <a:off x="838505" y="2385670"/>
            <a:ext cx="2907792" cy="32217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53158" y="2747772"/>
            <a:ext cx="685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9CA3A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608430" y="3421685"/>
            <a:ext cx="137251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EA5E9">
                    <a:alpha val="95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-65%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1140257" y="4019702"/>
            <a:ext cx="23125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>
                    <a:alpha val="95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Skepticism Reduced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17727" y="4367174"/>
            <a:ext cx="25530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Quiet claims bypass the "too good to be true" filter. Less hype means less defensive doubt from the consumer.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76000"/>
          </a:blip>
          <a:srcRect l="-1004" r="-1004"/>
          <a:stretch/>
        </p:blipFill>
        <p:spPr>
          <a:xfrm>
            <a:off x="2229307" y="3023921"/>
            <a:ext cx="133502" cy="209398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4080053" y="4172407"/>
            <a:ext cx="228600" cy="22860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>
            <a:alphaModFix amt="60000"/>
          </a:blip>
          <a:srcRect/>
          <a:stretch/>
        </p:blipFill>
        <p:spPr>
          <a:xfrm>
            <a:off x="7883042" y="4172407"/>
            <a:ext cx="228600" cy="228600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8369503" y="2286000"/>
            <a:ext cx="3060497" cy="339151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543593" y="2667305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03</a:t>
            </a:r>
            <a:endParaRPr lang="en-US" sz="800" dirty="0"/>
          </a:p>
        </p:txBody>
      </p:sp>
      <p:sp>
        <p:nvSpPr>
          <p:cNvPr id="17" name="Text 10"/>
          <p:cNvSpPr txBox="1"/>
          <p:nvPr/>
        </p:nvSpPr>
        <p:spPr>
          <a:xfrm>
            <a:off x="9195206" y="3376879"/>
            <a:ext cx="14100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4ADE8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+58%</a:t>
            </a:r>
            <a:endParaRPr lang="en-US" sz="4200" dirty="0"/>
          </a:p>
        </p:txBody>
      </p:sp>
      <p:sp>
        <p:nvSpPr>
          <p:cNvPr id="18" name="Text 11"/>
          <p:cNvSpPr txBox="1"/>
          <p:nvPr/>
        </p:nvSpPr>
        <p:spPr>
          <a:xfrm>
            <a:off x="8719718" y="4005072"/>
            <a:ext cx="2369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Repeat Strengthens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8559698" y="4370832"/>
            <a:ext cx="26865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builds when the actual experience matches the expectation. Quiet promises are easier to over-deliver on.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/>
          <a:stretch/>
        </p:blipFill>
        <p:spPr>
          <a:xfrm>
            <a:off x="9784994" y="2948026"/>
            <a:ext cx="228600" cy="228600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 t="-1" b="-1"/>
          <a:stretch/>
        </p:blipFill>
        <p:spPr>
          <a:xfrm>
            <a:off x="4488790" y="2186330"/>
            <a:ext cx="3214116" cy="356128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724144" y="2585923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02</a:t>
            </a:r>
            <a:endParaRPr lang="en-US" sz="800" dirty="0"/>
          </a:p>
        </p:txBody>
      </p:sp>
      <p:sp>
        <p:nvSpPr>
          <p:cNvPr id="23" name="Text 14"/>
          <p:cNvSpPr txBox="1"/>
          <p:nvPr/>
        </p:nvSpPr>
        <p:spPr>
          <a:xfrm>
            <a:off x="5345582" y="3331159"/>
            <a:ext cx="150235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7C8FF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+42%</a:t>
            </a:r>
            <a:endParaRPr lang="en-US" sz="4200" dirty="0"/>
          </a:p>
        </p:txBody>
      </p:sp>
      <p:sp>
        <p:nvSpPr>
          <p:cNvPr id="24" name="Text 15"/>
          <p:cNvSpPr txBox="1"/>
          <p:nvPr/>
        </p:nvSpPr>
        <p:spPr>
          <a:xfrm>
            <a:off x="5162702" y="3991356"/>
            <a:ext cx="18708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Trial Increases</a:t>
            </a:r>
            <a:endParaRPr lang="en-US" sz="1800" dirty="0"/>
          </a:p>
        </p:txBody>
      </p:sp>
      <p:sp>
        <p:nvSpPr>
          <p:cNvPr id="25" name="Text 16"/>
          <p:cNvSpPr txBox="1"/>
          <p:nvPr/>
        </p:nvSpPr>
        <p:spPr>
          <a:xfrm>
            <a:off x="4690872" y="4375404"/>
            <a:ext cx="28200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Normalcy invites casual adoption. Consumers don't feel they need a "lifestyle commitment" just to try a drink.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t="-499" b="-499"/>
          <a:stretch/>
        </p:blipFill>
        <p:spPr>
          <a:xfrm>
            <a:off x="5956402" y="2871216"/>
            <a:ext cx="286207" cy="256946"/>
          </a:xfrm>
          <a:prstGeom prst="rect">
            <a:avLst/>
          </a:prstGeom>
        </p:spPr>
      </p:pic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 l="2128" r="2128"/>
          <a:stretch/>
        </p:blipFill>
        <p:spPr>
          <a:xfrm>
            <a:off x="11144707" y="381305"/>
            <a:ext cx="476402" cy="4764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5" y="914400"/>
            <a:ext cx="1600200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314907"/>
            <a:ext cx="811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Familiarity as </a:t>
            </a:r>
            <a:r>
              <a:rPr lang="en-US" sz="3600" dirty="0">
                <a:solidFill>
                  <a:srgbClr val="9CA3A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Trojan Horse.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905" y="2343607"/>
            <a:ext cx="3457346" cy="3752698"/>
          </a:xfrm>
          <a:prstGeom prst="roundRect">
            <a:avLst>
              <a:gd name="adj" fmla="val 291"/>
            </a:avLst>
          </a:prstGeom>
          <a:solidFill>
            <a:srgbClr val="6FEC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905" y="2343607"/>
            <a:ext cx="3457346" cy="57607"/>
          </a:xfrm>
          <a:prstGeom prst="roundRect">
            <a:avLst>
              <a:gd name="adj" fmla="val 17491"/>
            </a:avLst>
          </a:prstGeom>
          <a:solidFill>
            <a:srgbClr val="6FECFF"/>
          </a:solidFill>
          <a:ln w="12700">
            <a:solidFill>
              <a:srgbClr val="6F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90295" y="2781605"/>
            <a:ext cx="77358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6FECFF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4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530" b="-530"/>
          <a:stretch/>
        </p:blipFill>
        <p:spPr>
          <a:xfrm>
            <a:off x="3435401" y="2798064"/>
            <a:ext cx="247802" cy="2862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0295" y="3847795"/>
            <a:ext cx="28035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Taste must lead,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follows 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90295" y="4892040"/>
            <a:ext cx="27724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Drinks still need to taste good. Flavour credibility is the primary gatekeeper for trial.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69003" y="2343607"/>
            <a:ext cx="3457346" cy="3752698"/>
          </a:xfrm>
          <a:prstGeom prst="roundRect">
            <a:avLst>
              <a:gd name="adj" fmla="val 291"/>
            </a:avLst>
          </a:prstGeom>
          <a:solidFill>
            <a:srgbClr val="E9D5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69003" y="2343607"/>
            <a:ext cx="3457346" cy="57607"/>
          </a:xfrm>
          <a:prstGeom prst="roundRect">
            <a:avLst>
              <a:gd name="adj" fmla="val 17491"/>
            </a:avLst>
          </a:prstGeom>
          <a:solidFill>
            <a:srgbClr val="E9D5FF"/>
          </a:solidFill>
          <a:ln w="12700">
            <a:solidFill>
              <a:srgbClr val="E9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749394" y="2781605"/>
            <a:ext cx="78272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E9D5FF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4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7080199" y="2798064"/>
            <a:ext cx="362102" cy="2862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49394" y="3847795"/>
            <a:ext cx="28035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Format familiarity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builds trust 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4749394" y="4892040"/>
            <a:ext cx="27724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Recognisable packaging signals safety, reducing the risk of a "medical" product feel.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8102" y="2343607"/>
            <a:ext cx="3457346" cy="3752698"/>
          </a:xfrm>
          <a:prstGeom prst="roundRect">
            <a:avLst>
              <a:gd name="adj" fmla="val 291"/>
            </a:avLst>
          </a:prstGeom>
          <a:solidFill>
            <a:srgbClr val="FFD96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28102" y="2343607"/>
            <a:ext cx="3457346" cy="57607"/>
          </a:xfrm>
          <a:prstGeom prst="roundRect">
            <a:avLst>
              <a:gd name="adj" fmla="val 17491"/>
            </a:avLst>
          </a:prstGeom>
          <a:solidFill>
            <a:srgbClr val="FFD966"/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8509406" y="2781605"/>
            <a:ext cx="78272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FFD966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4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10877702" y="2798064"/>
            <a:ext cx="323698" cy="2862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09406" y="3847795"/>
            <a:ext cx="28035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Layer function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onto normality 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8509406" y="4892040"/>
            <a:ext cx="27724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invent a new behavior. Add the benefit to an existing, trusted ritual.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2128" r="2128"/>
          <a:stretch/>
        </p:blipFill>
        <p:spPr>
          <a:xfrm>
            <a:off x="10972800" y="304495"/>
            <a:ext cx="761695" cy="761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609905" y="473241"/>
            <a:ext cx="80970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kern="0" spc="-135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Context Is The </a:t>
            </a:r>
            <a:r>
              <a:rPr lang="en-US" sz="5400" kern="0" spc="-135" dirty="0">
                <a:solidFill>
                  <a:srgbClr val="A5D6A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New Copy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185062" y="3246616"/>
            <a:ext cx="11905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it sits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1207922" y="4923626"/>
            <a:ext cx="952805" cy="384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488997" y="3475216"/>
            <a:ext cx="78547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A5D6A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&gt;</a:t>
            </a:r>
            <a:endParaRPr lang="en-US" sz="9600" dirty="0"/>
          </a:p>
        </p:txBody>
      </p:sp>
      <p:sp>
        <p:nvSpPr>
          <p:cNvPr id="10" name="Text 7"/>
          <p:cNvSpPr txBox="1"/>
          <p:nvPr/>
        </p:nvSpPr>
        <p:spPr>
          <a:xfrm>
            <a:off x="3452774" y="3246616"/>
            <a:ext cx="11045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CA3AF">
                    <a:alpha val="4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says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58261" y="3589516"/>
            <a:ext cx="952805" cy="1333195"/>
          </a:xfrm>
          <a:prstGeom prst="roundRect">
            <a:avLst>
              <a:gd name="adj" fmla="val 3839"/>
            </a:avLst>
          </a:prstGeom>
          <a:noFill/>
          <a:ln w="381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232" r="-232"/>
          <a:stretch/>
        </p:blipFill>
        <p:spPr>
          <a:xfrm>
            <a:off x="3562502" y="4046716"/>
            <a:ext cx="743407" cy="7589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rcRect l="-170" r="-170"/>
          <a:stretch/>
        </p:blipFill>
        <p:spPr>
          <a:xfrm>
            <a:off x="3655771" y="4199421"/>
            <a:ext cx="556870" cy="7589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rcRect t="-431" b="-431"/>
          <a:stretch/>
        </p:blipFill>
        <p:spPr>
          <a:xfrm>
            <a:off x="3748126" y="4428021"/>
            <a:ext cx="371246" cy="38405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8" b="-8"/>
          <a:stretch/>
        </p:blipFill>
        <p:spPr>
          <a:xfrm>
            <a:off x="5447995" y="2149336"/>
            <a:ext cx="6133795" cy="22338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982005" y="2606536"/>
            <a:ext cx="527243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Placement sends stronger signals than packaging.</a:t>
            </a:r>
            <a:endParaRPr lang="en-US" sz="2700" dirty="0"/>
          </a:p>
        </p:txBody>
      </p:sp>
      <p:sp>
        <p:nvSpPr>
          <p:cNvPr id="17" name="Text 10"/>
          <p:cNvSpPr txBox="1"/>
          <p:nvPr/>
        </p:nvSpPr>
        <p:spPr>
          <a:xfrm>
            <a:off x="5982005" y="3616034"/>
            <a:ext cx="58293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it sits &gt; What it says. Checkers proved this at scale.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447995" y="4687711"/>
            <a:ext cx="19202" cy="1333195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5772607" y="4687711"/>
            <a:ext cx="28629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Signal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772607" y="4992206"/>
            <a:ext cx="30367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am a normal beverage choice."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829446" y="4687711"/>
            <a:ext cx="28629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8829446" y="4992206"/>
            <a:ext cx="327629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Removes the friction of justification.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772607" y="5468608"/>
            <a:ext cx="5925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Pricing Mechanic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772607" y="5773104"/>
            <a:ext cx="6496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Everyday price points reinforce accessibility, killing the "premium exclusive" vibe.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27" r="-27"/>
          <a:stretch/>
        </p:blipFill>
        <p:spPr>
          <a:xfrm>
            <a:off x="1207922" y="3589516"/>
            <a:ext cx="952805" cy="1333195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1556309" y="4085121"/>
            <a:ext cx="256946" cy="342900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l="2128" r="2128"/>
          <a:stretch/>
        </p:blipFill>
        <p:spPr>
          <a:xfrm>
            <a:off x="11125505" y="457200"/>
            <a:ext cx="609905" cy="6099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609905"/>
            <a:ext cx="120682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This Isn't About Hiding. It's About Fitting.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95705"/>
            <a:ext cx="104680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Refining the proposition, not removing it. Function normalized, not eliminated. Strategic restraint beats category noise.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1695" y="1947673"/>
            <a:ext cx="5048402" cy="4110228"/>
          </a:xfrm>
          <a:prstGeom prst="roundRect">
            <a:avLst>
              <a:gd name="adj" fmla="val 542"/>
            </a:avLst>
          </a:prstGeom>
          <a:solidFill>
            <a:srgbClr val="FFB4AB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1695" y="1947672"/>
            <a:ext cx="5048402" cy="75895"/>
          </a:xfrm>
          <a:prstGeom prst="roundRect">
            <a:avLst>
              <a:gd name="adj" fmla="val 31362"/>
            </a:avLst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36" r="-36"/>
          <a:stretch/>
        </p:blipFill>
        <p:spPr>
          <a:xfrm>
            <a:off x="4476902" y="2404872"/>
            <a:ext cx="952805" cy="761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" y="2900477"/>
            <a:ext cx="4286707" cy="9144"/>
          </a:xfrm>
          <a:prstGeom prst="rect">
            <a:avLst/>
          </a:prstGeom>
          <a:solidFill>
            <a:srgbClr val="FFB4AB">
              <a:alpha val="30000"/>
            </a:srgbClr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143000" y="2376526"/>
            <a:ext cx="124724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Not This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143000" y="3252521"/>
            <a:ext cx="381305" cy="381305"/>
          </a:xfrm>
          <a:prstGeom prst="ellipse">
            <a:avLst/>
          </a:prstGeom>
          <a:solidFill>
            <a:srgbClr val="FFB4A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1248156" y="3347618"/>
            <a:ext cx="171907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14500" y="3290926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Removing benefits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714500" y="3595421"/>
            <a:ext cx="342259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strip away the reason to believe.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143000" y="4141318"/>
            <a:ext cx="381305" cy="381305"/>
          </a:xfrm>
          <a:prstGeom prst="ellipse">
            <a:avLst/>
          </a:prstGeom>
          <a:solidFill>
            <a:srgbClr val="FFB4A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1872" y="4236415"/>
            <a:ext cx="14264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14500" y="4178808"/>
            <a:ext cx="3639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Dumbing down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14500" y="4484218"/>
            <a:ext cx="41678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Simplicity doesn't mean lack of sophistication.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143000" y="5029200"/>
            <a:ext cx="381305" cy="381305"/>
          </a:xfrm>
          <a:prstGeom prst="ellipse">
            <a:avLst/>
          </a:prstGeom>
          <a:solidFill>
            <a:srgbClr val="FFB4A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14323" y="5124298"/>
            <a:ext cx="237744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14500" y="5067605"/>
            <a:ext cx="2714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Hiding ingredients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714500" y="5372100"/>
            <a:ext cx="310621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obscure what makes it work.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381598" y="1947673"/>
            <a:ext cx="5048402" cy="4110228"/>
          </a:xfrm>
          <a:prstGeom prst="roundRect">
            <a:avLst>
              <a:gd name="adj" fmla="val 542"/>
            </a:avLst>
          </a:prstGeom>
          <a:solidFill>
            <a:srgbClr val="A5D6A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381598" y="1947672"/>
            <a:ext cx="5048402" cy="75895"/>
          </a:xfrm>
          <a:prstGeom prst="roundRect">
            <a:avLst>
              <a:gd name="adj" fmla="val 31362"/>
            </a:avLst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10287000" y="2404872"/>
            <a:ext cx="761695" cy="76169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762902" y="2900477"/>
            <a:ext cx="4286707" cy="9144"/>
          </a:xfrm>
          <a:prstGeom prst="rect">
            <a:avLst/>
          </a:prstGeom>
          <a:solidFill>
            <a:srgbClr val="A5D6A7">
              <a:alpha val="30000"/>
            </a:srgbClr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6762902" y="2376526"/>
            <a:ext cx="124724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But This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6762902" y="3252521"/>
            <a:ext cx="381305" cy="381305"/>
          </a:xfrm>
          <a:prstGeom prst="ellipse">
            <a:avLst/>
          </a:prstGeom>
          <a:solidFill>
            <a:srgbClr val="A5D6A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867144" y="3347618"/>
            <a:ext cx="171907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334402" y="3290926"/>
            <a:ext cx="3495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as expected value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334402" y="3595421"/>
            <a:ext cx="4003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the benefit feel like a standard feature.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762902" y="4141318"/>
            <a:ext cx="381305" cy="381305"/>
          </a:xfrm>
          <a:prstGeom prst="ellipse">
            <a:avLst/>
          </a:prstGeom>
          <a:solidFill>
            <a:srgbClr val="A5D6A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34226" y="4236415"/>
            <a:ext cx="237744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334402" y="4178808"/>
            <a:ext cx="3353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Restrained benefit language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7334402" y="4484218"/>
            <a:ext cx="38386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 plainly. Avoid hype. Let product talk.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6762902" y="5029200"/>
            <a:ext cx="381305" cy="381305"/>
          </a:xfrm>
          <a:prstGeom prst="ellipse">
            <a:avLst/>
          </a:prstGeom>
          <a:solidFill>
            <a:srgbClr val="A5D6A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6843370" y="5124298"/>
            <a:ext cx="219456" cy="1901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334402" y="5067605"/>
            <a:ext cx="3525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Proof accumulating in use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7334402" y="5372100"/>
            <a:ext cx="40361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the repeat experience, not just trial.</a:t>
            </a:r>
            <a:endParaRPr lang="en-US" sz="13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 l="2128" r="2128"/>
          <a:stretch/>
        </p:blipFill>
        <p:spPr>
          <a:xfrm>
            <a:off x="10858500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71500" y="432968"/>
            <a:ext cx="1051529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Three Questions That </a:t>
            </a:r>
            <a:r>
              <a:rPr lang="en-US" sz="4500" dirty="0">
                <a:solidFill>
                  <a:srgbClr val="FFB4A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Kill Conversion.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608228" y="1364673"/>
            <a:ext cx="1208085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psychological barriers where functional beverages lose the sale. Each one represents a trust collapse point.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229" y="2015834"/>
            <a:ext cx="3457346" cy="3619195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8229" y="2015834"/>
            <a:ext cx="3457346" cy="75895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988619" y="2615680"/>
            <a:ext cx="381305" cy="3044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88619" y="3234729"/>
            <a:ext cx="28510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 this for me?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88619" y="3760509"/>
            <a:ext cx="2772461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confusion kills trial. If branding signals "athlete only" or "medical aid," everyday consumers disqualify themselves before picking it up.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67327" y="2015834"/>
            <a:ext cx="3457346" cy="3619195"/>
          </a:xfrm>
          <a:prstGeom prst="rect">
            <a:avLst/>
          </a:prstGeom>
          <a:solidFill>
            <a:srgbClr val="FA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67327" y="2015834"/>
            <a:ext cx="3457346" cy="75895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30" b="-30"/>
          <a:stretch/>
        </p:blipFill>
        <p:spPr>
          <a:xfrm>
            <a:off x="4747718" y="2615680"/>
            <a:ext cx="190195" cy="3044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47718" y="3234729"/>
            <a:ext cx="32086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Will it taste good?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747718" y="3760509"/>
            <a:ext cx="2772461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"Flavor Tax" is real. Consumers assume function compromises flavor. If appetite appeal isn't visceral, the health benefit doesn't matter.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126426" y="2015834"/>
            <a:ext cx="3457346" cy="3619195"/>
          </a:xfrm>
          <a:prstGeom prst="rect">
            <a:avLst/>
          </a:prstGeom>
          <a:solidFill>
            <a:srgbClr val="F0FC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126426" y="2015834"/>
            <a:ext cx="3457346" cy="75895"/>
          </a:xfrm>
          <a:prstGeom prst="rect">
            <a:avLst/>
          </a:prstGeom>
          <a:solidFill>
            <a:srgbClr val="6FECFF"/>
          </a:solidFill>
          <a:ln w="12700">
            <a:solidFill>
              <a:srgbClr val="6F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507730" y="2615680"/>
            <a:ext cx="38130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24600" y="3234729"/>
            <a:ext cx="307604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Is it worth the switch?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424600" y="3825431"/>
            <a:ext cx="2772461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Inertia is powerful. Why risk money on a new habit when the old one works? The perceived payoff must dwarf the cost of changing routines.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50" r="50"/>
          <a:stretch/>
        </p:blipFill>
        <p:spPr>
          <a:xfrm>
            <a:off x="10804447" y="381305"/>
            <a:ext cx="815748" cy="7818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609905"/>
            <a:ext cx="811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Consumer Filter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333195"/>
            <a:ext cx="8001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any functional beverage purchase, it must pass two critical tests.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905" y="1904695"/>
            <a:ext cx="5257800" cy="3774644"/>
          </a:xfrm>
          <a:prstGeom prst="roundRect">
            <a:avLst>
              <a:gd name="adj" fmla="val 391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905" y="1904695"/>
            <a:ext cx="5257800" cy="75895"/>
          </a:xfrm>
          <a:prstGeom prst="roundRect">
            <a:avLst>
              <a:gd name="adj" fmla="val 21758"/>
            </a:avLst>
          </a:prstGeom>
          <a:solidFill>
            <a:srgbClr val="E9D5FF"/>
          </a:solidFill>
          <a:ln w="12700">
            <a:solidFill>
              <a:srgbClr val="E9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295" y="2223345"/>
            <a:ext cx="952805" cy="3145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295" y="2223345"/>
            <a:ext cx="952805" cy="314554"/>
          </a:xfrm>
          <a:prstGeom prst="rect">
            <a:avLst/>
          </a:prstGeom>
          <a:solidFill>
            <a:srgbClr val="E9D5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90295" y="2728094"/>
            <a:ext cx="4686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kern="0" spc="68" dirty="0">
                <a:solidFill>
                  <a:srgbClr val="9CA3AF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Immediacy Filter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90295" y="3337999"/>
            <a:ext cx="46104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"Will this help me get through today?"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295" y="4318898"/>
            <a:ext cx="44961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990295" y="4628879"/>
            <a:ext cx="171907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14907" y="4557556"/>
            <a:ext cx="424830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Consumers are solving for </a:t>
            </a:r>
            <a:r>
              <a:rPr lang="en-US" sz="13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present-tense survival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(energy, stress), not just future-tense prevention. Immediate payoff is the entry ticket. 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24905" y="1904695"/>
            <a:ext cx="5257800" cy="3774644"/>
          </a:xfrm>
          <a:prstGeom prst="roundRect">
            <a:avLst>
              <a:gd name="adj" fmla="val 391"/>
            </a:avLst>
          </a:prstGeom>
          <a:solidFill>
            <a:srgbClr val="F0FC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24905" y="1904695"/>
            <a:ext cx="5257800" cy="75895"/>
          </a:xfrm>
          <a:prstGeom prst="roundRect">
            <a:avLst>
              <a:gd name="adj" fmla="val 21758"/>
            </a:avLst>
          </a:prstGeom>
          <a:solidFill>
            <a:srgbClr val="6FECFF"/>
          </a:solidFill>
          <a:ln w="12700">
            <a:solidFill>
              <a:srgbClr val="6FE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05295" y="2223345"/>
            <a:ext cx="952805" cy="3145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05295" y="2223345"/>
            <a:ext cx="952805" cy="314554"/>
          </a:xfrm>
          <a:prstGeom prst="rect">
            <a:avLst/>
          </a:prstGeom>
          <a:solidFill>
            <a:srgbClr val="6F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02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705295" y="2728094"/>
            <a:ext cx="4686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kern="0" spc="68" dirty="0">
                <a:solidFill>
                  <a:srgbClr val="9CA3AF">
                    <a:alpha val="50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Reality Filter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6705295" y="3337999"/>
            <a:ext cx="51819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"Can I actually keep this up?"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705295" y="4318898"/>
            <a:ext cx="44961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705295" y="4628879"/>
            <a:ext cx="171907" cy="1901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29907" y="4557556"/>
            <a:ext cx="424830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Usability creates the belief that </a:t>
            </a:r>
            <a:r>
              <a:rPr lang="en-US" sz="13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consistency is possible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If the routine feels too heavy, it's rejected as a "future failure" before purchase. 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120" b="-120"/>
          <a:stretch/>
        </p:blipFill>
        <p:spPr>
          <a:xfrm>
            <a:off x="5976518" y="3837923"/>
            <a:ext cx="237744" cy="381305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609905" y="528659"/>
            <a:ext cx="8146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Where Innovation </a:t>
            </a:r>
            <a:r>
              <a:rPr lang="en-US" sz="3600" dirty="0">
                <a:solidFill>
                  <a:srgbClr val="FFB4A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Loses People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137650"/>
            <a:ext cx="70866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Drop-off isn't apathy—it's the price of engagement being too high.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905" y="1603995"/>
            <a:ext cx="5257800" cy="198905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905" y="1603995"/>
            <a:ext cx="57607" cy="1989056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2805" y="179321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FFB4A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1052474" y="1907519"/>
            <a:ext cx="256946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52805" y="2402209"/>
            <a:ext cx="4743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💔 Lifestyle Promises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2783514"/>
            <a:ext cx="470550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Transformational "New You" claims feel heavy and unattainable. Consumers fear the gap between reality and the promise.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24905" y="1603995"/>
            <a:ext cx="5257800" cy="198905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24905" y="1603995"/>
            <a:ext cx="57607" cy="1989056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667805" y="179321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FFB4A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6810451" y="1907519"/>
            <a:ext cx="171907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67805" y="2402209"/>
            <a:ext cx="4743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🚫 Behavioral Demands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667805" y="2783514"/>
            <a:ext cx="47055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Strict routines break the moment stress hits. High-maintenance protocols are the first thing sacrificed.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99209" y="3799412"/>
            <a:ext cx="5257800" cy="176022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99209" y="3799412"/>
            <a:ext cx="57607" cy="1760220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942109" y="398772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FFB4A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6409" y="410202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42109" y="4597624"/>
            <a:ext cx="4743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😓 Over-Education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42109" y="4978929"/>
            <a:ext cx="47055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consumers have to study science lessons to understand the benefit, decision fatigue sets in instantly.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14209" y="3799412"/>
            <a:ext cx="5257800" cy="176022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314209" y="3799412"/>
            <a:ext cx="57607" cy="1760220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657109" y="398772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38100" dist="25400" dir="16200000" algn="bl" rotWithShape="0">
              <a:srgbClr val="FFB4A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742148" y="4102020"/>
            <a:ext cx="286207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657109" y="4597624"/>
            <a:ext cx="4743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😤 Guilt-Based Framing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657109" y="4978929"/>
            <a:ext cx="47055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Implied failure is not a motivator in a high-pressure context. It becomes a valid reason to disengage entirely.</a:t>
            </a:r>
            <a:endParaRPr lang="en-US" sz="13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81" r="-181"/>
          <a:stretch/>
        </p:blipFill>
        <p:spPr>
          <a:xfrm>
            <a:off x="761695" y="1800454"/>
            <a:ext cx="761695" cy="758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2180844"/>
            <a:ext cx="67437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0" kern="0" spc="-900" dirty="0">
                <a:solidFill>
                  <a:srgbClr val="FFD96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67%</a:t>
            </a:r>
            <a:endParaRPr lang="en-US" sz="180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200754"/>
            <a:ext cx="652973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of consumers expect function but resist being sold to.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05649" y="1573682"/>
            <a:ext cx="89519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05649" y="1879092"/>
            <a:ext cx="38733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Expectation 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>
                <a:solidFill>
                  <a:srgbClr val="FFD96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Paradox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705649" y="3097987"/>
            <a:ext cx="3801161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want the benefit, not the sermon. Function must feel inevitable, not impressive.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05649" y="4331513"/>
            <a:ext cx="3724351" cy="952805"/>
          </a:xfrm>
          <a:prstGeom prst="roundRect">
            <a:avLst>
              <a:gd name="adj" fmla="val 7678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05649" y="4331513"/>
            <a:ext cx="38405" cy="952805"/>
          </a:xfrm>
          <a:prstGeom prst="roundRect">
            <a:avLst>
              <a:gd name="adj" fmla="val 190475"/>
            </a:avLst>
          </a:prstGeom>
          <a:solidFill>
            <a:srgbClr val="FFD966"/>
          </a:solidFill>
          <a:ln w="12700">
            <a:solidFill>
              <a:srgbClr val="FFD9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972654" y="4588459"/>
            <a:ext cx="200254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24698" y="4560113"/>
            <a:ext cx="29535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"Earn your place quietly, then let the experience do the talking."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52805" y="1291433"/>
            <a:ext cx="10287000" cy="29718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805" y="1291433"/>
            <a:ext cx="114300" cy="297180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1175752" y="991510"/>
            <a:ext cx="666598" cy="7616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62933"/>
            <a:ext cx="882030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present but understated.</a:t>
            </a:r>
            <a:endParaRPr lang="en-US" sz="4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50" b="-450"/>
          <a:stretch/>
        </p:blipFill>
        <p:spPr>
          <a:xfrm>
            <a:off x="1828800" y="3542685"/>
            <a:ext cx="304495" cy="384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47595" y="3432957"/>
            <a:ext cx="3801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Checkers Xtra Savings Strategy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52805" y="4832904"/>
            <a:ext cx="48582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52805" y="5033157"/>
            <a:ext cx="4972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33.7 Million Members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5376057"/>
            <a:ext cx="49341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access to massive behavioral data, Checkers prioritized normalized placement over segregated "health" aisles. 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81598" y="4832904"/>
            <a:ext cx="48582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6381598" y="5033157"/>
            <a:ext cx="4972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5376057"/>
            <a:ext cx="49341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Functional beverages perform best when positioned as everyday choices alongside standard soft drinks, not as specialist interventions. 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14400" y="609290"/>
            <a:ext cx="16578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914400" y="619349"/>
            <a:ext cx="51919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Behind SA's Largest Loyalty Program</a:t>
            </a:r>
            <a:endParaRPr lang="en-US" sz="2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09905" y="1408176"/>
            <a:ext cx="1647749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865376"/>
            <a:ext cx="3725263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Gap Between Interest &amp; Commitment</a:t>
            </a:r>
            <a:endParaRPr lang="en-US" sz="3200" dirty="0">
              <a:solidFill>
                <a:srgbClr val="4860FA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904" y="3456432"/>
            <a:ext cx="3648451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 value-conscious SA market, the gap between aspiration and action is widening.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905" y="4198425"/>
            <a:ext cx="38405" cy="838505"/>
          </a:xfrm>
          <a:prstGeom prst="rect">
            <a:avLst/>
          </a:prstGeom>
          <a:solidFill>
            <a:srgbClr val="4860FA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01013" y="4198425"/>
            <a:ext cx="3534155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67%</a:t>
            </a:r>
            <a:r>
              <a:rPr lang="en-US" sz="14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consumers expect functional benefits but actively resist overt selling. They filter out "marketing speak" instantly. 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4673498" y="1094509"/>
            <a:ext cx="6909206" cy="5000881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CA3EB2AE-EF9F-2163-60A8-C7FF163D07F2}"/>
              </a:ext>
            </a:extLst>
          </p:cNvPr>
          <p:cNvSpPr txBox="1"/>
          <p:nvPr/>
        </p:nvSpPr>
        <p:spPr>
          <a:xfrm>
            <a:off x="5073548" y="1293876"/>
            <a:ext cx="83256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Where Brands </a:t>
            </a:r>
            <a:r>
              <a:rPr lang="en-US" sz="3600" i="1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Lose The Room</a:t>
            </a:r>
            <a:endParaRPr lang="en-US" sz="3600" dirty="0">
              <a:solidFill>
                <a:srgbClr val="4860FA"/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3D163AE-B7B0-DD28-F069-764C7BA18CFA}"/>
              </a:ext>
            </a:extLst>
          </p:cNvPr>
          <p:cNvSpPr txBox="1"/>
          <p:nvPr/>
        </p:nvSpPr>
        <p:spPr>
          <a:xfrm>
            <a:off x="5159502" y="1976475"/>
            <a:ext cx="7086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these critical missteps that trigger consumer skepticism.</a:t>
            </a:r>
            <a:endParaRPr lang="en-US" sz="1500" dirty="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B52DF922-C9B7-F39D-E855-CE35DF628E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4959705" y="2802935"/>
            <a:ext cx="131810" cy="228600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C1ED704A-35BC-00BE-DB43-6B0D4BC91546}"/>
              </a:ext>
            </a:extLst>
          </p:cNvPr>
          <p:cNvSpPr txBox="1"/>
          <p:nvPr/>
        </p:nvSpPr>
        <p:spPr>
          <a:xfrm>
            <a:off x="5321807" y="2755387"/>
            <a:ext cx="338919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Over-claiming</a:t>
            </a:r>
            <a:endParaRPr lang="en-US" sz="18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5A014215-9A6B-E68D-0BC9-41C9AF8516F7}"/>
              </a:ext>
            </a:extLst>
          </p:cNvPr>
          <p:cNvSpPr txBox="1"/>
          <p:nvPr/>
        </p:nvSpPr>
        <p:spPr>
          <a:xfrm>
            <a:off x="5321808" y="3136691"/>
            <a:ext cx="248808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Promises that sound too good to be true trigger defense mechanisms. "Infinite energy" is dismissed as noise, not science.</a:t>
            </a:r>
            <a:endParaRPr lang="en-US" sz="13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FD1467EB-B219-910A-9CEC-FC82DD149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4959705" y="4486346"/>
            <a:ext cx="131810" cy="228600"/>
          </a:xfrm>
          <a:prstGeom prst="rect">
            <a:avLst/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E770C47E-A7FC-60A5-8FBB-82706BED5DD8}"/>
              </a:ext>
            </a:extLst>
          </p:cNvPr>
          <p:cNvSpPr txBox="1"/>
          <p:nvPr/>
        </p:nvSpPr>
        <p:spPr>
          <a:xfrm>
            <a:off x="5321807" y="4438797"/>
            <a:ext cx="338919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Ingredient Overload</a:t>
            </a:r>
            <a:endParaRPr lang="en-US" sz="18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CB121184-C0DC-C3C7-D6B2-BB6BF4911FDD}"/>
              </a:ext>
            </a:extLst>
          </p:cNvPr>
          <p:cNvSpPr txBox="1"/>
          <p:nvPr/>
        </p:nvSpPr>
        <p:spPr>
          <a:xfrm>
            <a:off x="5321808" y="4820102"/>
            <a:ext cx="248808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Stacking too many buzzwords creates confusion and decision paralysis. Clarity wins over complexity.</a:t>
            </a:r>
            <a:endParaRPr lang="en-US" sz="1300" dirty="0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005244F9-CADE-544E-F2DD-B1C6F8603C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8019287" y="2802935"/>
            <a:ext cx="171907" cy="228600"/>
          </a:xfrm>
          <a:prstGeom prst="rect">
            <a:avLst/>
          </a:prstGeom>
        </p:spPr>
      </p:pic>
      <p:sp>
        <p:nvSpPr>
          <p:cNvPr id="39" name="Text 12">
            <a:extLst>
              <a:ext uri="{FF2B5EF4-FFF2-40B4-BE49-F238E27FC236}">
                <a16:creationId xmlns:a16="http://schemas.microsoft.com/office/drawing/2014/main" id="{E4C9A84D-A39B-53C2-F3F2-386F9D8E24A7}"/>
              </a:ext>
            </a:extLst>
          </p:cNvPr>
          <p:cNvSpPr txBox="1"/>
          <p:nvPr/>
        </p:nvSpPr>
        <p:spPr>
          <a:xfrm>
            <a:off x="8381390" y="2755387"/>
            <a:ext cx="4420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Health-First, Taste-Second</a:t>
            </a:r>
            <a:endParaRPr lang="en-US" sz="18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5EDF5F10-DC1C-1509-AD6F-AD81C698FDD3}"/>
              </a:ext>
            </a:extLst>
          </p:cNvPr>
          <p:cNvSpPr txBox="1"/>
          <p:nvPr/>
        </p:nvSpPr>
        <p:spPr>
          <a:xfrm>
            <a:off x="8381390" y="3136691"/>
            <a:ext cx="26673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Sacrificing sensory enjoyment for functional potency is fatal. Taste remains the ultimate gatekeeper for repeat purchase.</a:t>
            </a:r>
            <a:endParaRPr lang="en-US" sz="1300" dirty="0"/>
          </a:p>
        </p:txBody>
      </p:sp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270D7DF0-0D8B-A124-FC9D-0A9675085B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8019287" y="4486346"/>
            <a:ext cx="171907" cy="228600"/>
          </a:xfrm>
          <a:prstGeom prst="rect">
            <a:avLst/>
          </a:prstGeom>
        </p:spPr>
      </p:pic>
      <p:sp>
        <p:nvSpPr>
          <p:cNvPr id="42" name="Text 14">
            <a:extLst>
              <a:ext uri="{FF2B5EF4-FFF2-40B4-BE49-F238E27FC236}">
                <a16:creationId xmlns:a16="http://schemas.microsoft.com/office/drawing/2014/main" id="{AA1B9C17-D258-D38A-7175-0E3DDB2F1D7A}"/>
              </a:ext>
            </a:extLst>
          </p:cNvPr>
          <p:cNvSpPr txBox="1"/>
          <p:nvPr/>
        </p:nvSpPr>
        <p:spPr>
          <a:xfrm>
            <a:off x="8381390" y="4438797"/>
            <a:ext cx="4420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Complex Education</a:t>
            </a:r>
            <a:endParaRPr lang="en-US" sz="18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0A7CD74F-2654-66C4-A45D-1E3D130BAC13}"/>
              </a:ext>
            </a:extLst>
          </p:cNvPr>
          <p:cNvSpPr txBox="1"/>
          <p:nvPr/>
        </p:nvSpPr>
        <p:spPr>
          <a:xfrm>
            <a:off x="8381390" y="4820102"/>
            <a:ext cx="286850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Products requiring a paragraph of explanation demand too much cognitive effort. If it's not intuitive, it fails.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58141" y="325983"/>
            <a:ext cx="9046713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How To Win </a:t>
            </a:r>
            <a:r>
              <a:rPr lang="en-US" sz="4500" dirty="0">
                <a:solidFill>
                  <a:srgbClr val="A5D6A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Without Shouting</a:t>
            </a:r>
            <a:endParaRPr lang="en-US" sz="4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8100" y="0"/>
            <a:ext cx="152400" cy="68580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6150" y="1391261"/>
            <a:ext cx="539241" cy="4572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0450" y="1505561"/>
            <a:ext cx="269621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31950" y="1391261"/>
            <a:ext cx="93019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Subtle Cues &amp; Plain Language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1831951" y="1726846"/>
            <a:ext cx="92576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aggressive health signaling with understated confidence. Use everyday language (e.g., "helps you focus") instead of clinical terms. Clarity builds trust.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6150" y="2526946"/>
            <a:ext cx="539241" cy="4572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0450" y="2641246"/>
            <a:ext cx="269621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831950" y="2526946"/>
            <a:ext cx="93019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Familiar Taste &amp; Format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1831951" y="2861616"/>
            <a:ext cx="92576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Anchor innovation in established habits. If it tastes refreshing and looks familiar but offers a functional bonus, the barrier to trial disappears.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6150" y="3661716"/>
            <a:ext cx="539241" cy="4572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0450" y="3776016"/>
            <a:ext cx="269621" cy="2286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831950" y="3661716"/>
            <a:ext cx="93019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One Clear, Restrained Benefit</a:t>
            </a:r>
            <a:endParaRPr lang="en-US" sz="1900" dirty="0"/>
          </a:p>
        </p:txBody>
      </p:sp>
      <p:sp>
        <p:nvSpPr>
          <p:cNvPr id="19" name="Text 10"/>
          <p:cNvSpPr txBox="1"/>
          <p:nvPr/>
        </p:nvSpPr>
        <p:spPr>
          <a:xfrm>
            <a:off x="1831951" y="3997301"/>
            <a:ext cx="92576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 a single, understandable use-case (e.g., "Post-gym recovery"). Single-minded propositions are easier to justify than "do-it-all" miracle drinks.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6150" y="4797401"/>
            <a:ext cx="539241" cy="45720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0450" y="4911701"/>
            <a:ext cx="269621" cy="2286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831950" y="4797401"/>
            <a:ext cx="93019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Fit Obvious Everyday Moments</a:t>
            </a:r>
            <a:endParaRPr lang="en-US" sz="1900" dirty="0"/>
          </a:p>
        </p:txBody>
      </p:sp>
      <p:sp>
        <p:nvSpPr>
          <p:cNvPr id="23" name="Text 12"/>
          <p:cNvSpPr txBox="1"/>
          <p:nvPr/>
        </p:nvSpPr>
        <p:spPr>
          <a:xfrm>
            <a:off x="1831951" y="5132986"/>
            <a:ext cx="92576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comes from fitting into an existing routine. Target clear gaps—morning energy or afternoon slump—to become an effortless habit.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rcRect l="2128" r="2128"/>
          <a:stretch/>
        </p:blipFill>
        <p:spPr>
          <a:xfrm>
            <a:off x="11048695" y="381305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96051" y="380390"/>
            <a:ext cx="81153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</a:t>
            </a:r>
            <a:r>
              <a:rPr lang="en-US" sz="4500" dirty="0">
                <a:solidFill>
                  <a:srgbClr val="6FEC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Momentum</a:t>
            </a: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Effect 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596051" y="1147571"/>
            <a:ext cx="962860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function is normalized, growth compounds at every stage. Each win unlocks the next.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596051" y="3043124"/>
            <a:ext cx="2194560" cy="2667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49593" y="3633826"/>
            <a:ext cx="138897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75" dirty="0">
                <a:solidFill>
                  <a:srgbClr val="00838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+42%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969126" y="4685386"/>
            <a:ext cx="14511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Faster Trial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1130" y="5065777"/>
            <a:ext cx="1383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barrier to entry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3522131" y="2661819"/>
            <a:ext cx="2194560" cy="30476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85732" y="3252521"/>
            <a:ext cx="136885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75" dirty="0">
                <a:solidFill>
                  <a:srgbClr val="006064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+58%</a:t>
            </a:r>
            <a:endParaRPr lang="en-US" sz="4200" dirty="0"/>
          </a:p>
        </p:txBody>
      </p:sp>
      <p:sp>
        <p:nvSpPr>
          <p:cNvPr id="12" name="Text 8"/>
          <p:cNvSpPr txBox="1"/>
          <p:nvPr/>
        </p:nvSpPr>
        <p:spPr>
          <a:xfrm>
            <a:off x="3602598" y="4685386"/>
            <a:ext cx="2040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Lower Rejection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087230" y="5065777"/>
            <a:ext cx="1066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skeptics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448211" y="2280514"/>
            <a:ext cx="2194560" cy="3429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04496" y="2871217"/>
            <a:ext cx="138897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75" dirty="0">
                <a:solidFill>
                  <a:srgbClr val="2E7D32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+65%</a:t>
            </a:r>
            <a:endParaRPr lang="en-US" sz="4200" dirty="0"/>
          </a:p>
        </p:txBody>
      </p:sp>
      <p:sp>
        <p:nvSpPr>
          <p:cNvPr id="16" name="Text 11"/>
          <p:cNvSpPr txBox="1"/>
          <p:nvPr/>
        </p:nvSpPr>
        <p:spPr>
          <a:xfrm>
            <a:off x="6556110" y="4685386"/>
            <a:ext cx="19842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Stronger Habits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008738" y="5065777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routine fit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9374291" y="1900124"/>
            <a:ext cx="2194560" cy="38103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849779" y="2490826"/>
            <a:ext cx="135148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kern="0" spc="-75" dirty="0">
                <a:solidFill>
                  <a:srgbClr val="1B5E2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+78%</a:t>
            </a:r>
            <a:endParaRPr lang="en-US" sz="4200" dirty="0"/>
          </a:p>
        </p:txBody>
      </p:sp>
      <p:sp>
        <p:nvSpPr>
          <p:cNvPr id="20" name="Text 14"/>
          <p:cNvSpPr txBox="1"/>
          <p:nvPr/>
        </p:nvSpPr>
        <p:spPr>
          <a:xfrm>
            <a:off x="9713533" y="4685386"/>
            <a:ext cx="1519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Better Scale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9821432" y="5065777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volume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4012" r="-14012"/>
          <a:stretch/>
        </p:blipFill>
        <p:spPr>
          <a:xfrm>
            <a:off x="1479361" y="3024836"/>
            <a:ext cx="9753905" cy="1904695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2128" r="2128"/>
          <a:stretch/>
        </p:blipFill>
        <p:spPr>
          <a:xfrm>
            <a:off x="10997351" y="398221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571652" y="1671164"/>
            <a:ext cx="11048695" cy="10287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8793" y="1881475"/>
            <a:ext cx="10154412" cy="68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“Design function to feel </a:t>
            </a:r>
            <a:r>
              <a:rPr lang="en-US" sz="3600" i="1" dirty="0">
                <a:solidFill>
                  <a:srgbClr val="A855F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expected</a:t>
            </a: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, not impressive.” 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71500" y="3029978"/>
            <a:ext cx="152705" cy="152705"/>
          </a:xfrm>
          <a:prstGeom prst="ellipse">
            <a:avLst/>
          </a:prstGeom>
          <a:solidFill>
            <a:srgbClr val="E9D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37590" y="2969046"/>
            <a:ext cx="3255264" cy="38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Reduce Scent/Taste Signaling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3405048"/>
            <a:ext cx="3505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the sensory barrier. If it tastes "medicinal," it triggers skepticism. Flavor must be uncompromisingly normal.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1805" y="3032888"/>
            <a:ext cx="152705" cy="152705"/>
          </a:xfrm>
          <a:prstGeom prst="ellipse">
            <a:avLst/>
          </a:prstGeom>
          <a:solidFill>
            <a:srgbClr val="E9D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47895" y="2923160"/>
            <a:ext cx="296997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Use Format Familiarity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381805" y="3394851"/>
            <a:ext cx="35058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demand new rituals. Use established vehicles like juice or dairy to carry the function, reducing the friction of adoption.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91195" y="3032888"/>
            <a:ext cx="152705" cy="152705"/>
          </a:xfrm>
          <a:prstGeom prst="ellipse">
            <a:avLst/>
          </a:prstGeom>
          <a:solidFill>
            <a:srgbClr val="E9D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458200" y="2923160"/>
            <a:ext cx="369691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Layer Function Behind Taste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191195" y="3408706"/>
            <a:ext cx="35058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with the palate, verify with the label. Taste is the purchase driver; the functional effect is the retention driver.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" y="446805"/>
            <a:ext cx="82872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New Innovation Brief</a:t>
            </a:r>
            <a:endParaRPr lang="en-US" sz="4000" b="1" dirty="0">
              <a:solidFill>
                <a:srgbClr val="4860FA"/>
              </a:solidFill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571500" y="1067683"/>
            <a:ext cx="1104869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Design function to feel expected, not impressive. The brief for SA functional beverages has fundamentally changed.</a:t>
            </a:r>
            <a:endParaRPr lang="en-US" sz="1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50" r="50"/>
          <a:stretch/>
        </p:blipFill>
        <p:spPr>
          <a:xfrm>
            <a:off x="11316614" y="327091"/>
            <a:ext cx="564268" cy="540794"/>
          </a:xfrm>
          <a:prstGeom prst="rect">
            <a:avLst/>
          </a:prstGeom>
        </p:spPr>
      </p:pic>
      <p:sp>
        <p:nvSpPr>
          <p:cNvPr id="20" name="Shape 4">
            <a:extLst>
              <a:ext uri="{FF2B5EF4-FFF2-40B4-BE49-F238E27FC236}">
                <a16:creationId xmlns:a16="http://schemas.microsoft.com/office/drawing/2014/main" id="{A048EDBA-0403-8427-14AF-D4F5E32D1810}"/>
              </a:ext>
            </a:extLst>
          </p:cNvPr>
          <p:cNvSpPr/>
          <p:nvPr/>
        </p:nvSpPr>
        <p:spPr>
          <a:xfrm>
            <a:off x="571500" y="4445430"/>
            <a:ext cx="11048695" cy="1028700"/>
          </a:xfrm>
          <a:prstGeom prst="rect">
            <a:avLst/>
          </a:prstGeom>
          <a:solidFill>
            <a:srgbClr val="F5F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268DAEEC-80B6-FBE2-8D32-A2BBDC6666D0}"/>
              </a:ext>
            </a:extLst>
          </p:cNvPr>
          <p:cNvSpPr/>
          <p:nvPr/>
        </p:nvSpPr>
        <p:spPr>
          <a:xfrm>
            <a:off x="571500" y="4445430"/>
            <a:ext cx="114300" cy="102870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169D15A-2CDA-FF30-2801-E117DDA396BD}"/>
              </a:ext>
            </a:extLst>
          </p:cNvPr>
          <p:cNvSpPr txBox="1"/>
          <p:nvPr/>
        </p:nvSpPr>
        <p:spPr>
          <a:xfrm>
            <a:off x="1039091" y="4651956"/>
            <a:ext cx="10446022" cy="720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Functional beverages in South Africa are </a:t>
            </a:r>
            <a:r>
              <a:rPr lang="en-US" sz="3200" dirty="0">
                <a:solidFill>
                  <a:srgbClr val="A5D6A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growing up.</a:t>
            </a:r>
            <a:endParaRPr lang="en-US" sz="32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74394AC-197C-FFFD-E4E8-4E19CC7785AD}"/>
              </a:ext>
            </a:extLst>
          </p:cNvPr>
          <p:cNvSpPr txBox="1"/>
          <p:nvPr/>
        </p:nvSpPr>
        <p:spPr>
          <a:xfrm>
            <a:off x="571500" y="5790317"/>
            <a:ext cx="10934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brands that scale won't look like health products—they'll look familiar, reliable, and easy to live with. </a:t>
            </a:r>
            <a:r>
              <a:rPr lang="en-US" sz="14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Believable function beats bold claims.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543507" y="883310"/>
            <a:ext cx="91065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Intelligence Advantage</a:t>
            </a:r>
            <a:endParaRPr lang="en-US" sz="4500" dirty="0">
              <a:solidFill>
                <a:srgbClr val="4860FA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905" y="1750162"/>
            <a:ext cx="1097188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Innovatr Intelligence exists to identify behavioral shifts early—across categories and launches—so brands understand what functional beverages mean to South Africans now, not what they used to mean.</a:t>
            </a:r>
            <a:endParaRPr lang="en-US" sz="1500" b="1" dirty="0"/>
          </a:p>
        </p:txBody>
      </p:sp>
      <p:sp>
        <p:nvSpPr>
          <p:cNvPr id="8" name="Shape 6"/>
          <p:cNvSpPr/>
          <p:nvPr/>
        </p:nvSpPr>
        <p:spPr>
          <a:xfrm>
            <a:off x="609905" y="2630089"/>
            <a:ext cx="350489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905" y="2630089"/>
            <a:ext cx="3504895" cy="75895"/>
          </a:xfrm>
          <a:prstGeom prst="rect">
            <a:avLst/>
          </a:prstGeom>
          <a:solidFill>
            <a:srgbClr val="7C8FF0"/>
          </a:solidFill>
          <a:ln w="12700">
            <a:solidFill>
              <a:srgbClr val="7C8F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305763" y="3098262"/>
            <a:ext cx="212049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Category Tracker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6054" y="348688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 of shelf shifts, pricing dynamics, and competitive moves.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630089"/>
            <a:ext cx="350489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2630089"/>
            <a:ext cx="3504895" cy="75895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23383" y="3098262"/>
            <a:ext cx="195041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Launch Analysis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9549" y="348688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dives into winning and failing concepts with actionable autopsies.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76895" y="2630089"/>
            <a:ext cx="350489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76895" y="2630089"/>
            <a:ext cx="3504895" cy="75895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727034" y="3098262"/>
            <a:ext cx="221101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Confidence Scores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53044" y="348688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Quantified metrics on consumer belief vs. skepticism for new launches.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1142" y="4801789"/>
            <a:ext cx="3972154" cy="647395"/>
          </a:xfrm>
          <a:prstGeom prst="roundRect">
            <a:avLst>
              <a:gd name="adj" fmla="val 8308"/>
            </a:avLst>
          </a:prstGeom>
          <a:solidFill>
            <a:srgbClr val="A5D6A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369003" y="4954494"/>
            <a:ext cx="3455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Request Intelligence Access</a:t>
            </a:r>
            <a:endParaRPr lang="en-US" sz="18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l="277" r="277"/>
          <a:stretch/>
        </p:blipFill>
        <p:spPr>
          <a:xfrm>
            <a:off x="10972800" y="304495"/>
            <a:ext cx="761695" cy="733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2207</Words>
  <Application>Microsoft Macintosh PowerPoint</Application>
  <PresentationFormat>Widescreen</PresentationFormat>
  <Paragraphs>304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DM Serif Display</vt:lpstr>
      <vt:lpstr>Roboto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Hannah Steven</cp:lastModifiedBy>
  <cp:revision>6</cp:revision>
  <dcterms:created xsi:type="dcterms:W3CDTF">2026-02-05T15:40:30Z</dcterms:created>
  <dcterms:modified xsi:type="dcterms:W3CDTF">2026-02-06T07:18:28Z</dcterms:modified>
</cp:coreProperties>
</file>